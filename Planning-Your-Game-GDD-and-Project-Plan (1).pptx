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12babbd-b42e-3215-6f4a-de34d0046349}">
          <p14:sldIdLst>
            <p14:sldId id="256"/>
            <p14:sldId id="257"/>
            <p14:sldId id="258"/>
          </p14:sldIdLst>
        </p14:section>
        <p14:section name="Part 1: The GDD" id="{82ba35cc-6e24-3165-b47a-b91cbc6aa658}">
          <p14:sldIdLst>
            <p14:sldId id="259"/>
            <p14:sldId id="260"/>
            <p14:sldId id="261"/>
          </p14:sldIdLst>
        </p14:section>
        <p14:section name="Part 2: The Plan" id="{1c4a1f61-074c-ad59-fdd6-8599c246cca5}">
          <p14:sldIdLst>
            <p14:sldId id="262"/>
            <p14:sldId id="263"/>
            <p14:sldId id="264"/>
            <p14:sldId id="265"/>
            <p14:sldId id="266"/>
          </p14:sldIdLst>
        </p14:section>
        <p14:section name="Part 3: GitHub Projects" id="{2943e59d-541c-7170-83ed-b92f55443991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Wrap-up" id="{a21bd10f-84b5-8264-9830-45615670fb38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2F5D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Writing and 500-word minimum</c:v>
                  </c:pt>
                  <c:pt idx="1">
                    <c:v>Planning tool setup</c:v>
                  </c:pt>
                  <c:pt idx="2">
                    <c:v>Technical scope</c:v>
                  </c:pt>
                  <c:pt idx="3">
                    <c:v>Milestones, roles, risks</c:v>
                  </c:pt>
                  <c:pt idx="4">
                    <c:v>Look and feel</c:v>
                  </c:pt>
                  <c:pt idx="5">
                    <c:v>Scope tiers, tasks, estimates</c:v>
                  </c:pt>
                  <c:pt idx="6">
                    <c:v>Core loop, controls, gameplay detail</c:v>
                  </c:pt>
                  <c:pt idx="7">
                    <c:v>Concept, pitch, framework analysis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20</c:v>
                </c:pt>
                <c:pt idx="2">
                  <c:v>20</c:v>
                </c:pt>
                <c:pt idx="3">
                  <c:v>30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  <c:pt idx="7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2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we're kicking off the Final Game Project with its first deliverable: a Game Design Document and a Project Plan. The GDD says what the game is. The plan says how you'll actually get it built before the end of the semester.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student game project runs out of time. The difference between a finished game and an unfinished one is usually not skill, it's scope. The plan is how you protect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is the what. Part 2 is the how and when. The board you build for Part 2 isn't busywork: you'll update it all the way to the final build, and we'll look at it at each milestone check-in.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GDDs to browse: gamedocs.org/documents. Look at how much detail real teams write before building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Either framework is fine, or another one you can justify. MDA is great for mechanics-heavy games. The Tetrad works well if story and technology matter to your idea. Whichever you choose, actually use it to structure your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eight sections are the minimum. Visuals count: a sketch of the core loop, a mood board, or a level layout often says more than a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example in this section comes from a sample game called Lantern Keeper, a 2D top-down game where you keep coastal lamps lit so ships don't wreck. Its full plan lives on a real GitHub board you can browse.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here. If your Must-have column is twenty features long, it isn't a Must-have list. Ask: if I shipped only this column, would it be a whole game?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Estimates will be wrong, and that's fine. The point is to notice early. Acceptance criteria keep you from polishing one feature forever: when the boxes are checked,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least four milestones from now to the end of the semester. A milestone is a checkpoint you can demonstrate, not just a date on the calendar.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example, risks are tracked as issues with a red risk label so they stay visible on the board instead of being forgotten in a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use another tool if you prefer, and we'll list free options at the end, but GitHub Projects is what I recommend because your code and your plan live in the same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Keywords that work: Closes, Fixes, or Resolves followed by the issue number. It happens when the commit reaches the default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simplified picture of the Lantern Keeper board. Browse the real one at github.com/jcallinan/CIST1422-Example-Project-Plan, under the Projects tab. Notice the realistic mix: some Done, some In Progress, most still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comes built in. Scope, Estimate, and Target date are custom fields you add once. Milestones are created in the repo under Issues, then Milestones.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projects open in a table view. Switch the layout to Board for the kanban columns. The repo README for the example walks through these same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Planner is available to every Pitt student through Microsoft 365; log in at microsoft365.com. Free tier details checked October 2026 and may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GDD categories add to 150 (concept and framework, gameplay, look and feel, technical scope, writing) and the plan categories add to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Questions? Remember the due date is on Canvas, and bring your board to each milestone check-in.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321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9494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rgbClr val="1321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CIST 1422 · Game Design and Programming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Planning Your Game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Game Design Document and Project Plan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Final Game Project · CIST 1422</a:t>
            </a:r>
            <a:endParaRPr lang="en-US" sz="2000" dirty="0"/>
          </a:p>
        </p:txBody>
      </p:sp>
      <p:sp>
        <p:nvSpPr>
          <p:cNvPr id="4" name="Lantern glow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Gamepa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46888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Why plan before you build</a:t>
            </a:r>
            <a:endParaRPr lang="en-US" sz="3400" dirty="0"/>
          </a:p>
        </p:txBody>
      </p:sp>
      <p:sp>
        <p:nvSpPr>
          <p:cNvPr id="3" name="Scope creep circle"/>
          <p:cNvSpPr/>
          <p:nvPr/>
        </p:nvSpPr>
        <p:spPr>
          <a:xfrm>
            <a:off x="548640" y="146304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Scope cree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687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creep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874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Ideas grow faster than the semester. A plan forces you to decide what's in and what's out.</a:t>
            </a:r>
            <a:endParaRPr lang="en-US" sz="1500" dirty="0"/>
          </a:p>
        </p:txBody>
      </p:sp>
      <p:sp>
        <p:nvSpPr>
          <p:cNvPr id="7" name="Missed deadlines circle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Missed deadlin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1318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926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deadlines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3337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Small tasks with estimates show you early when you're falling behind.</a:t>
            </a:r>
            <a:endParaRPr lang="en-US" sz="1500" dirty="0"/>
          </a:p>
        </p:txBody>
      </p:sp>
      <p:sp>
        <p:nvSpPr>
          <p:cNvPr id="11" name="Team confusion circle"/>
          <p:cNvSpPr/>
          <p:nvPr/>
        </p:nvSpPr>
        <p:spPr>
          <a:xfrm>
            <a:off x="548640" y="43891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Team confusi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5948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confusion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4800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Everyone can see who owns what, and nobody builds the same thing twice.</a:t>
            </a:r>
            <a:endParaRPr lang="en-US" sz="1500" dirty="0"/>
          </a:p>
        </p:txBody>
      </p:sp>
      <p:sp>
        <p:nvSpPr>
          <p:cNvPr id="15" name="Key idea card"/>
          <p:cNvSpPr/>
          <p:nvPr/>
        </p:nvSpPr>
        <p:spPr>
          <a:xfrm>
            <a:off x="6949440" y="1463040"/>
            <a:ext cx="4690872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The goal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0" y="2286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 you can cut from.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7315200" y="356616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only your Must-have features get finished, you should still have a complete, playable game. Everything else is a bonus.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assignment has two parts</a:t>
            </a:r>
            <a:endParaRPr lang="en-US" sz="3400" dirty="0"/>
          </a:p>
        </p:txBody>
      </p:sp>
      <p:sp>
        <p:nvSpPr>
          <p:cNvPr id="3" name="Part 1 · Game Design Document card"/>
          <p:cNvSpPr/>
          <p:nvPr/>
        </p:nvSpPr>
        <p:spPr>
          <a:xfrm>
            <a:off x="548640" y="1417320"/>
            <a:ext cx="534924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rt 1 · Game Design Document circle"/>
          <p:cNvSpPr/>
          <p:nvPr/>
        </p:nvSpPr>
        <p:spPr>
          <a:xfrm>
            <a:off x="914400" y="17373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art 1 · Game Design Documen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9431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920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· Game Design Document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889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 least 500 words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Built on MDA, the Elemental Tetrad, or another framework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Detailed enough that someone else could start building it</a:t>
            </a:r>
            <a:endParaRPr lang="en-US" sz="1600" dirty="0"/>
          </a:p>
        </p:txBody>
      </p:sp>
      <p:sp>
        <p:nvSpPr>
          <p:cNvPr id="8" name="Part 2 · Project Plan card"/>
          <p:cNvSpPr/>
          <p:nvPr/>
        </p:nvSpPr>
        <p:spPr>
          <a:xfrm>
            <a:off x="6263640" y="1417320"/>
            <a:ext cx="534924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rt 2 · Project Plan circle"/>
          <p:cNvSpPr/>
          <p:nvPr/>
        </p:nvSpPr>
        <p:spPr>
          <a:xfrm>
            <a:off x="6629400" y="173736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Part 2 · Project Pla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19431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35240" y="1920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· Project Plan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629400" y="27889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Scope tiers, tasks, and time estimates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Dated milestones, roles, and risks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Tracked on a real board you'll keep using</a:t>
            </a:r>
            <a:endParaRPr lang="en-US" sz="1600" dirty="0"/>
          </a:p>
        </p:txBody>
      </p:sp>
      <p:sp>
        <p:nvSpPr>
          <p:cNvPr id="13" name="Submission strip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68680" y="52120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Submit: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GDD  +  Project Plan  +  link to your board  +  a screenshot of it   ·   250 points   ·   Due date on Canvas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Part 1: The Game Design Document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Define your game down to the level of implementation</a:t>
            </a:r>
            <a:endParaRPr lang="en-US" sz="1800" dirty="0"/>
          </a:p>
        </p:txBody>
      </p:sp>
      <p:sp>
        <p:nvSpPr>
          <p:cNvPr id="4" name="Section circle"/>
          <p:cNvSpPr/>
          <p:nvPr/>
        </p:nvSpPr>
        <p:spPr>
          <a:xfrm>
            <a:off x="9235440" y="228600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88920"/>
            <a:ext cx="1005840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Pick a design framework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MDA</a:t>
            </a:r>
            <a:endParaRPr lang="en-US" sz="2200" dirty="0"/>
          </a:p>
        </p:txBody>
      </p:sp>
      <p:sp>
        <p:nvSpPr>
          <p:cNvPr id="4" name="Mechanics box"/>
          <p:cNvSpPr/>
          <p:nvPr/>
        </p:nvSpPr>
        <p:spPr>
          <a:xfrm>
            <a:off x="548640" y="1920240"/>
            <a:ext cx="16002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Mechanics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Rules and inputs</a:t>
            </a:r>
            <a:endParaRPr lang="en-US" sz="1300" dirty="0"/>
          </a:p>
        </p:txBody>
      </p:sp>
      <p:sp>
        <p:nvSpPr>
          <p:cNvPr id="7" name="MDA arrow 0"/>
          <p:cNvSpPr/>
          <p:nvPr/>
        </p:nvSpPr>
        <p:spPr>
          <a:xfrm>
            <a:off x="2176272" y="2514600"/>
            <a:ext cx="18288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Dynamics box"/>
          <p:cNvSpPr/>
          <p:nvPr/>
        </p:nvSpPr>
        <p:spPr>
          <a:xfrm>
            <a:off x="2377440" y="1920240"/>
            <a:ext cx="16002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2103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Dynamics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5146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What happens in play</a:t>
            </a:r>
            <a:endParaRPr lang="en-US" sz="1300" dirty="0"/>
          </a:p>
        </p:txBody>
      </p:sp>
      <p:sp>
        <p:nvSpPr>
          <p:cNvPr id="11" name="MDA arrow 1"/>
          <p:cNvSpPr/>
          <p:nvPr/>
        </p:nvSpPr>
        <p:spPr>
          <a:xfrm>
            <a:off x="4005072" y="2514600"/>
            <a:ext cx="18288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Aesthetics box"/>
          <p:cNvSpPr/>
          <p:nvPr/>
        </p:nvSpPr>
        <p:spPr>
          <a:xfrm>
            <a:off x="4206240" y="1920240"/>
            <a:ext cx="1600200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2103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Aesthetics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5146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What the player feels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576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Designers build from Mechanics outward. Players experience the game from Aesthetics inward. Start by naming the feeling you want, then pick mechanics that create it.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663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Lantern Keeper: refueling lamps under a timer (M) → frantic route planning (D) → challenge (A)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Elemental Tetrad</a:t>
            </a:r>
            <a:endParaRPr lang="en-US" sz="2200" dirty="0"/>
          </a:p>
        </p:txBody>
      </p:sp>
      <p:sp>
        <p:nvSpPr>
          <p:cNvPr id="18" name="Aesthetics box"/>
          <p:cNvSpPr/>
          <p:nvPr/>
        </p:nvSpPr>
        <p:spPr>
          <a:xfrm>
            <a:off x="6400800" y="192024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Aesthetics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Look, sound, feel</a:t>
            </a:r>
            <a:endParaRPr lang="en-US" sz="1300" dirty="0"/>
          </a:p>
        </p:txBody>
      </p:sp>
      <p:sp>
        <p:nvSpPr>
          <p:cNvPr id="21" name="Mechanics box"/>
          <p:cNvSpPr/>
          <p:nvPr/>
        </p:nvSpPr>
        <p:spPr>
          <a:xfrm>
            <a:off x="9052560" y="192024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897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Mechanics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Rules and goals</a:t>
            </a:r>
            <a:endParaRPr lang="en-US" sz="1300" dirty="0"/>
          </a:p>
        </p:txBody>
      </p:sp>
      <p:sp>
        <p:nvSpPr>
          <p:cNvPr id="24" name="Story box"/>
          <p:cNvSpPr/>
          <p:nvPr/>
        </p:nvSpPr>
        <p:spPr>
          <a:xfrm>
            <a:off x="6400800" y="352044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Story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Events and world</a:t>
            </a:r>
            <a:endParaRPr lang="en-US" sz="1300" dirty="0"/>
          </a:p>
        </p:txBody>
      </p:sp>
      <p:sp>
        <p:nvSpPr>
          <p:cNvPr id="27" name="Technology box"/>
          <p:cNvSpPr/>
          <p:nvPr/>
        </p:nvSpPr>
        <p:spPr>
          <a:xfrm>
            <a:off x="9052560" y="352044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8972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Technology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18972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Engine and platform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51663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Schell's four elements. Aesthetics is most visible to the player, Technology least. All four must support each other.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your GDD must cover</a:t>
            </a:r>
            <a:endParaRPr lang="en-US" sz="3400" dirty="0"/>
          </a:p>
        </p:txBody>
      </p:sp>
      <p:sp>
        <p:nvSpPr>
          <p:cNvPr id="3" name="Concept and pitch tile"/>
          <p:cNvSpPr/>
          <p:nvPr/>
        </p:nvSpPr>
        <p:spPr>
          <a:xfrm>
            <a:off x="548640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ncept and pitch circle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oncept and pitch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Concept and pitch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Elevator pitch, genre, target player, "X meets Y"</a:t>
            </a:r>
            <a:endParaRPr lang="en-US" sz="1300" dirty="0"/>
          </a:p>
        </p:txBody>
      </p:sp>
      <p:sp>
        <p:nvSpPr>
          <p:cNvPr id="8" name="Framework analysis tile"/>
          <p:cNvSpPr/>
          <p:nvPr/>
        </p:nvSpPr>
        <p:spPr>
          <a:xfrm>
            <a:off x="3364992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ramework analysis circle"/>
          <p:cNvSpPr/>
          <p:nvPr/>
        </p:nvSpPr>
        <p:spPr>
          <a:xfrm>
            <a:off x="3593592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ramework analysi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612" y="18059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93592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Framework analysis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93592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Walk through MDA or the Tetrad for your game</a:t>
            </a:r>
            <a:endParaRPr lang="en-US" sz="1300" dirty="0"/>
          </a:p>
        </p:txBody>
      </p:sp>
      <p:sp>
        <p:nvSpPr>
          <p:cNvPr id="13" name="Core loop tile"/>
          <p:cNvSpPr/>
          <p:nvPr/>
        </p:nvSpPr>
        <p:spPr>
          <a:xfrm>
            <a:off x="6181344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ore loop circle"/>
          <p:cNvSpPr/>
          <p:nvPr/>
        </p:nvSpPr>
        <p:spPr>
          <a:xfrm>
            <a:off x="6409944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Core loo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18059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9944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Core loop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09944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What the player does moment to moment, and why</a:t>
            </a:r>
            <a:endParaRPr lang="en-US" sz="1300" dirty="0"/>
          </a:p>
        </p:txBody>
      </p:sp>
      <p:sp>
        <p:nvSpPr>
          <p:cNvPr id="18" name="Controls tile"/>
          <p:cNvSpPr/>
          <p:nvPr/>
        </p:nvSpPr>
        <p:spPr>
          <a:xfrm>
            <a:off x="8997696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ontrols circle"/>
          <p:cNvSpPr/>
          <p:nvPr/>
        </p:nvSpPr>
        <p:spPr>
          <a:xfrm>
            <a:off x="9226296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Control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316" y="18059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26296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Controls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226296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input on your platform and what it does</a:t>
            </a:r>
            <a:endParaRPr lang="en-US" sz="1300" dirty="0"/>
          </a:p>
        </p:txBody>
      </p:sp>
      <p:sp>
        <p:nvSpPr>
          <p:cNvPr id="23" name="Look and feel tile"/>
          <p:cNvSpPr/>
          <p:nvPr/>
        </p:nvSpPr>
        <p:spPr>
          <a:xfrm>
            <a:off x="548640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Look and feel circle"/>
          <p:cNvSpPr/>
          <p:nvPr/>
        </p:nvSpPr>
        <p:spPr>
          <a:xfrm>
            <a:off x="777240" y="4023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Look and feel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18338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77240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Look and feel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77240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Art style, palette, camera, HUD, audio, mood board</a:t>
            </a:r>
            <a:endParaRPr lang="en-US" sz="1300" dirty="0"/>
          </a:p>
        </p:txBody>
      </p:sp>
      <p:sp>
        <p:nvSpPr>
          <p:cNvPr id="28" name="World and content tile"/>
          <p:cNvSpPr/>
          <p:nvPr/>
        </p:nvSpPr>
        <p:spPr>
          <a:xfrm>
            <a:off x="3364992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World and content circle"/>
          <p:cNvSpPr/>
          <p:nvPr/>
        </p:nvSpPr>
        <p:spPr>
          <a:xfrm>
            <a:off x="3593592" y="4023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World and conten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3612" y="418338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593592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World and content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3593592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Levels, characters, enemies, items, story</a:t>
            </a:r>
            <a:endParaRPr lang="en-US" sz="1300" dirty="0"/>
          </a:p>
        </p:txBody>
      </p:sp>
      <p:sp>
        <p:nvSpPr>
          <p:cNvPr id="33" name="Win, lose, progress tile"/>
          <p:cNvSpPr/>
          <p:nvPr/>
        </p:nvSpPr>
        <p:spPr>
          <a:xfrm>
            <a:off x="6181344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Win, lose, progress circle"/>
          <p:cNvSpPr/>
          <p:nvPr/>
        </p:nvSpPr>
        <p:spPr>
          <a:xfrm>
            <a:off x="6409944" y="4023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Win, lose, progress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9964" y="4183380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409944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Win, lose, progress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6409944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How a session starts and ends, and difficulty curve</a:t>
            </a:r>
            <a:endParaRPr lang="en-US" sz="1300" dirty="0"/>
          </a:p>
        </p:txBody>
      </p:sp>
      <p:sp>
        <p:nvSpPr>
          <p:cNvPr id="38" name="Technical scope tile"/>
          <p:cNvSpPr/>
          <p:nvPr/>
        </p:nvSpPr>
        <p:spPr>
          <a:xfrm>
            <a:off x="8997696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chnical scope circle"/>
          <p:cNvSpPr/>
          <p:nvPr/>
        </p:nvSpPr>
        <p:spPr>
          <a:xfrm>
            <a:off x="9226296" y="4023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Technical scope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4183380"/>
            <a:ext cx="320040" cy="32004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226296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Technical scope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9226296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Engine version, platform, packages, credited assets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Part 2: The Project Plan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Turn your design into work you can finish by the deadline</a:t>
            </a:r>
            <a:endParaRPr lang="en-US" sz="1800" dirty="0"/>
          </a:p>
        </p:txBody>
      </p:sp>
      <p:sp>
        <p:nvSpPr>
          <p:cNvPr id="4" name="Section circle"/>
          <p:cNvSpPr/>
          <p:nvPr/>
        </p:nvSpPr>
        <p:spPr>
          <a:xfrm>
            <a:off x="9235440" y="228600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88920"/>
            <a:ext cx="1005840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Sort every feature into scope tiers</a:t>
            </a:r>
            <a:endParaRPr lang="en-US" sz="3400" dirty="0"/>
          </a:p>
        </p:txBody>
      </p:sp>
      <p:sp>
        <p:nvSpPr>
          <p:cNvPr id="3" name="Must have header"/>
          <p:cNvSpPr/>
          <p:nvPr/>
        </p:nvSpPr>
        <p:spPr>
          <a:xfrm>
            <a:off x="548640" y="141732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Must have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The minimum playable game</a:t>
            </a:r>
            <a:endParaRPr lang="en-US" sz="1300" dirty="0"/>
          </a:p>
        </p:txBody>
      </p:sp>
      <p:sp>
        <p:nvSpPr>
          <p:cNvPr id="6" name="Must have list card"/>
          <p:cNvSpPr/>
          <p:nvPr/>
        </p:nvSpPr>
        <p:spPr>
          <a:xfrm>
            <a:off x="548640" y="2423160"/>
            <a:ext cx="347472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5176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Movement and refueling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Lamps that drain fuel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Ships that wreck at dark lamps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Lives, dawn timer, HUD, menus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Windows build</a:t>
            </a:r>
            <a:endParaRPr lang="en-US" sz="1500" dirty="0"/>
          </a:p>
        </p:txBody>
      </p:sp>
      <p:sp>
        <p:nvSpPr>
          <p:cNvPr id="8" name="Should have header"/>
          <p:cNvSpPr/>
          <p:nvPr/>
        </p:nvSpPr>
        <p:spPr>
          <a:xfrm>
            <a:off x="4297680" y="141732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Should have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Makes it good</a:t>
            </a:r>
            <a:endParaRPr lang="en-US" sz="1300" dirty="0"/>
          </a:p>
        </p:txBody>
      </p:sp>
      <p:sp>
        <p:nvSpPr>
          <p:cNvPr id="11" name="Should have list card"/>
          <p:cNvSpPr/>
          <p:nvPr/>
        </p:nvSpPr>
        <p:spPr>
          <a:xfrm>
            <a:off x="4297680" y="2423160"/>
            <a:ext cx="347472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65176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Oil barrel pickups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Storms that ramp difficulty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Real pixel art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Sound effects</a:t>
            </a:r>
            <a:endParaRPr lang="en-US" sz="1500" dirty="0"/>
          </a:p>
        </p:txBody>
      </p:sp>
      <p:sp>
        <p:nvSpPr>
          <p:cNvPr id="13" name="Nice to have header"/>
          <p:cNvSpPr/>
          <p:nvPr/>
        </p:nvSpPr>
        <p:spPr>
          <a:xfrm>
            <a:off x="8046720" y="141732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Nice to have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Only if there's time</a:t>
            </a:r>
            <a:endParaRPr lang="en-US" sz="1300" dirty="0"/>
          </a:p>
        </p:txBody>
      </p:sp>
      <p:sp>
        <p:nvSpPr>
          <p:cNvPr id="16" name="Nice to have list card"/>
          <p:cNvSpPr/>
          <p:nvPr/>
        </p:nvSpPr>
        <p:spPr>
          <a:xfrm>
            <a:off x="8046720" y="2423160"/>
            <a:ext cx="347472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65176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Music and volume slider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Sprint ability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Gameplay trailer</a:t>
            </a:r>
            <a:endParaRPr lang="en-US" sz="1500" dirty="0"/>
          </a:p>
        </p:txBody>
      </p:sp>
      <p:sp>
        <p:nvSpPr>
          <p:cNvPr id="18" name="Cut order arrow"/>
          <p:cNvSpPr/>
          <p:nvPr/>
        </p:nvSpPr>
        <p:spPr>
          <a:xfrm>
            <a:off x="548640" y="5532120"/>
            <a:ext cx="11064240" cy="411480"/>
          </a:xfrm>
          <a:prstGeom prst="leftArrow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5532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Running out of time? Cut from the right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Break features into tasks you can finish</a:t>
            </a:r>
            <a:endParaRPr lang="en-US" sz="3400" dirty="0"/>
          </a:p>
        </p:txBody>
      </p:sp>
      <p:sp>
        <p:nvSpPr>
          <p:cNvPr id="3" name="Bad task card"/>
          <p:cNvSpPr/>
          <p:nvPr/>
        </p:nvSpPr>
        <p:spPr>
          <a:xfrm>
            <a:off x="548640" y="1417320"/>
            <a:ext cx="5120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 circle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Ba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173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Too vague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"Make the ships"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 size, no finish line</a:t>
            </a:r>
            <a:endParaRPr lang="en-US" sz="1300" dirty="0"/>
          </a:p>
        </p:txBody>
      </p:sp>
      <p:sp>
        <p:nvSpPr>
          <p:cNvPr id="9" name="Good task card"/>
          <p:cNvSpPr/>
          <p:nvPr/>
        </p:nvSpPr>
        <p:spPr>
          <a:xfrm>
            <a:off x="548640" y="3108960"/>
            <a:ext cx="5120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Good circle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Goo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350901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3337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Specific and sized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703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"Ships spawn and sail past the coast"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50876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Estimate: 4 hrs · Milestone: Prototype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92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Rule of thumb: if a task is over 4 to 6 hours, split it.</a:t>
            </a:r>
            <a:endParaRPr lang="en-US" sz="1600" dirty="0"/>
          </a:p>
        </p:txBody>
      </p:sp>
      <p:sp>
        <p:nvSpPr>
          <p:cNvPr id="16" name="Acceptance criteria card"/>
          <p:cNvSpPr/>
          <p:nvPr/>
        </p:nvSpPr>
        <p:spPr>
          <a:xfrm>
            <a:off x="6309360" y="1417320"/>
            <a:ext cx="5303520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6751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criteria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667512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checklist that defines "done" for a task:</a:t>
            </a:r>
            <a:endParaRPr lang="en-US" sz="1500" dirty="0"/>
          </a:p>
        </p:txBody>
      </p:sp>
      <p:sp>
        <p:nvSpPr>
          <p:cNvPr id="19" name="Checkbox 0"/>
          <p:cNvSpPr/>
          <p:nvPr/>
        </p:nvSpPr>
        <p:spPr>
          <a:xfrm>
            <a:off x="6675120" y="27889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178040" y="2743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Ships spawn off-screen on a timer</a:t>
            </a:r>
            <a:endParaRPr lang="en-US" sz="1500" dirty="0"/>
          </a:p>
        </p:txBody>
      </p:sp>
      <p:sp>
        <p:nvSpPr>
          <p:cNvPr id="21" name="Checkbox 1"/>
          <p:cNvSpPr/>
          <p:nvPr/>
        </p:nvSpPr>
        <p:spPr>
          <a:xfrm>
            <a:off x="6675120" y="34747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178040" y="3429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Spawn interval is adjustable in the Inspector</a:t>
            </a:r>
            <a:endParaRPr lang="en-US" sz="1500" dirty="0"/>
          </a:p>
        </p:txBody>
      </p:sp>
      <p:sp>
        <p:nvSpPr>
          <p:cNvPr id="23" name="Checkbox 2"/>
          <p:cNvSpPr/>
          <p:nvPr/>
        </p:nvSpPr>
        <p:spPr>
          <a:xfrm>
            <a:off x="6675120" y="41605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17804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Ships are destroyed after leaving the screen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675120" y="4892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Can't write criteria? The task isn't clear yet.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Set milestones with dates</a:t>
            </a:r>
            <a:endParaRPr lang="en-US" sz="3400" dirty="0"/>
          </a:p>
        </p:txBody>
      </p:sp>
      <p:sp>
        <p:nvSpPr>
          <p:cNvPr id="3" name="Timeline line"/>
          <p:cNvSpPr/>
          <p:nvPr/>
        </p:nvSpPr>
        <p:spPr>
          <a:xfrm>
            <a:off x="1280160" y="2788920"/>
            <a:ext cx="969264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" name="Plan Approved node"/>
          <p:cNvSpPr/>
          <p:nvPr/>
        </p:nvSpPr>
        <p:spPr>
          <a:xfrm>
            <a:off x="960120" y="246888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Oct 27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82880" y="3337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Approved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3794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GDD and board approved</a:t>
            </a:r>
            <a:endParaRPr lang="en-US" sz="1400" dirty="0"/>
          </a:p>
        </p:txBody>
      </p:sp>
      <p:sp>
        <p:nvSpPr>
          <p:cNvPr id="8" name="Prototype node"/>
          <p:cNvSpPr/>
          <p:nvPr/>
        </p:nvSpPr>
        <p:spPr>
          <a:xfrm>
            <a:off x="3383280" y="246888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Nov 10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3337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794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Core loop playable with grey boxes</a:t>
            </a:r>
            <a:endParaRPr lang="en-US" sz="1400" dirty="0"/>
          </a:p>
        </p:txBody>
      </p:sp>
      <p:sp>
        <p:nvSpPr>
          <p:cNvPr id="12" name="Alpha node"/>
          <p:cNvSpPr/>
          <p:nvPr/>
        </p:nvSpPr>
        <p:spPr>
          <a:xfrm>
            <a:off x="5806440" y="246888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Nov 24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337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3794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Must-have feature is in</a:t>
            </a:r>
            <a:endParaRPr lang="en-US" sz="1400" dirty="0"/>
          </a:p>
        </p:txBody>
      </p:sp>
      <p:sp>
        <p:nvSpPr>
          <p:cNvPr id="16" name="Beta node"/>
          <p:cNvSpPr/>
          <p:nvPr/>
        </p:nvSpPr>
        <p:spPr>
          <a:xfrm>
            <a:off x="8229600" y="246888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236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Dec 1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3337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794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Content complete, playtested</a:t>
            </a:r>
            <a:endParaRPr lang="en-US" sz="1400" dirty="0"/>
          </a:p>
        </p:txBody>
      </p:sp>
      <p:sp>
        <p:nvSpPr>
          <p:cNvPr id="20" name="Final Build node"/>
          <p:cNvSpPr/>
          <p:nvPr/>
        </p:nvSpPr>
        <p:spPr>
          <a:xfrm>
            <a:off x="10652760" y="246888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Dec 8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3337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Build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921240" y="3794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Build, presentation, credits</a:t>
            </a:r>
            <a:endParaRPr lang="en-US" sz="1400" dirty="0"/>
          </a:p>
        </p:txBody>
      </p:sp>
      <p:sp>
        <p:nvSpPr>
          <p:cNvPr id="24" name="Milestone tip card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5074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Each milestone needs a date and a "done when" test.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Example dates are from the Lantern Keeper plan. Use our course calendar for yours.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Name your risks and roles early</a:t>
            </a:r>
            <a:endParaRPr lang="en-US" sz="3400" dirty="0"/>
          </a:p>
        </p:txBody>
      </p:sp>
      <p:sp>
        <p:nvSpPr>
          <p:cNvPr id="3" name="Risk card 0"/>
          <p:cNvSpPr/>
          <p:nvPr/>
        </p:nvSpPr>
        <p:spPr>
          <a:xfrm>
            <a:off x="548640" y="1417320"/>
            <a:ext cx="64008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isk 0 circle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Risk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516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Ship movement may take longer than planned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9842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Fallback: ships follow fixed paths. Decide by Nov 3.</a:t>
            </a:r>
            <a:endParaRPr lang="en-US" sz="1400" dirty="0"/>
          </a:p>
        </p:txBody>
      </p:sp>
      <p:sp>
        <p:nvSpPr>
          <p:cNvPr id="8" name="Risk card 1"/>
          <p:cNvSpPr/>
          <p:nvPr/>
        </p:nvSpPr>
        <p:spPr>
          <a:xfrm>
            <a:off x="548640" y="2743200"/>
            <a:ext cx="64008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isk 1 circle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Risk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1775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2880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Pixel art may not be finished in time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691640" y="33101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Fallback: keep the greybox and use a credited free asset pack.</a:t>
            </a:r>
            <a:endParaRPr lang="en-US" sz="1400" dirty="0"/>
          </a:p>
        </p:txBody>
      </p:sp>
      <p:sp>
        <p:nvSpPr>
          <p:cNvPr id="13" name="Risk card 2"/>
          <p:cNvSpPr/>
          <p:nvPr/>
        </p:nvSpPr>
        <p:spPr>
          <a:xfrm>
            <a:off x="548640" y="4069080"/>
            <a:ext cx="64008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isk 2 circle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Risk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5034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206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Midterms and Thanksgiving week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46360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Plan: finish Must-have tasks before Nov 20; cut Should-haves first.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486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List two or three things that could go wrong, and what you'll do if they do.</a:t>
            </a:r>
            <a:endParaRPr lang="en-US" sz="1500" dirty="0"/>
          </a:p>
        </p:txBody>
      </p:sp>
      <p:sp>
        <p:nvSpPr>
          <p:cNvPr id="19" name="Roles card"/>
          <p:cNvSpPr/>
          <p:nvPr/>
        </p:nvSpPr>
        <p:spPr>
          <a:xfrm>
            <a:off x="7315200" y="1417320"/>
            <a:ext cx="4325112" cy="4526280"/>
          </a:xfrm>
          <a:prstGeom prst="roundRect">
            <a:avLst>
              <a:gd name="adj" fmla="val 253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Roles circle"/>
          <p:cNvSpPr/>
          <p:nvPr/>
        </p:nvSpPr>
        <p:spPr>
          <a:xfrm>
            <a:off x="7680960" y="1783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Role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0" y="19888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8096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projects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680960" y="33375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Every task has one owner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Split by area: gameplay, art, UI, audio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Balance the hours, not the task count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Example: Maya codes (37 hrs), Jordan does art and UI (31 hrs)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Putting your plan on a board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recommended tool: GitHub Projects</a:t>
            </a:r>
            <a:endParaRPr lang="en-US" sz="1800" dirty="0"/>
          </a:p>
        </p:txBody>
      </p:sp>
      <p:sp>
        <p:nvSpPr>
          <p:cNvPr id="4" name="Section circle"/>
          <p:cNvSpPr/>
          <p:nvPr/>
        </p:nvSpPr>
        <p:spPr>
          <a:xfrm>
            <a:off x="9235440" y="228600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88920"/>
            <a:ext cx="1005840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Why GitHub Projects</a:t>
            </a:r>
            <a:endParaRPr lang="en-US" sz="3400" dirty="0"/>
          </a:p>
        </p:txBody>
      </p:sp>
      <p:sp>
        <p:nvSpPr>
          <p:cNvPr id="3" name="Code and plan in one place circle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Code and plan in one pla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Code and plan in one place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7556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Your Unity repo, issues, and board live side by side.</a:t>
            </a:r>
            <a:endParaRPr lang="en-US" sz="1500" dirty="0"/>
          </a:p>
        </p:txBody>
      </p:sp>
      <p:sp>
        <p:nvSpPr>
          <p:cNvPr id="7" name="Commits close tasks circle"/>
          <p:cNvSpPr/>
          <p:nvPr/>
        </p:nvSpPr>
        <p:spPr>
          <a:xfrm>
            <a:off x="548640" y="25603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Commits close task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Commits close tasks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9443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Mention an issue in a commit and its card moves to Done.</a:t>
            </a:r>
            <a:endParaRPr lang="en-US" sz="1500" dirty="0"/>
          </a:p>
        </p:txBody>
      </p:sp>
      <p:sp>
        <p:nvSpPr>
          <p:cNvPr id="11" name="Progress you can show circle"/>
          <p:cNvSpPr/>
          <p:nvPr/>
        </p:nvSpPr>
        <p:spPr>
          <a:xfrm>
            <a:off x="548640" y="3749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Progress you can show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Progress you can show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1330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board's history is evidence of your work at each milestone.</a:t>
            </a:r>
            <a:endParaRPr lang="en-US" sz="1500" dirty="0"/>
          </a:p>
        </p:txBody>
      </p:sp>
      <p:sp>
        <p:nvSpPr>
          <p:cNvPr id="15" name="Free circle"/>
          <p:cNvSpPr/>
          <p:nvPr/>
        </p:nvSpPr>
        <p:spPr>
          <a:xfrm>
            <a:off x="548640" y="49377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Fre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1206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Free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Included with any GitHub account. No trial, no limits that matter here.</a:t>
            </a:r>
            <a:endParaRPr lang="en-US" sz="1500" dirty="0"/>
          </a:p>
        </p:txBody>
      </p:sp>
      <p:sp>
        <p:nvSpPr>
          <p:cNvPr id="19" name="Commit example card"/>
          <p:cNvSpPr/>
          <p:nvPr/>
        </p:nvSpPr>
        <p:spPr>
          <a:xfrm>
            <a:off x="6492240" y="1371600"/>
            <a:ext cx="5148072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858000" y="1691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2000" dirty="0"/>
          </a:p>
        </p:txBody>
      </p:sp>
      <p:sp>
        <p:nvSpPr>
          <p:cNvPr id="21" name="Code box"/>
          <p:cNvSpPr/>
          <p:nvPr/>
        </p:nvSpPr>
        <p:spPr>
          <a:xfrm>
            <a:off x="6858000" y="2286000"/>
            <a:ext cx="4416552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086600" y="23774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lamp refueling.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Closes #6"</a:t>
            </a:r>
            <a:endParaRPr lang="en-US" sz="1500" dirty="0"/>
          </a:p>
        </p:txBody>
      </p:sp>
      <p:sp>
        <p:nvSpPr>
          <p:cNvPr id="23" name="Down arrow"/>
          <p:cNvSpPr/>
          <p:nvPr/>
        </p:nvSpPr>
        <p:spPr>
          <a:xfrm>
            <a:off x="8823960" y="3611880"/>
            <a:ext cx="502920" cy="502920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858000" y="42976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Issue #6 closes and its card moves to Done when you push.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the example board looks like</a:t>
            </a:r>
            <a:endParaRPr lang="en-US" sz="3400" dirty="0"/>
          </a:p>
        </p:txBody>
      </p:sp>
      <p:sp>
        <p:nvSpPr>
          <p:cNvPr id="3" name="Todo column"/>
          <p:cNvSpPr/>
          <p:nvPr/>
        </p:nvSpPr>
        <p:spPr>
          <a:xfrm>
            <a:off x="548640" y="1325880"/>
            <a:ext cx="3474720" cy="4709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odo dot"/>
          <p:cNvSpPr/>
          <p:nvPr/>
        </p:nvSpPr>
        <p:spPr>
          <a:xfrm>
            <a:off x="777240" y="1554480"/>
            <a:ext cx="201168" cy="2011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Todo  23</a:t>
            </a:r>
            <a:endParaRPr lang="en-US" sz="1600" dirty="0"/>
          </a:p>
        </p:txBody>
      </p:sp>
      <p:sp>
        <p:nvSpPr>
          <p:cNvPr id="6" name="Todo card 0"/>
          <p:cNvSpPr/>
          <p:nvPr/>
        </p:nvSpPr>
        <p:spPr>
          <a:xfrm>
            <a:off x="731520" y="201168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1214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Refuel a lamp with the E key</a:t>
            </a:r>
            <a:endParaRPr lang="en-US" sz="1300" dirty="0"/>
          </a:p>
        </p:txBody>
      </p:sp>
      <p:sp>
        <p:nvSpPr>
          <p:cNvPr id="8" name="Todo label 0"/>
          <p:cNvSpPr/>
          <p:nvPr/>
        </p:nvSpPr>
        <p:spPr>
          <a:xfrm>
            <a:off x="896112" y="2697480"/>
            <a:ext cx="960120" cy="246888"/>
          </a:xfrm>
          <a:prstGeom prst="roundRect">
            <a:avLst>
              <a:gd name="adj" fmla="val 481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269748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gameplay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69748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2h</a:t>
            </a:r>
            <a:endParaRPr lang="en-US" sz="1100" dirty="0"/>
          </a:p>
        </p:txBody>
      </p:sp>
      <p:sp>
        <p:nvSpPr>
          <p:cNvPr id="11" name="Todo card 1"/>
          <p:cNvSpPr/>
          <p:nvPr/>
        </p:nvSpPr>
        <p:spPr>
          <a:xfrm>
            <a:off x="731520" y="320040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3101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Ships spawn and sail past the coast</a:t>
            </a:r>
            <a:endParaRPr lang="en-US" sz="1300" dirty="0"/>
          </a:p>
        </p:txBody>
      </p:sp>
      <p:sp>
        <p:nvSpPr>
          <p:cNvPr id="13" name="Todo label 1"/>
          <p:cNvSpPr/>
          <p:nvPr/>
        </p:nvSpPr>
        <p:spPr>
          <a:xfrm>
            <a:off x="896112" y="3886200"/>
            <a:ext cx="960120" cy="246888"/>
          </a:xfrm>
          <a:prstGeom prst="roundRect">
            <a:avLst>
              <a:gd name="adj" fmla="val 481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388620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gameplay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38862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4h</a:t>
            </a:r>
            <a:endParaRPr lang="en-US" sz="1100" dirty="0"/>
          </a:p>
        </p:txBody>
      </p:sp>
      <p:sp>
        <p:nvSpPr>
          <p:cNvPr id="16" name="Todo card 2"/>
          <p:cNvSpPr/>
          <p:nvPr/>
        </p:nvSpPr>
        <p:spPr>
          <a:xfrm>
            <a:off x="731520" y="438912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44988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Greybox the coastline level</a:t>
            </a:r>
            <a:endParaRPr lang="en-US" sz="1300" dirty="0"/>
          </a:p>
        </p:txBody>
      </p:sp>
      <p:sp>
        <p:nvSpPr>
          <p:cNvPr id="18" name="Todo label 2"/>
          <p:cNvSpPr/>
          <p:nvPr/>
        </p:nvSpPr>
        <p:spPr>
          <a:xfrm>
            <a:off x="896112" y="5074920"/>
            <a:ext cx="960120" cy="246888"/>
          </a:xfrm>
          <a:prstGeom prst="roundRect">
            <a:avLst>
              <a:gd name="adj" fmla="val 4814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07492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art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154680" y="507492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2h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5577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+ 20 more cards</a:t>
            </a:r>
            <a:endParaRPr lang="en-US" sz="1200" dirty="0"/>
          </a:p>
        </p:txBody>
      </p:sp>
      <p:sp>
        <p:nvSpPr>
          <p:cNvPr id="22" name="In Progress column"/>
          <p:cNvSpPr/>
          <p:nvPr/>
        </p:nvSpPr>
        <p:spPr>
          <a:xfrm>
            <a:off x="4297680" y="1325880"/>
            <a:ext cx="3474720" cy="4709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n Progress dot"/>
          <p:cNvSpPr/>
          <p:nvPr/>
        </p:nvSpPr>
        <p:spPr>
          <a:xfrm>
            <a:off x="4526280" y="155448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Progress  2</a:t>
            </a:r>
            <a:endParaRPr lang="en-US" sz="1600" dirty="0"/>
          </a:p>
        </p:txBody>
      </p:sp>
      <p:sp>
        <p:nvSpPr>
          <p:cNvPr id="25" name="In Progress card 0"/>
          <p:cNvSpPr/>
          <p:nvPr/>
        </p:nvSpPr>
        <p:spPr>
          <a:xfrm>
            <a:off x="4480560" y="201168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45152" y="21214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Player movement (WASD, top-down)</a:t>
            </a:r>
            <a:endParaRPr lang="en-US" sz="1300" dirty="0"/>
          </a:p>
        </p:txBody>
      </p:sp>
      <p:sp>
        <p:nvSpPr>
          <p:cNvPr id="27" name="In Progress label 0"/>
          <p:cNvSpPr/>
          <p:nvPr/>
        </p:nvSpPr>
        <p:spPr>
          <a:xfrm>
            <a:off x="4645152" y="2697480"/>
            <a:ext cx="960120" cy="246888"/>
          </a:xfrm>
          <a:prstGeom prst="roundRect">
            <a:avLst>
              <a:gd name="adj" fmla="val 481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45152" y="269748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gameplay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269748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3h</a:t>
            </a:r>
            <a:endParaRPr lang="en-US" sz="1100" dirty="0"/>
          </a:p>
        </p:txBody>
      </p:sp>
      <p:sp>
        <p:nvSpPr>
          <p:cNvPr id="30" name="In Progress card 1"/>
          <p:cNvSpPr/>
          <p:nvPr/>
        </p:nvSpPr>
        <p:spPr>
          <a:xfrm>
            <a:off x="4480560" y="320040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45152" y="33101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Lamps with fuel that drains over time</a:t>
            </a:r>
            <a:endParaRPr lang="en-US" sz="1300" dirty="0"/>
          </a:p>
        </p:txBody>
      </p:sp>
      <p:sp>
        <p:nvSpPr>
          <p:cNvPr id="32" name="In Progress label 1"/>
          <p:cNvSpPr/>
          <p:nvPr/>
        </p:nvSpPr>
        <p:spPr>
          <a:xfrm>
            <a:off x="4645152" y="3886200"/>
            <a:ext cx="960120" cy="246888"/>
          </a:xfrm>
          <a:prstGeom prst="roundRect">
            <a:avLst>
              <a:gd name="adj" fmla="val 481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45152" y="388620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gameplay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38862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3h</a:t>
            </a:r>
            <a:endParaRPr lang="en-US" sz="1100" dirty="0"/>
          </a:p>
        </p:txBody>
      </p:sp>
      <p:sp>
        <p:nvSpPr>
          <p:cNvPr id="35" name="Done column"/>
          <p:cNvSpPr/>
          <p:nvPr/>
        </p:nvSpPr>
        <p:spPr>
          <a:xfrm>
            <a:off x="8046720" y="1325880"/>
            <a:ext cx="3474720" cy="4709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Done dot"/>
          <p:cNvSpPr/>
          <p:nvPr/>
        </p:nvSpPr>
        <p:spPr>
          <a:xfrm>
            <a:off x="8275320" y="1554480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953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Done  3</a:t>
            </a:r>
            <a:endParaRPr lang="en-US" sz="1600" dirty="0"/>
          </a:p>
        </p:txBody>
      </p:sp>
      <p:sp>
        <p:nvSpPr>
          <p:cNvPr id="38" name="Done card 0"/>
          <p:cNvSpPr/>
          <p:nvPr/>
        </p:nvSpPr>
        <p:spPr>
          <a:xfrm>
            <a:off x="8229600" y="201168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94192" y="21214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Write the Game Design Document</a:t>
            </a:r>
            <a:endParaRPr lang="en-US" sz="1300" dirty="0"/>
          </a:p>
        </p:txBody>
      </p:sp>
      <p:sp>
        <p:nvSpPr>
          <p:cNvPr id="40" name="Done label 0"/>
          <p:cNvSpPr/>
          <p:nvPr/>
        </p:nvSpPr>
        <p:spPr>
          <a:xfrm>
            <a:off x="8394192" y="2697480"/>
            <a:ext cx="960120" cy="246888"/>
          </a:xfrm>
          <a:prstGeom prst="roundRect">
            <a:avLst>
              <a:gd name="adj" fmla="val 4814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94192" y="269748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docs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652760" y="269748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4h</a:t>
            </a:r>
            <a:endParaRPr lang="en-US" sz="1100" dirty="0"/>
          </a:p>
        </p:txBody>
      </p:sp>
      <p:sp>
        <p:nvSpPr>
          <p:cNvPr id="43" name="Done card 1"/>
          <p:cNvSpPr/>
          <p:nvPr/>
        </p:nvSpPr>
        <p:spPr>
          <a:xfrm>
            <a:off x="8229600" y="320040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94192" y="33101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Build the project board</a:t>
            </a:r>
            <a:endParaRPr lang="en-US" sz="1300" dirty="0"/>
          </a:p>
        </p:txBody>
      </p:sp>
      <p:sp>
        <p:nvSpPr>
          <p:cNvPr id="45" name="Done label 1"/>
          <p:cNvSpPr/>
          <p:nvPr/>
        </p:nvSpPr>
        <p:spPr>
          <a:xfrm>
            <a:off x="8394192" y="3886200"/>
            <a:ext cx="960120" cy="246888"/>
          </a:xfrm>
          <a:prstGeom prst="roundRect">
            <a:avLst>
              <a:gd name="adj" fmla="val 4814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94192" y="388620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docs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652760" y="38862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2h</a:t>
            </a:r>
            <a:endParaRPr lang="en-US" sz="1100" dirty="0"/>
          </a:p>
        </p:txBody>
      </p:sp>
      <p:sp>
        <p:nvSpPr>
          <p:cNvPr id="48" name="Done card 2"/>
          <p:cNvSpPr/>
          <p:nvPr/>
        </p:nvSpPr>
        <p:spPr>
          <a:xfrm>
            <a:off x="8229600" y="438912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394192" y="44988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Set up Unity project and Git repo</a:t>
            </a:r>
            <a:endParaRPr lang="en-US" sz="1300" dirty="0"/>
          </a:p>
        </p:txBody>
      </p:sp>
      <p:sp>
        <p:nvSpPr>
          <p:cNvPr id="50" name="Done label 2"/>
          <p:cNvSpPr/>
          <p:nvPr/>
        </p:nvSpPr>
        <p:spPr>
          <a:xfrm>
            <a:off x="8394192" y="5074920"/>
            <a:ext cx="960120" cy="246888"/>
          </a:xfrm>
          <a:prstGeom prst="roundRect">
            <a:avLst>
              <a:gd name="adj" fmla="val 481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394192" y="507492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tech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652760" y="507492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Anatomy of a task</a:t>
            </a:r>
            <a:endParaRPr lang="en-US" sz="3400" dirty="0"/>
          </a:p>
        </p:txBody>
      </p:sp>
      <p:sp>
        <p:nvSpPr>
          <p:cNvPr id="3" name="Issue mock"/>
          <p:cNvSpPr/>
          <p:nvPr/>
        </p:nvSpPr>
        <p:spPr>
          <a:xfrm>
            <a:off x="548640" y="1325880"/>
            <a:ext cx="5212080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Ships spawn and sail past the coast  #7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Description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Ships spawn off-screen on a timer and travel along the coast past each lamp.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Acceptance criteria</a:t>
            </a:r>
            <a:endParaRPr lang="en-US" sz="1300" dirty="0"/>
          </a:p>
        </p:txBody>
      </p:sp>
      <p:sp>
        <p:nvSpPr>
          <p:cNvPr id="8" name="Mock checkbox 0"/>
          <p:cNvSpPr/>
          <p:nvPr/>
        </p:nvSpPr>
        <p:spPr>
          <a:xfrm>
            <a:off x="868680" y="3657600"/>
            <a:ext cx="228600" cy="2286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3611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Spawn interval is adjustable</a:t>
            </a:r>
            <a:endParaRPr lang="en-US" sz="1400" dirty="0"/>
          </a:p>
        </p:txBody>
      </p:sp>
      <p:sp>
        <p:nvSpPr>
          <p:cNvPr id="10" name="Mock checkbox 1"/>
          <p:cNvSpPr/>
          <p:nvPr/>
        </p:nvSpPr>
        <p:spPr>
          <a:xfrm>
            <a:off x="868680" y="4114800"/>
            <a:ext cx="228600" cy="2286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Ships destroyed after leaving the screen</a:t>
            </a:r>
            <a:endParaRPr lang="en-US" sz="1400" dirty="0"/>
          </a:p>
        </p:txBody>
      </p:sp>
      <p:sp>
        <p:nvSpPr>
          <p:cNvPr id="12" name="Mock label"/>
          <p:cNvSpPr/>
          <p:nvPr/>
        </p:nvSpPr>
        <p:spPr>
          <a:xfrm>
            <a:off x="868680" y="480060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800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gameplay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4800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Milestone: Prototype</a:t>
            </a:r>
            <a:endParaRPr lang="en-US" sz="1200" dirty="0"/>
          </a:p>
        </p:txBody>
      </p:sp>
      <p:graphicFrame>
        <p:nvGraphicFramePr>
          <p:cNvPr id="16" name="Field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25880"/>
          <a:ext cx="5468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7307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→ In Progress → 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/ Should / Nice to have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 (hrs)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best guess. Split anything over ~4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checkpoint it belongs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the Roadmap timeline 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Teams: the one person responsible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Area: gameplay, ui, art, audio, risk…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172200" y="5440680"/>
            <a:ext cx="5468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Scope, Estimate, Target date, and Owner are custom fields you add once.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Set up your board in 10 minutes</a:t>
            </a:r>
            <a:endParaRPr lang="en-US" sz="3400" dirty="0"/>
          </a:p>
        </p:txBody>
      </p:sp>
      <p:sp>
        <p:nvSpPr>
          <p:cNvPr id="3" name="Step 1 circle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Create a repo for your game with the Unity .gitignore</a:t>
            </a:r>
            <a:endParaRPr lang="en-US" sz="1600" dirty="0"/>
          </a:p>
        </p:txBody>
      </p:sp>
      <p:sp>
        <p:nvSpPr>
          <p:cNvPr id="6" name="Step 2 circle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86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Profile → Projects → New project → Board template</a:t>
            </a:r>
            <a:endParaRPr lang="en-US" sz="1600" dirty="0"/>
          </a:p>
        </p:txBody>
      </p:sp>
      <p:sp>
        <p:nvSpPr>
          <p:cNvPr id="9" name="Step 3 circle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Project settings: link it to your repo</a:t>
            </a:r>
            <a:endParaRPr lang="en-US" sz="1600" dirty="0"/>
          </a:p>
        </p:txBody>
      </p:sp>
      <p:sp>
        <p:nvSpPr>
          <p:cNvPr id="12" name="Step 4 circle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14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Add fields: Scope, Estimate, Target date, Owner</a:t>
            </a:r>
            <a:endParaRPr lang="en-US" sz="1600" dirty="0"/>
          </a:p>
        </p:txBody>
      </p:sp>
      <p:sp>
        <p:nvSpPr>
          <p:cNvPr id="15" name="Step 5 circle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029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Repo → Issues → Milestones: add dated milestones</a:t>
            </a:r>
            <a:endParaRPr lang="en-US" sz="1600" dirty="0"/>
          </a:p>
        </p:txBody>
      </p:sp>
      <p:sp>
        <p:nvSpPr>
          <p:cNvPr id="18" name="Step 6 circle"/>
          <p:cNvSpPr/>
          <p:nvPr/>
        </p:nvSpPr>
        <p:spPr>
          <a:xfrm>
            <a:off x="626364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1371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issue per task: label, milestone, criteria</a:t>
            </a:r>
            <a:endParaRPr lang="en-US" sz="1600" dirty="0"/>
          </a:p>
        </p:txBody>
      </p:sp>
      <p:sp>
        <p:nvSpPr>
          <p:cNvPr id="21" name="Step 7 circle"/>
          <p:cNvSpPr/>
          <p:nvPr/>
        </p:nvSpPr>
        <p:spPr>
          <a:xfrm>
            <a:off x="6263640" y="2286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63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2286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Add a Roadmap view and a Table view by Scope</a:t>
            </a:r>
            <a:endParaRPr lang="en-US" sz="1600" dirty="0"/>
          </a:p>
        </p:txBody>
      </p:sp>
      <p:sp>
        <p:nvSpPr>
          <p:cNvPr id="24" name="Step 8 circle"/>
          <p:cNvSpPr/>
          <p:nvPr/>
        </p:nvSpPr>
        <p:spPr>
          <a:xfrm>
            <a:off x="6263640" y="32004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Teams: add collaborators, assign every issue</a:t>
            </a:r>
            <a:endParaRPr lang="en-US" sz="1600" dirty="0"/>
          </a:p>
        </p:txBody>
      </p:sp>
      <p:sp>
        <p:nvSpPr>
          <p:cNvPr id="27" name="Step 9 circle"/>
          <p:cNvSpPr/>
          <p:nvPr/>
        </p:nvSpPr>
        <p:spPr>
          <a:xfrm>
            <a:off x="6263640" y="4114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9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4114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Share the project and screenshot the Board view</a:t>
            </a:r>
            <a:endParaRPr lang="en-US" sz="1600" dirty="0"/>
          </a:p>
        </p:txBody>
      </p:sp>
      <p:sp>
        <p:nvSpPr>
          <p:cNvPr id="30" name="Tip card"/>
          <p:cNvSpPr/>
          <p:nvPr/>
        </p:nvSpPr>
        <p:spPr>
          <a:xfrm>
            <a:off x="6263640" y="5074920"/>
            <a:ext cx="53492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37960" y="5074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Stuck? Copy the structure of the Lantern Keeper example.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Prefer another tool? These are free too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With your Pitt Microsoft 365</a:t>
            </a:r>
            <a:endParaRPr lang="en-US" sz="1700" dirty="0"/>
          </a:p>
        </p:txBody>
      </p:sp>
      <p:sp>
        <p:nvSpPr>
          <p:cNvPr id="4" name="Microsoft Planner card"/>
          <p:cNvSpPr/>
          <p:nvPr/>
        </p:nvSpPr>
        <p:spPr>
          <a:xfrm>
            <a:off x="548640" y="1920240"/>
            <a:ext cx="34747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Microsoft Planner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Kanban board, due dates, checklists</a:t>
            </a:r>
            <a:endParaRPr lang="en-US" sz="1300" dirty="0"/>
          </a:p>
        </p:txBody>
      </p:sp>
      <p:sp>
        <p:nvSpPr>
          <p:cNvPr id="7" name="Microsoft Loop card"/>
          <p:cNvSpPr/>
          <p:nvPr/>
        </p:nvSpPr>
        <p:spPr>
          <a:xfrm>
            <a:off x="548640" y="3108960"/>
            <a:ext cx="34747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Microsoft Loop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Shared pages; task lists sync to Planner</a:t>
            </a:r>
            <a:endParaRPr lang="en-US" sz="1300" dirty="0"/>
          </a:p>
        </p:txBody>
      </p:sp>
      <p:sp>
        <p:nvSpPr>
          <p:cNvPr id="10" name="Lists and Excel card"/>
          <p:cNvSpPr/>
          <p:nvPr/>
        </p:nvSpPr>
        <p:spPr>
          <a:xfrm>
            <a:off x="548640" y="4297680"/>
            <a:ext cx="34747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Lists and Excel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Structured trackers or a simple Gantt chart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Built for game developers</a:t>
            </a:r>
            <a:endParaRPr lang="en-US" sz="1700" dirty="0"/>
          </a:p>
        </p:txBody>
      </p:sp>
      <p:sp>
        <p:nvSpPr>
          <p:cNvPr id="14" name="Codecks card"/>
          <p:cNvSpPr/>
          <p:nvPr/>
        </p:nvSpPr>
        <p:spPr>
          <a:xfrm>
            <a:off x="4297680" y="1920240"/>
            <a:ext cx="34747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Codecks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Free for up to 5 users; free Pro for students</a:t>
            </a:r>
            <a:endParaRPr lang="en-US" sz="1300" dirty="0"/>
          </a:p>
        </p:txBody>
      </p:sp>
      <p:sp>
        <p:nvSpPr>
          <p:cNvPr id="17" name="HacknPlan card"/>
          <p:cNvSpPr/>
          <p:nvPr/>
        </p:nvSpPr>
        <p:spPr>
          <a:xfrm>
            <a:off x="4297680" y="3108960"/>
            <a:ext cx="34747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HacknPlan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Boards linked to a built-in GDD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General purpose</a:t>
            </a:r>
            <a:endParaRPr lang="en-US" sz="1700" dirty="0"/>
          </a:p>
        </p:txBody>
      </p:sp>
      <p:sp>
        <p:nvSpPr>
          <p:cNvPr id="21" name="Trello card"/>
          <p:cNvSpPr/>
          <p:nvPr/>
        </p:nvSpPr>
        <p:spPr>
          <a:xfrm>
            <a:off x="8046720" y="1920240"/>
            <a:ext cx="34747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Trello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Free: 10 boards, 10 collaborators</a:t>
            </a:r>
            <a:endParaRPr lang="en-US" sz="1300" dirty="0"/>
          </a:p>
        </p:txBody>
      </p:sp>
      <p:sp>
        <p:nvSpPr>
          <p:cNvPr id="24" name="Notion card"/>
          <p:cNvSpPr/>
          <p:nvPr/>
        </p:nvSpPr>
        <p:spPr>
          <a:xfrm>
            <a:off x="8046720" y="3108960"/>
            <a:ext cx="34747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Free Plus plan with your school email</a:t>
            </a:r>
            <a:endParaRPr lang="en-US" sz="1300" dirty="0"/>
          </a:p>
        </p:txBody>
      </p:sp>
      <p:sp>
        <p:nvSpPr>
          <p:cNvPr id="27" name="Requirement strip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54406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Whatever you choose: submit a link your instructor can open, plus a screenshot.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it's graded (250 points)</a:t>
            </a:r>
            <a:endParaRPr lang="en-US" sz="3400" dirty="0"/>
          </a:p>
        </p:txBody>
      </p:sp>
      <p:graphicFrame>
        <p:nvGraphicFramePr>
          <p:cNvPr id="3" name="Grading chart" descr=""/>
          <p:cNvGraphicFramePr/>
          <p:nvPr/>
        </p:nvGraphicFramePr>
        <p:xfrm>
          <a:off x="548640" y="1280160"/>
          <a:ext cx="75895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GDD share card"/>
          <p:cNvSpPr/>
          <p:nvPr/>
        </p:nvSpPr>
        <p:spPr>
          <a:xfrm>
            <a:off x="8503920" y="1463040"/>
            <a:ext cx="3136392" cy="2011680"/>
          </a:xfrm>
          <a:prstGeom prst="roundRect">
            <a:avLst>
              <a:gd name="adj" fmla="val 54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7824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points for the GDD</a:t>
            </a:r>
            <a:endParaRPr lang="en-US" sz="1500" dirty="0"/>
          </a:p>
        </p:txBody>
      </p:sp>
      <p:sp>
        <p:nvSpPr>
          <p:cNvPr id="7" name="Plan share card"/>
          <p:cNvSpPr/>
          <p:nvPr/>
        </p:nvSpPr>
        <p:spPr>
          <a:xfrm>
            <a:off x="8503920" y="3749040"/>
            <a:ext cx="3136392" cy="2011680"/>
          </a:xfrm>
          <a:prstGeom prst="roundRect">
            <a:avLst>
              <a:gd name="adj" fmla="val 545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0" y="3931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4800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points for the plan and board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Your next steps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1.  Pick a framework and draft your GDD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2.  Sort features into scope tiers and break them into tasks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3.  Build your board and submit the link + screenshot</a:t>
            </a:r>
            <a:endParaRPr lang="en-US" sz="2000" dirty="0"/>
          </a:p>
        </p:txBody>
      </p:sp>
      <p:sp>
        <p:nvSpPr>
          <p:cNvPr id="4" name="Closing circle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inish fla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46888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Example: github.com/jcallinan/CIST1422-Example-Project-Plan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tern Night">
  <a:themeElements>
    <a:clrScheme name="Lantern Night">
      <a:dk1>
        <a:srgbClr val="1B2233"/>
      </a:dk1>
      <a:lt1>
        <a:srgbClr val="FFFFFF"/>
      </a:lt1>
      <a:dk2>
        <a:srgbClr val="13213C"/>
      </a:dk2>
      <a:lt2>
        <a:srgbClr val="EEF2F8"/>
      </a:lt2>
      <a:accent1>
        <a:srgbClr val="F2A93B"/>
      </a:accent1>
      <a:accent2>
        <a:srgbClr val="2F5D8C"/>
      </a:accent2>
      <a:accent3>
        <a:srgbClr val="3A9D6E"/>
      </a:accent3>
      <a:accent4>
        <a:srgbClr val="C4553E"/>
      </a:accent4>
      <a:accent5>
        <a:srgbClr val="6B7A99"/>
      </a:accent5>
      <a:accent6>
        <a:srgbClr val="F7DDA4"/>
      </a:accent6>
      <a:hlink>
        <a:srgbClr val="2F5D8C"/>
      </a:hlink>
      <a:folHlink>
        <a:srgbClr val="6B7A99"/>
      </a:folHlink>
    </a:clrScheme>
    <a:fontScheme name="Lantern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Your Game: GDD and Project Plan</dc:title>
  <dc:subject>CIST 1422 Final Game Project</dc:subject>
  <dc:creator>Jeremy Callinan</dc:creator>
  <cp:lastModifiedBy>Jeremy Callinan</cp:lastModifiedBy>
  <cp:revision>1</cp:revision>
  <dcterms:created xsi:type="dcterms:W3CDTF">2026-10-18T19:08:53Z</dcterms:created>
  <dcterms:modified xsi:type="dcterms:W3CDTF">2026-10-18T19:08:53Z</dcterms:modified>
</cp:coreProperties>
</file>