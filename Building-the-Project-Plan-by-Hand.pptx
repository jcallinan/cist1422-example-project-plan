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example repo's Projects tab in another browser tab so you can switch between the slides and the real board. The PowerShell script in the repo (setup-example-project.ps1) automates everything on these slides. Students should do it by hand at least once so they understand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and point to it in the live example. The repo holds labels, milestones, and issues. The Project is a separate object, linked to the repo, that adds custom fields and views on top of those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is a plan for building the game described in the GDD. If the GDD is vague, the tasks will be vague too. Point out that the Must-have tier by itself is a complete, playable game. That's the test for a good Must-have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Point out the .gitignore dropdown. If students skip the Unity template, they will try to commit the Library folder (gigabytes) and pushes will fail or take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answer the question 'what kind of work is this?' Keep the list short. Eight is plenty. The colors are only for scanning the board quickly. The 'risk' label is red on purpose so risks stand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milestone is a checkpoint with a date and a clear definition of done. GitHub shows a progress bar for each milestone based on closed issues, so students can see right away if they're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paper or in a spreadsheet before creating issues. Use the lamp feature as a live example: ask students to suggest the pieces, then compare with the board. Note the inconsistency they may notice: the README says split anything over about 4 hours, and the pixel art task is 6. Ask whether they would split it (tiles vs. character sprites).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format every issue in the example uses. The acceptance criteria are a checklist. GitHub renders '- [ ]' as checkboxes that you tick off as you work, and the issue list shows progress like '1 of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to paste the template. Suggest students keep the template in a text file and copy it for every issue. Optional, more advanced: put an issue template in .github/ISSUE_TEMPLATE so GitHub pre-fills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up your hours before you submit. Compare the total to the hours you actually have. This example has 67 hours of work, and 44 of them are Must-have. If a team's Must-have total doesn't fit the schedule, the plan isn't realistic yet. The table view's field sum does this math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Projects belong to a user or organization, not to a repo, which is why we link them. Once linked, the project appears under the repo's Projects tab. Teams: create it under the account that owns the repo and add teammates under Manage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fields only exist in the Project. They don't show up on the issue page in the repo, which is why the example also writes Scope and Estimate into the issue body. The fastest way to add a field is the + at the right end of the Table view header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 trick: typing # in the Add item box lets you search the linked repo's issues. Then switch to Table view and fill fields down the column. You can copy a cell and paste it into several selected cells. Close the issues for work that's already done, like the GDD.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GitHub API can't create views, so even the script leaves this step to you. It takes about a minute. Rename the default view to Board. Click New view for the other two. Remember to click Save after changing a view's settings, or the changes stay local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risk isn't a task to build something. It's a decision you'll have to make by a certain date. Making it an issue keeps it on the board and gives it a deadline. Ask students: what's the riskiest feature in your GDD, and what's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 that never changes is a plan nobody is using. Demo 'Closes #12': make a commit with that text, push it, and watch the issue close and the card move to Done (the project's built-in workflows do this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go through this list on their own board before submitting. It lines up with what you'll look for when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10–15 minutes to do questions 1–3 on paper, then have a few share. Then they can start creating real issues in their own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778240" y="1188720"/>
            <a:ext cx="2926080" cy="2926080"/>
          </a:xfrm>
          <a:prstGeom prst="ellipse">
            <a:avLst/>
          </a:prstGeom>
          <a:solidFill>
            <a:srgbClr val="F2A541">
              <a:alpha val="15000"/>
            </a:srgbClr>
          </a:solidFill>
          <a:ln/>
        </p:spPr>
      </p:sp>
      <p:sp>
        <p:nvSpPr>
          <p:cNvPr id="3" name="Shape 1"/>
          <p:cNvSpPr/>
          <p:nvPr/>
        </p:nvSpPr>
        <p:spPr>
          <a:xfrm>
            <a:off x="9464040" y="1874520"/>
            <a:ext cx="1554480" cy="1554480"/>
          </a:xfrm>
          <a:prstGeom prst="ellipse">
            <a:avLst/>
          </a:prstGeom>
          <a:solidFill>
            <a:srgbClr val="F2A541">
              <a:alpha val="40000"/>
            </a:srgbClr>
          </a:solidFill>
          <a:ln/>
        </p:spPr>
      </p:sp>
      <p:sp>
        <p:nvSpPr>
          <p:cNvPr id="4" name="Shape 2"/>
          <p:cNvSpPr/>
          <p:nvPr/>
        </p:nvSpPr>
        <p:spPr>
          <a:xfrm>
            <a:off x="9921240" y="2331720"/>
            <a:ext cx="640080" cy="640080"/>
          </a:xfrm>
          <a:prstGeom prst="ellipse">
            <a:avLst/>
          </a:prstGeom>
          <a:solidFill>
            <a:srgbClr val="F2A541"/>
          </a:solidFill>
          <a:ln w="12700">
            <a:solidFill>
              <a:srgbClr val="F2A541"/>
            </a:solidFill>
            <a:prstDash val="solid"/>
          </a:ln>
        </p:spPr>
      </p:sp>
      <p:sp>
        <p:nvSpPr>
          <p:cNvPr id="5" name="Text 3"/>
          <p:cNvSpPr/>
          <p:nvPr/>
        </p:nvSpPr>
        <p:spPr>
          <a:xfrm>
            <a:off x="731520" y="1371600"/>
            <a:ext cx="8229600" cy="365760"/>
          </a:xfrm>
          <a:prstGeom prst="rect">
            <a:avLst/>
          </a:prstGeom>
          <a:noFill/>
          <a:ln/>
        </p:spPr>
        <p:txBody>
          <a:bodyPr wrap="square" lIns="0" tIns="0" rIns="0" bIns="0" rtlCol="0" anchor="ctr"/>
          <a:lstStyle/>
          <a:p>
            <a:pPr indent="0" marL="0">
              <a:buNone/>
            </a:pPr>
            <a:r>
              <a:rPr lang="en-US" sz="1400" b="1" spc="200" kern="0" dirty="0">
                <a:solidFill>
                  <a:srgbClr val="F2A541"/>
                </a:solidFill>
                <a:latin typeface="Segoe UI" pitchFamily="34" charset="0"/>
                <a:ea typeface="Segoe UI" pitchFamily="34" charset="-122"/>
                <a:cs typeface="Segoe UI" pitchFamily="34" charset="-120"/>
              </a:rPr>
              <a:t>CIST 1422  ·  GAME DESIGN DOCUMENT AND PROJECT PLAN</a:t>
            </a:r>
            <a:endParaRPr lang="en-US" sz="1400" dirty="0"/>
          </a:p>
        </p:txBody>
      </p:sp>
      <p:sp>
        <p:nvSpPr>
          <p:cNvPr id="6" name="Text 4"/>
          <p:cNvSpPr/>
          <p:nvPr/>
        </p:nvSpPr>
        <p:spPr>
          <a:xfrm>
            <a:off x="731520" y="1828800"/>
            <a:ext cx="8046720" cy="1645920"/>
          </a:xfrm>
          <a:prstGeom prst="rect">
            <a:avLst/>
          </a:prstGeom>
          <a:noFill/>
          <a:ln/>
        </p:spPr>
        <p:txBody>
          <a:bodyPr wrap="square" lIns="0" tIns="0" rIns="0" bIns="0" rtlCol="0" anchor="t"/>
          <a:lstStyle/>
          <a:p>
            <a:pPr indent="0" marL="0">
              <a:buNone/>
            </a:pPr>
            <a:r>
              <a:rPr lang="en-US" sz="4400" b="1" dirty="0">
                <a:solidFill>
                  <a:srgbClr val="FFFFFF"/>
                </a:solidFill>
                <a:latin typeface="Segoe UI" pitchFamily="34" charset="0"/>
                <a:ea typeface="Segoe UI" pitchFamily="34" charset="-122"/>
                <a:cs typeface="Segoe UI" pitchFamily="34" charset="-120"/>
              </a:rPr>
              <a:t>Building a Project Plan in GitHub, by Hand</a:t>
            </a:r>
            <a:endParaRPr lang="en-US" sz="4400" dirty="0"/>
          </a:p>
        </p:txBody>
      </p:sp>
      <p:sp>
        <p:nvSpPr>
          <p:cNvPr id="7" name="Text 5"/>
          <p:cNvSpPr/>
          <p:nvPr/>
        </p:nvSpPr>
        <p:spPr>
          <a:xfrm>
            <a:off x="731520" y="3657600"/>
            <a:ext cx="7680960" cy="1005840"/>
          </a:xfrm>
          <a:prstGeom prst="rect">
            <a:avLst/>
          </a:prstGeom>
          <a:noFill/>
          <a:ln/>
        </p:spPr>
        <p:txBody>
          <a:bodyPr wrap="square" lIns="0" tIns="0" rIns="0" bIns="0" rtlCol="0" anchor="t"/>
          <a:lstStyle/>
          <a:p>
            <a:pPr indent="0" marL="0">
              <a:buNone/>
            </a:pPr>
            <a:r>
              <a:rPr lang="en-US" sz="1800" dirty="0">
                <a:solidFill>
                  <a:srgbClr val="C9D3E6"/>
                </a:solidFill>
                <a:latin typeface="Segoe UI" pitchFamily="34" charset="0"/>
                <a:ea typeface="Segoe UI" pitchFamily="34" charset="-122"/>
                <a:cs typeface="Segoe UI" pitchFamily="34" charset="-120"/>
              </a:rPr>
              <a:t>A step-by-step walkthrough of the Lantern Keeper example: repo, labels, milestones, issues, and a GitHub Project with Board, Roadmap, and Table views.</a:t>
            </a:r>
            <a:endParaRPr lang="en-US" sz="1800" dirty="0"/>
          </a:p>
        </p:txBody>
      </p:sp>
      <p:sp>
        <p:nvSpPr>
          <p:cNvPr id="8" name="Shape 6"/>
          <p:cNvSpPr/>
          <p:nvPr/>
        </p:nvSpPr>
        <p:spPr>
          <a:xfrm>
            <a:off x="731520" y="5029200"/>
            <a:ext cx="1097280" cy="54864"/>
          </a:xfrm>
          <a:prstGeom prst="rect">
            <a:avLst/>
          </a:prstGeom>
          <a:solidFill>
            <a:srgbClr val="F2A541"/>
          </a:solidFill>
          <a:ln w="12700">
            <a:solidFill>
              <a:srgbClr val="F2A541"/>
            </a:solidFill>
            <a:prstDash val="solid"/>
          </a:ln>
        </p:spPr>
      </p:sp>
      <p:sp>
        <p:nvSpPr>
          <p:cNvPr id="9" name="Text 7"/>
          <p:cNvSpPr/>
          <p:nvPr/>
        </p:nvSpPr>
        <p:spPr>
          <a:xfrm>
            <a:off x="731520" y="5212080"/>
            <a:ext cx="8229600" cy="731520"/>
          </a:xfrm>
          <a:prstGeom prst="rect">
            <a:avLst/>
          </a:prstGeom>
          <a:noFill/>
          <a:ln/>
        </p:spPr>
        <p:txBody>
          <a:bodyPr wrap="square" lIns="0" tIns="0" rIns="0" bIns="0" rtlCol="0" anchor="ctr"/>
          <a:lstStyle/>
          <a:p>
            <a:pPr indent="0" marL="0">
              <a:buNone/>
            </a:pPr>
            <a:r>
              <a:rPr lang="en-US" sz="1400" i="1" dirty="0">
                <a:solidFill>
                  <a:srgbClr val="9FB0CC"/>
                </a:solidFill>
                <a:latin typeface="Segoe UI" pitchFamily="34" charset="0"/>
                <a:ea typeface="Segoe UI" pitchFamily="34" charset="-122"/>
                <a:cs typeface="Segoe UI" pitchFamily="34" charset="-120"/>
              </a:rPr>
              <a:t>The example board was generated by a script. Today we build the same thing by clicking through GitHub ourselves.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THE BIG PICTURE</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The finished plan: five parts</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554480"/>
            <a:ext cx="2103120" cy="2377440"/>
          </a:xfrm>
          <a:prstGeom prst="rect">
            <a:avLst/>
          </a:prstGeom>
          <a:solidFill>
            <a:srgbClr val="FFFFFF"/>
          </a:solidFill>
          <a:ln w="12700">
            <a:solidFill>
              <a:srgbClr val="DDD7C9"/>
            </a:solidFill>
            <a:prstDash val="solid"/>
          </a:ln>
        </p:spPr>
      </p:sp>
      <p:sp>
        <p:nvSpPr>
          <p:cNvPr id="9" name="Shape 6"/>
          <p:cNvSpPr/>
          <p:nvPr/>
        </p:nvSpPr>
        <p:spPr>
          <a:xfrm>
            <a:off x="548640" y="1554480"/>
            <a:ext cx="2103120" cy="73152"/>
          </a:xfrm>
          <a:prstGeom prst="rect">
            <a:avLst/>
          </a:prstGeom>
          <a:solidFill>
            <a:srgbClr val="F2A541"/>
          </a:solidFill>
          <a:ln w="12700">
            <a:solidFill>
              <a:srgbClr val="F2A541"/>
            </a:solidFill>
            <a:prstDash val="solid"/>
          </a:ln>
        </p:spPr>
      </p:sp>
      <p:sp>
        <p:nvSpPr>
          <p:cNvPr id="10" name="Text 7"/>
          <p:cNvSpPr/>
          <p:nvPr/>
        </p:nvSpPr>
        <p:spPr>
          <a:xfrm>
            <a:off x="731520" y="1737360"/>
            <a:ext cx="17373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Repository</a:t>
            </a:r>
            <a:endParaRPr lang="en-US" sz="1700" dirty="0"/>
          </a:p>
        </p:txBody>
      </p:sp>
      <p:sp>
        <p:nvSpPr>
          <p:cNvPr id="11" name="Text 8"/>
          <p:cNvSpPr/>
          <p:nvPr/>
        </p:nvSpPr>
        <p:spPr>
          <a:xfrm>
            <a:off x="731520" y="2194560"/>
            <a:ext cx="1737360" cy="164592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Holds the README with a one-paragraph GDD summary and the game's code later on.</a:t>
            </a:r>
            <a:endParaRPr lang="en-US" sz="1400" dirty="0"/>
          </a:p>
        </p:txBody>
      </p:sp>
      <p:sp>
        <p:nvSpPr>
          <p:cNvPr id="12" name="Shape 9"/>
          <p:cNvSpPr/>
          <p:nvPr/>
        </p:nvSpPr>
        <p:spPr>
          <a:xfrm>
            <a:off x="2816352" y="1554480"/>
            <a:ext cx="2103120" cy="2377440"/>
          </a:xfrm>
          <a:prstGeom prst="rect">
            <a:avLst/>
          </a:prstGeom>
          <a:solidFill>
            <a:srgbClr val="FFFFFF"/>
          </a:solidFill>
          <a:ln w="12700">
            <a:solidFill>
              <a:srgbClr val="DDD7C9"/>
            </a:solidFill>
            <a:prstDash val="solid"/>
          </a:ln>
        </p:spPr>
      </p:sp>
      <p:sp>
        <p:nvSpPr>
          <p:cNvPr id="13" name="Shape 10"/>
          <p:cNvSpPr/>
          <p:nvPr/>
        </p:nvSpPr>
        <p:spPr>
          <a:xfrm>
            <a:off x="2816352" y="1554480"/>
            <a:ext cx="2103120" cy="73152"/>
          </a:xfrm>
          <a:prstGeom prst="rect">
            <a:avLst/>
          </a:prstGeom>
          <a:solidFill>
            <a:srgbClr val="F2A541"/>
          </a:solidFill>
          <a:ln w="12700">
            <a:solidFill>
              <a:srgbClr val="F2A541"/>
            </a:solidFill>
            <a:prstDash val="solid"/>
          </a:ln>
        </p:spPr>
      </p:sp>
      <p:sp>
        <p:nvSpPr>
          <p:cNvPr id="14" name="Text 11"/>
          <p:cNvSpPr/>
          <p:nvPr/>
        </p:nvSpPr>
        <p:spPr>
          <a:xfrm>
            <a:off x="2999232" y="1737360"/>
            <a:ext cx="17373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Labels</a:t>
            </a:r>
            <a:endParaRPr lang="en-US" sz="1700" dirty="0"/>
          </a:p>
        </p:txBody>
      </p:sp>
      <p:sp>
        <p:nvSpPr>
          <p:cNvPr id="15" name="Text 12"/>
          <p:cNvSpPr/>
          <p:nvPr/>
        </p:nvSpPr>
        <p:spPr>
          <a:xfrm>
            <a:off x="2999232" y="2194560"/>
            <a:ext cx="1737360" cy="164592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8 areas of work: gameplay, ui, art, audio, tech, testing, docs, risk.</a:t>
            </a:r>
            <a:endParaRPr lang="en-US" sz="1400" dirty="0"/>
          </a:p>
        </p:txBody>
      </p:sp>
      <p:sp>
        <p:nvSpPr>
          <p:cNvPr id="16" name="Shape 13"/>
          <p:cNvSpPr/>
          <p:nvPr/>
        </p:nvSpPr>
        <p:spPr>
          <a:xfrm>
            <a:off x="5084064" y="1554480"/>
            <a:ext cx="2103120" cy="2377440"/>
          </a:xfrm>
          <a:prstGeom prst="rect">
            <a:avLst/>
          </a:prstGeom>
          <a:solidFill>
            <a:srgbClr val="FFFFFF"/>
          </a:solidFill>
          <a:ln w="12700">
            <a:solidFill>
              <a:srgbClr val="DDD7C9"/>
            </a:solidFill>
            <a:prstDash val="solid"/>
          </a:ln>
        </p:spPr>
      </p:sp>
      <p:sp>
        <p:nvSpPr>
          <p:cNvPr id="17" name="Shape 14"/>
          <p:cNvSpPr/>
          <p:nvPr/>
        </p:nvSpPr>
        <p:spPr>
          <a:xfrm>
            <a:off x="5084064" y="1554480"/>
            <a:ext cx="2103120" cy="73152"/>
          </a:xfrm>
          <a:prstGeom prst="rect">
            <a:avLst/>
          </a:prstGeom>
          <a:solidFill>
            <a:srgbClr val="F2A541"/>
          </a:solidFill>
          <a:ln w="12700">
            <a:solidFill>
              <a:srgbClr val="F2A541"/>
            </a:solidFill>
            <a:prstDash val="solid"/>
          </a:ln>
        </p:spPr>
      </p:sp>
      <p:sp>
        <p:nvSpPr>
          <p:cNvPr id="18" name="Text 15"/>
          <p:cNvSpPr/>
          <p:nvPr/>
        </p:nvSpPr>
        <p:spPr>
          <a:xfrm>
            <a:off x="5266944" y="1737360"/>
            <a:ext cx="17373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Milestones</a:t>
            </a:r>
            <a:endParaRPr lang="en-US" sz="1700" dirty="0"/>
          </a:p>
        </p:txBody>
      </p:sp>
      <p:sp>
        <p:nvSpPr>
          <p:cNvPr id="19" name="Text 16"/>
          <p:cNvSpPr/>
          <p:nvPr/>
        </p:nvSpPr>
        <p:spPr>
          <a:xfrm>
            <a:off x="5266944" y="2194560"/>
            <a:ext cx="1737360" cy="164592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5 dated checkpoints, from Plan Approved to Final Build.</a:t>
            </a:r>
            <a:endParaRPr lang="en-US" sz="1400" dirty="0"/>
          </a:p>
        </p:txBody>
      </p:sp>
      <p:sp>
        <p:nvSpPr>
          <p:cNvPr id="20" name="Shape 17"/>
          <p:cNvSpPr/>
          <p:nvPr/>
        </p:nvSpPr>
        <p:spPr>
          <a:xfrm>
            <a:off x="7351776" y="1554480"/>
            <a:ext cx="2103120" cy="2377440"/>
          </a:xfrm>
          <a:prstGeom prst="rect">
            <a:avLst/>
          </a:prstGeom>
          <a:solidFill>
            <a:srgbClr val="FFFFFF"/>
          </a:solidFill>
          <a:ln w="12700">
            <a:solidFill>
              <a:srgbClr val="DDD7C9"/>
            </a:solidFill>
            <a:prstDash val="solid"/>
          </a:ln>
        </p:spPr>
      </p:sp>
      <p:sp>
        <p:nvSpPr>
          <p:cNvPr id="21" name="Shape 18"/>
          <p:cNvSpPr/>
          <p:nvPr/>
        </p:nvSpPr>
        <p:spPr>
          <a:xfrm>
            <a:off x="7351776" y="1554480"/>
            <a:ext cx="2103120" cy="73152"/>
          </a:xfrm>
          <a:prstGeom prst="rect">
            <a:avLst/>
          </a:prstGeom>
          <a:solidFill>
            <a:srgbClr val="F2A541"/>
          </a:solidFill>
          <a:ln w="12700">
            <a:solidFill>
              <a:srgbClr val="F2A541"/>
            </a:solidFill>
            <a:prstDash val="solid"/>
          </a:ln>
        </p:spPr>
      </p:sp>
      <p:sp>
        <p:nvSpPr>
          <p:cNvPr id="22" name="Text 19"/>
          <p:cNvSpPr/>
          <p:nvPr/>
        </p:nvSpPr>
        <p:spPr>
          <a:xfrm>
            <a:off x="7534656" y="1737360"/>
            <a:ext cx="17373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Issues</a:t>
            </a:r>
            <a:endParaRPr lang="en-US" sz="1700" dirty="0"/>
          </a:p>
        </p:txBody>
      </p:sp>
      <p:sp>
        <p:nvSpPr>
          <p:cNvPr id="23" name="Text 20"/>
          <p:cNvSpPr/>
          <p:nvPr/>
        </p:nvSpPr>
        <p:spPr>
          <a:xfrm>
            <a:off x="7534656" y="2194560"/>
            <a:ext cx="1737360" cy="164592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26 tasks. Each has a description, acceptance criteria, a label, and a milestone.</a:t>
            </a:r>
            <a:endParaRPr lang="en-US" sz="1400" dirty="0"/>
          </a:p>
        </p:txBody>
      </p:sp>
      <p:sp>
        <p:nvSpPr>
          <p:cNvPr id="24" name="Shape 21"/>
          <p:cNvSpPr/>
          <p:nvPr/>
        </p:nvSpPr>
        <p:spPr>
          <a:xfrm>
            <a:off x="9619488" y="1554480"/>
            <a:ext cx="2103120" cy="2377440"/>
          </a:xfrm>
          <a:prstGeom prst="rect">
            <a:avLst/>
          </a:prstGeom>
          <a:solidFill>
            <a:srgbClr val="FFFFFF"/>
          </a:solidFill>
          <a:ln w="12700">
            <a:solidFill>
              <a:srgbClr val="DDD7C9"/>
            </a:solidFill>
            <a:prstDash val="solid"/>
          </a:ln>
        </p:spPr>
      </p:sp>
      <p:sp>
        <p:nvSpPr>
          <p:cNvPr id="25" name="Shape 22"/>
          <p:cNvSpPr/>
          <p:nvPr/>
        </p:nvSpPr>
        <p:spPr>
          <a:xfrm>
            <a:off x="9619488" y="1554480"/>
            <a:ext cx="2103120" cy="73152"/>
          </a:xfrm>
          <a:prstGeom prst="rect">
            <a:avLst/>
          </a:prstGeom>
          <a:solidFill>
            <a:srgbClr val="F2A541"/>
          </a:solidFill>
          <a:ln w="12700">
            <a:solidFill>
              <a:srgbClr val="F2A541"/>
            </a:solidFill>
            <a:prstDash val="solid"/>
          </a:ln>
        </p:spPr>
      </p:sp>
      <p:sp>
        <p:nvSpPr>
          <p:cNvPr id="26" name="Text 23"/>
          <p:cNvSpPr/>
          <p:nvPr/>
        </p:nvSpPr>
        <p:spPr>
          <a:xfrm>
            <a:off x="9802368" y="1737360"/>
            <a:ext cx="17373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Project</a:t>
            </a:r>
            <a:endParaRPr lang="en-US" sz="1700" dirty="0"/>
          </a:p>
        </p:txBody>
      </p:sp>
      <p:sp>
        <p:nvSpPr>
          <p:cNvPr id="27" name="Text 24"/>
          <p:cNvSpPr/>
          <p:nvPr/>
        </p:nvSpPr>
        <p:spPr>
          <a:xfrm>
            <a:off x="9802368" y="2194560"/>
            <a:ext cx="1737360" cy="164592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A board linked to the repo, with Scope, Estimate, and Target date fields and 3 views.</a:t>
            </a:r>
            <a:endParaRPr lang="en-US" sz="1400" dirty="0"/>
          </a:p>
        </p:txBody>
      </p:sp>
      <p:sp>
        <p:nvSpPr>
          <p:cNvPr id="28" name="Text 25"/>
          <p:cNvSpPr/>
          <p:nvPr/>
        </p:nvSpPr>
        <p:spPr>
          <a:xfrm>
            <a:off x="548640" y="4206240"/>
            <a:ext cx="11064240" cy="457200"/>
          </a:xfrm>
          <a:prstGeom prst="rect">
            <a:avLst/>
          </a:prstGeom>
          <a:noFill/>
          <a:ln/>
        </p:spPr>
        <p:txBody>
          <a:bodyPr wrap="square" lIns="0" tIns="0" rIns="0" bIns="0" rtlCol="0" anchor="ctr"/>
          <a:lstStyle/>
          <a:p>
            <a:pPr algn="ctr" indent="0" marL="0">
              <a:buNone/>
            </a:pPr>
            <a:r>
              <a:rPr lang="en-US" sz="1800" b="1" dirty="0">
                <a:solidFill>
                  <a:srgbClr val="14213D"/>
                </a:solidFill>
                <a:latin typeface="Segoe UI" pitchFamily="34" charset="0"/>
                <a:ea typeface="Segoe UI" pitchFamily="34" charset="-122"/>
                <a:cs typeface="Segoe UI" pitchFamily="34" charset="-120"/>
              </a:rPr>
              <a:t>Repo  →  Labels  →  Milestones  →  Issues  →  Project  →  Views</a:t>
            </a:r>
            <a:endParaRPr lang="en-US" sz="1800" dirty="0"/>
          </a:p>
        </p:txBody>
      </p:sp>
      <p:sp>
        <p:nvSpPr>
          <p:cNvPr id="29" name="Shape 26"/>
          <p:cNvSpPr/>
          <p:nvPr/>
        </p:nvSpPr>
        <p:spPr>
          <a:xfrm>
            <a:off x="548640" y="4937760"/>
            <a:ext cx="11064240" cy="1005840"/>
          </a:xfrm>
          <a:prstGeom prst="rect">
            <a:avLst/>
          </a:prstGeom>
          <a:solidFill>
            <a:srgbClr val="FFF4DF"/>
          </a:solidFill>
          <a:ln w="12700">
            <a:solidFill>
              <a:srgbClr val="F2A541"/>
            </a:solidFill>
            <a:prstDash val="solid"/>
          </a:ln>
        </p:spPr>
      </p:sp>
      <p:sp>
        <p:nvSpPr>
          <p:cNvPr id="30" name="Shape 27"/>
          <p:cNvSpPr/>
          <p:nvPr/>
        </p:nvSpPr>
        <p:spPr>
          <a:xfrm>
            <a:off x="548640" y="4937760"/>
            <a:ext cx="91440" cy="1005840"/>
          </a:xfrm>
          <a:prstGeom prst="rect">
            <a:avLst/>
          </a:prstGeom>
          <a:solidFill>
            <a:srgbClr val="F2A541"/>
          </a:solidFill>
          <a:ln w="12700">
            <a:solidFill>
              <a:srgbClr val="F2A541"/>
            </a:solidFill>
            <a:prstDash val="solid"/>
          </a:ln>
        </p:spPr>
      </p:sp>
      <p:sp>
        <p:nvSpPr>
          <p:cNvPr id="31" name="Text 28"/>
          <p:cNvSpPr/>
          <p:nvPr/>
        </p:nvSpPr>
        <p:spPr>
          <a:xfrm>
            <a:off x="777240" y="5029200"/>
            <a:ext cx="10698480" cy="8229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Why this order?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Labels and milestones must exist before you create issues, so you can tag each issue as you write it. The Project comes last because it shows issues that already exist.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BEFORE YOU CLICK ANYTHING</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Start with the GDD, not the board</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Text 5"/>
          <p:cNvSpPr/>
          <p:nvPr/>
        </p:nvSpPr>
        <p:spPr>
          <a:xfrm>
            <a:off x="548640" y="1417320"/>
            <a:ext cx="5486400" cy="365760"/>
          </a:xfrm>
          <a:prstGeom prst="rect">
            <a:avLst/>
          </a:prstGeom>
          <a:noFill/>
          <a:ln/>
        </p:spPr>
        <p:txBody>
          <a:bodyPr wrap="square" lIns="0" tIns="0" rIns="0" bIns="0" rtlCol="0" anchor="ctr"/>
          <a:lstStyle/>
          <a:p>
            <a:pPr indent="0" marL="0">
              <a:buNone/>
            </a:pPr>
            <a:r>
              <a:rPr lang="en-US" sz="1800" b="1" dirty="0">
                <a:solidFill>
                  <a:srgbClr val="14213D"/>
                </a:solidFill>
                <a:latin typeface="Segoe UI" pitchFamily="34" charset="0"/>
                <a:ea typeface="Segoe UI" pitchFamily="34" charset="-122"/>
                <a:cs typeface="Segoe UI" pitchFamily="34" charset="-120"/>
              </a:rPr>
              <a:t>Lantern Keeper (2D, top-down, Unity, Windows)</a:t>
            </a:r>
            <a:endParaRPr lang="en-US" sz="1800" dirty="0"/>
          </a:p>
        </p:txBody>
      </p:sp>
      <p:sp>
        <p:nvSpPr>
          <p:cNvPr id="9" name="Text 6"/>
          <p:cNvSpPr/>
          <p:nvPr/>
        </p:nvSpPr>
        <p:spPr>
          <a:xfrm>
            <a:off x="548640" y="1828800"/>
            <a:ext cx="5394960" cy="2926080"/>
          </a:xfrm>
          <a:prstGeom prst="rect">
            <a:avLst/>
          </a:prstGeom>
          <a:noFill/>
          <a:ln/>
        </p:spPr>
        <p:txBody>
          <a:bodyPr wrap="square" lIns="0" tIns="0" rIns="0" bIns="0" rtlCol="0" anchor="t"/>
          <a:lstStyle/>
          <a:p>
            <a:pPr indent="0" marL="0">
              <a:spcAft>
                <a:spcPts val="600"/>
              </a:spcAft>
              <a:buNone/>
            </a:pPr>
            <a:r>
              <a:rPr lang="en-US" sz="1500" dirty="0">
                <a:solidFill>
                  <a:srgbClr val="1B1F2A"/>
                </a:solidFill>
                <a:latin typeface="Segoe UI" pitchFamily="34" charset="0"/>
                <a:ea typeface="Segoe UI" pitchFamily="34" charset="-122"/>
                <a:cs typeface="Segoe UI" pitchFamily="34" charset="-120"/>
              </a:rPr>
              <a:t>You're a lighthouse keeper during a storm. Lamps along the coast burn through their oil. Keep them lit until dawn, or passing ships wreck on the rocks.</a:t>
            </a:r>
            <a:endParaRPr lang="en-US" sz="1500" dirty="0"/>
          </a:p>
          <a:p>
            <a:pPr indent="0" marL="0">
              <a:spcAft>
                <a:spcPts val="600"/>
              </a:spcAft>
              <a:buNone/>
            </a:pPr>
            <a:r>
              <a:rPr lang="en-US" sz="600" dirty="0">
                <a:solidFill>
                  <a:srgbClr val="1B1F2A"/>
                </a:solidFill>
                <a:latin typeface="Segoe UI" pitchFamily="34" charset="0"/>
                <a:ea typeface="Segoe UI" pitchFamily="34" charset="-122"/>
                <a:cs typeface="Segoe UI" pitchFamily="34" charset="-120"/>
              </a:rPr>
              <a:t> </a:t>
            </a:r>
            <a:endParaRPr lang="en-US" sz="1500" dirty="0"/>
          </a:p>
          <a:p>
            <a:pPr indent="0" marL="0">
              <a:spcAft>
                <a:spcPts val="600"/>
              </a:spcAft>
              <a:buNone/>
            </a:pPr>
            <a:r>
              <a:rPr lang="en-US" sz="1500" b="1" dirty="0">
                <a:solidFill>
                  <a:srgbClr val="1B1F2A"/>
                </a:solidFill>
                <a:latin typeface="Segoe UI" pitchFamily="34" charset="0"/>
                <a:ea typeface="Segoe UI" pitchFamily="34" charset="-122"/>
                <a:cs typeface="Segoe UI" pitchFamily="34" charset="-120"/>
              </a:rPr>
              <a:t>Core loop: </a:t>
            </a:r>
            <a:pPr indent="0" marL="0">
              <a:spcAft>
                <a:spcPts val="600"/>
              </a:spcAft>
              <a:buNone/>
            </a:pPr>
            <a:r>
              <a:rPr lang="en-US" sz="1500" dirty="0">
                <a:solidFill>
                  <a:srgbClr val="1B1F2A"/>
                </a:solidFill>
                <a:latin typeface="Segoe UI" pitchFamily="34" charset="0"/>
                <a:ea typeface="Segoe UI" pitchFamily="34" charset="-122"/>
                <a:cs typeface="Segoe UI" pitchFamily="34" charset="-120"/>
              </a:rPr>
              <a:t>find the lowest lamp → run to it → refuel → watch for ships → repeat</a:t>
            </a:r>
            <a:endParaRPr lang="en-US" sz="1500" dirty="0"/>
          </a:p>
          <a:p>
            <a:pPr indent="0" marL="0">
              <a:spcAft>
                <a:spcPts val="600"/>
              </a:spcAft>
              <a:buNone/>
            </a:pPr>
            <a:r>
              <a:rPr lang="en-US" sz="1500" b="1" dirty="0">
                <a:solidFill>
                  <a:srgbClr val="1B1F2A"/>
                </a:solidFill>
                <a:latin typeface="Segoe UI" pitchFamily="34" charset="0"/>
                <a:ea typeface="Segoe UI" pitchFamily="34" charset="-122"/>
                <a:cs typeface="Segoe UI" pitchFamily="34" charset="-120"/>
              </a:rPr>
              <a:t>Controls: </a:t>
            </a:r>
            <a:pPr indent="0" marL="0">
              <a:spcAft>
                <a:spcPts val="600"/>
              </a:spcAft>
              <a:buNone/>
            </a:pPr>
            <a:r>
              <a:rPr lang="en-US" sz="1500" dirty="0">
                <a:solidFill>
                  <a:srgbClr val="1B1F2A"/>
                </a:solidFill>
                <a:latin typeface="Segoe UI" pitchFamily="34" charset="0"/>
                <a:ea typeface="Segoe UI" pitchFamily="34" charset="-122"/>
                <a:cs typeface="Segoe UI" pitchFamily="34" charset="-120"/>
              </a:rPr>
              <a:t>WASD move, E refuel, Esc pause</a:t>
            </a:r>
            <a:endParaRPr lang="en-US" sz="1500" dirty="0"/>
          </a:p>
          <a:p>
            <a:pPr indent="0" marL="0">
              <a:spcAft>
                <a:spcPts val="600"/>
              </a:spcAft>
              <a:buNone/>
            </a:pPr>
            <a:r>
              <a:rPr lang="en-US" sz="1500" b="1" dirty="0">
                <a:solidFill>
                  <a:srgbClr val="1B1F2A"/>
                </a:solidFill>
                <a:latin typeface="Segoe UI" pitchFamily="34" charset="0"/>
                <a:ea typeface="Segoe UI" pitchFamily="34" charset="-122"/>
                <a:cs typeface="Segoe UI" pitchFamily="34" charset="-120"/>
              </a:rPr>
              <a:t>Lose: </a:t>
            </a:r>
            <a:pPr indent="0" marL="0">
              <a:spcAft>
                <a:spcPts val="600"/>
              </a:spcAft>
              <a:buNone/>
            </a:pPr>
            <a:r>
              <a:rPr lang="en-US" sz="1500" dirty="0">
                <a:solidFill>
                  <a:srgbClr val="1B1F2A"/>
                </a:solidFill>
                <a:latin typeface="Segoe UI" pitchFamily="34" charset="0"/>
                <a:ea typeface="Segoe UI" pitchFamily="34" charset="-122"/>
                <a:cs typeface="Segoe UI" pitchFamily="34" charset="-120"/>
              </a:rPr>
              <a:t>3 wrecks.  </a:t>
            </a:r>
            <a:pPr indent="0" marL="0">
              <a:spcAft>
                <a:spcPts val="600"/>
              </a:spcAft>
              <a:buNone/>
            </a:pPr>
            <a:r>
              <a:rPr lang="en-US" sz="1500" b="1" dirty="0">
                <a:solidFill>
                  <a:srgbClr val="1B1F2A"/>
                </a:solidFill>
                <a:latin typeface="Segoe UI" pitchFamily="34" charset="0"/>
                <a:ea typeface="Segoe UI" pitchFamily="34" charset="-122"/>
                <a:cs typeface="Segoe UI" pitchFamily="34" charset="-120"/>
              </a:rPr>
              <a:t>Win: </a:t>
            </a:r>
            <a:pPr indent="0" marL="0">
              <a:spcAft>
                <a:spcPts val="600"/>
              </a:spcAft>
              <a:buNone/>
            </a:pPr>
            <a:r>
              <a:rPr lang="en-US" sz="1500" dirty="0">
                <a:solidFill>
                  <a:srgbClr val="1B1F2A"/>
                </a:solidFill>
                <a:latin typeface="Segoe UI" pitchFamily="34" charset="0"/>
                <a:ea typeface="Segoe UI" pitchFamily="34" charset="-122"/>
                <a:cs typeface="Segoe UI" pitchFamily="34" charset="-120"/>
              </a:rPr>
              <a:t>survive until dawn</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09360" y="1463040"/>
          <a:ext cx="5303520" cy="914400"/>
        </p:xfrm>
        <a:graphic>
          <a:graphicData uri="http://schemas.openxmlformats.org/drawingml/2006/table">
            <a:tbl>
              <a:tblPr/>
              <a:tblGrid>
                <a:gridCol w="1417320"/>
                <a:gridCol w="3886200"/>
              </a:tblGrid>
              <a:tr h="0">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Scope tier</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What's in it</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r>
              <a:tr h="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Must have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Movement, draining lamps, refueling, ships that wreck, lives and dawn timer, HUD, menus, Windows build</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Should have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Oil barrel pickups, storms that ramp up difficulty, real pixel art, sound effects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Nice to have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Music and volume settings, sprint ability, trailer</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4480560"/>
            <a:ext cx="11064240" cy="1051560"/>
          </a:xfrm>
          <a:prstGeom prst="rect">
            <a:avLst/>
          </a:prstGeom>
          <a:solidFill>
            <a:srgbClr val="FFF4DF"/>
          </a:solidFill>
          <a:ln w="12700">
            <a:solidFill>
              <a:srgbClr val="F2A541"/>
            </a:solidFill>
            <a:prstDash val="solid"/>
          </a:ln>
        </p:spPr>
      </p:sp>
      <p:sp>
        <p:nvSpPr>
          <p:cNvPr id="12" name="Shape 8"/>
          <p:cNvSpPr/>
          <p:nvPr/>
        </p:nvSpPr>
        <p:spPr>
          <a:xfrm>
            <a:off x="548640" y="4480560"/>
            <a:ext cx="91440" cy="1051560"/>
          </a:xfrm>
          <a:prstGeom prst="rect">
            <a:avLst/>
          </a:prstGeom>
          <a:solidFill>
            <a:srgbClr val="F2A541"/>
          </a:solidFill>
          <a:ln w="12700">
            <a:solidFill>
              <a:srgbClr val="F2A541"/>
            </a:solidFill>
            <a:prstDash val="solid"/>
          </a:ln>
        </p:spPr>
      </p:sp>
      <p:sp>
        <p:nvSpPr>
          <p:cNvPr id="13" name="Text 9"/>
          <p:cNvSpPr/>
          <p:nvPr/>
        </p:nvSpPr>
        <p:spPr>
          <a:xfrm>
            <a:off x="777240" y="4572000"/>
            <a:ext cx="10698480" cy="86868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Rule of thumb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Every Must-have feature in the GDD becomes at least one issue. When time runs short, cut Nice to have first, then Should have. The Must-have tier by itself should still be a complete, playable game.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1</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Create the repository</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17320"/>
            <a:ext cx="6583680" cy="457200"/>
          </a:xfrm>
          <a:prstGeom prst="roundRect">
            <a:avLst>
              <a:gd name="adj" fmla="val 16000"/>
            </a:avLst>
          </a:prstGeom>
          <a:solidFill>
            <a:srgbClr val="22365A"/>
          </a:solidFill>
          <a:ln w="12700">
            <a:solidFill>
              <a:srgbClr val="22365A"/>
            </a:solidFill>
            <a:prstDash val="solid"/>
          </a:ln>
        </p:spPr>
      </p:sp>
      <p:sp>
        <p:nvSpPr>
          <p:cNvPr id="9" name="Text 6"/>
          <p:cNvSpPr/>
          <p:nvPr/>
        </p:nvSpPr>
        <p:spPr>
          <a:xfrm>
            <a:off x="685800" y="1417320"/>
            <a:ext cx="6309360" cy="4572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Click path:  </a:t>
            </a:r>
            <a:pPr indent="0" marL="0">
              <a:buNone/>
            </a:pPr>
            <a:r>
              <a:rPr lang="en-US" sz="1400" dirty="0">
                <a:solidFill>
                  <a:srgbClr val="FFFFFF"/>
                </a:solidFill>
                <a:latin typeface="Consolas" pitchFamily="34" charset="0"/>
                <a:ea typeface="Consolas" pitchFamily="34" charset="-122"/>
                <a:cs typeface="Consolas" pitchFamily="34" charset="-120"/>
              </a:rPr>
              <a:t>github.com  ›  +  ›  New repository</a:t>
            </a:r>
            <a:endParaRPr lang="en-US" sz="1400" dirty="0"/>
          </a:p>
        </p:txBody>
      </p:sp>
      <p:sp>
        <p:nvSpPr>
          <p:cNvPr id="10" name="Shape 7"/>
          <p:cNvSpPr/>
          <p:nvPr/>
        </p:nvSpPr>
        <p:spPr>
          <a:xfrm>
            <a:off x="548640" y="2185416"/>
            <a:ext cx="384048" cy="384048"/>
          </a:xfrm>
          <a:prstGeom prst="ellipse">
            <a:avLst/>
          </a:prstGeom>
          <a:solidFill>
            <a:srgbClr val="F2A541"/>
          </a:solidFill>
          <a:ln w="12700">
            <a:solidFill>
              <a:srgbClr val="F2A541"/>
            </a:solidFill>
            <a:prstDash val="solid"/>
          </a:ln>
        </p:spPr>
      </p:sp>
      <p:sp>
        <p:nvSpPr>
          <p:cNvPr id="11" name="Text 8"/>
          <p:cNvSpPr/>
          <p:nvPr/>
        </p:nvSpPr>
        <p:spPr>
          <a:xfrm>
            <a:off x="548640" y="218541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1</a:t>
            </a:r>
            <a:endParaRPr lang="en-US" sz="1400" dirty="0"/>
          </a:p>
        </p:txBody>
      </p:sp>
      <p:sp>
        <p:nvSpPr>
          <p:cNvPr id="12" name="Text 9"/>
          <p:cNvSpPr/>
          <p:nvPr/>
        </p:nvSpPr>
        <p:spPr>
          <a:xfrm>
            <a:off x="1097280" y="2148840"/>
            <a:ext cx="6035040" cy="576072"/>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Name it after your game, for example lantern-keeper</a:t>
            </a:r>
            <a:endParaRPr lang="en-US" sz="1600" dirty="0"/>
          </a:p>
        </p:txBody>
      </p:sp>
      <p:sp>
        <p:nvSpPr>
          <p:cNvPr id="13" name="Shape 10"/>
          <p:cNvSpPr/>
          <p:nvPr/>
        </p:nvSpPr>
        <p:spPr>
          <a:xfrm>
            <a:off x="548640" y="2807208"/>
            <a:ext cx="384048" cy="384048"/>
          </a:xfrm>
          <a:prstGeom prst="ellipse">
            <a:avLst/>
          </a:prstGeom>
          <a:solidFill>
            <a:srgbClr val="F2A541"/>
          </a:solidFill>
          <a:ln w="12700">
            <a:solidFill>
              <a:srgbClr val="F2A541"/>
            </a:solidFill>
            <a:prstDash val="solid"/>
          </a:ln>
        </p:spPr>
      </p:sp>
      <p:sp>
        <p:nvSpPr>
          <p:cNvPr id="14" name="Text 11"/>
          <p:cNvSpPr/>
          <p:nvPr/>
        </p:nvSpPr>
        <p:spPr>
          <a:xfrm>
            <a:off x="548640" y="2807208"/>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2</a:t>
            </a:r>
            <a:endParaRPr lang="en-US" sz="1400" dirty="0"/>
          </a:p>
        </p:txBody>
      </p:sp>
      <p:sp>
        <p:nvSpPr>
          <p:cNvPr id="15" name="Text 12"/>
          <p:cNvSpPr/>
          <p:nvPr/>
        </p:nvSpPr>
        <p:spPr>
          <a:xfrm>
            <a:off x="1097280" y="2770632"/>
            <a:ext cx="6035040" cy="576072"/>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Choose Public or Private (Private: invite your instructor)</a:t>
            </a:r>
            <a:endParaRPr lang="en-US" sz="1600" dirty="0"/>
          </a:p>
        </p:txBody>
      </p:sp>
      <p:sp>
        <p:nvSpPr>
          <p:cNvPr id="16" name="Shape 13"/>
          <p:cNvSpPr/>
          <p:nvPr/>
        </p:nvSpPr>
        <p:spPr>
          <a:xfrm>
            <a:off x="548640" y="3429000"/>
            <a:ext cx="384048" cy="384048"/>
          </a:xfrm>
          <a:prstGeom prst="ellipse">
            <a:avLst/>
          </a:prstGeom>
          <a:solidFill>
            <a:srgbClr val="F2A541"/>
          </a:solidFill>
          <a:ln w="12700">
            <a:solidFill>
              <a:srgbClr val="F2A541"/>
            </a:solidFill>
            <a:prstDash val="solid"/>
          </a:ln>
        </p:spPr>
      </p:sp>
      <p:sp>
        <p:nvSpPr>
          <p:cNvPr id="17" name="Text 14"/>
          <p:cNvSpPr/>
          <p:nvPr/>
        </p:nvSpPr>
        <p:spPr>
          <a:xfrm>
            <a:off x="548640" y="3429000"/>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3</a:t>
            </a:r>
            <a:endParaRPr lang="en-US" sz="1400" dirty="0"/>
          </a:p>
        </p:txBody>
      </p:sp>
      <p:sp>
        <p:nvSpPr>
          <p:cNvPr id="18" name="Text 15"/>
          <p:cNvSpPr/>
          <p:nvPr/>
        </p:nvSpPr>
        <p:spPr>
          <a:xfrm>
            <a:off x="1097280" y="3392424"/>
            <a:ext cx="6035040" cy="576072"/>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Check Add a README file</a:t>
            </a:r>
            <a:endParaRPr lang="en-US" sz="1600" dirty="0"/>
          </a:p>
        </p:txBody>
      </p:sp>
      <p:sp>
        <p:nvSpPr>
          <p:cNvPr id="19" name="Shape 16"/>
          <p:cNvSpPr/>
          <p:nvPr/>
        </p:nvSpPr>
        <p:spPr>
          <a:xfrm>
            <a:off x="548640" y="4050792"/>
            <a:ext cx="384048" cy="384048"/>
          </a:xfrm>
          <a:prstGeom prst="ellipse">
            <a:avLst/>
          </a:prstGeom>
          <a:solidFill>
            <a:srgbClr val="F2A541"/>
          </a:solidFill>
          <a:ln w="12700">
            <a:solidFill>
              <a:srgbClr val="F2A541"/>
            </a:solidFill>
            <a:prstDash val="solid"/>
          </a:ln>
        </p:spPr>
      </p:sp>
      <p:sp>
        <p:nvSpPr>
          <p:cNvPr id="20" name="Text 17"/>
          <p:cNvSpPr/>
          <p:nvPr/>
        </p:nvSpPr>
        <p:spPr>
          <a:xfrm>
            <a:off x="548640" y="4050792"/>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4</a:t>
            </a:r>
            <a:endParaRPr lang="en-US" sz="1400" dirty="0"/>
          </a:p>
        </p:txBody>
      </p:sp>
      <p:sp>
        <p:nvSpPr>
          <p:cNvPr id="21" name="Text 18"/>
          <p:cNvSpPr/>
          <p:nvPr/>
        </p:nvSpPr>
        <p:spPr>
          <a:xfrm>
            <a:off x="1097280" y="4014216"/>
            <a:ext cx="6035040" cy="576072"/>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Set Add .gitignore to the Unity template</a:t>
            </a:r>
            <a:endParaRPr lang="en-US" sz="1600" dirty="0"/>
          </a:p>
        </p:txBody>
      </p:sp>
      <p:sp>
        <p:nvSpPr>
          <p:cNvPr id="22" name="Shape 19"/>
          <p:cNvSpPr/>
          <p:nvPr/>
        </p:nvSpPr>
        <p:spPr>
          <a:xfrm>
            <a:off x="548640" y="4672584"/>
            <a:ext cx="384048" cy="384048"/>
          </a:xfrm>
          <a:prstGeom prst="ellipse">
            <a:avLst/>
          </a:prstGeom>
          <a:solidFill>
            <a:srgbClr val="F2A541"/>
          </a:solidFill>
          <a:ln w="12700">
            <a:solidFill>
              <a:srgbClr val="F2A541"/>
            </a:solidFill>
            <a:prstDash val="solid"/>
          </a:ln>
        </p:spPr>
      </p:sp>
      <p:sp>
        <p:nvSpPr>
          <p:cNvPr id="23" name="Text 20"/>
          <p:cNvSpPr/>
          <p:nvPr/>
        </p:nvSpPr>
        <p:spPr>
          <a:xfrm>
            <a:off x="548640" y="4672584"/>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5</a:t>
            </a:r>
            <a:endParaRPr lang="en-US" sz="1400" dirty="0"/>
          </a:p>
        </p:txBody>
      </p:sp>
      <p:sp>
        <p:nvSpPr>
          <p:cNvPr id="24" name="Text 21"/>
          <p:cNvSpPr/>
          <p:nvPr/>
        </p:nvSpPr>
        <p:spPr>
          <a:xfrm>
            <a:off x="1097280" y="4636008"/>
            <a:ext cx="6035040" cy="576072"/>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Click Create repository</a:t>
            </a:r>
            <a:endParaRPr lang="en-US" sz="1600" dirty="0"/>
          </a:p>
        </p:txBody>
      </p:sp>
      <p:sp>
        <p:nvSpPr>
          <p:cNvPr id="25" name="Shape 22"/>
          <p:cNvSpPr/>
          <p:nvPr/>
        </p:nvSpPr>
        <p:spPr>
          <a:xfrm>
            <a:off x="548640" y="5294376"/>
            <a:ext cx="384048" cy="384048"/>
          </a:xfrm>
          <a:prstGeom prst="ellipse">
            <a:avLst/>
          </a:prstGeom>
          <a:solidFill>
            <a:srgbClr val="F2A541"/>
          </a:solidFill>
          <a:ln w="12700">
            <a:solidFill>
              <a:srgbClr val="F2A541"/>
            </a:solidFill>
            <a:prstDash val="solid"/>
          </a:ln>
        </p:spPr>
      </p:sp>
      <p:sp>
        <p:nvSpPr>
          <p:cNvPr id="26" name="Text 23"/>
          <p:cNvSpPr/>
          <p:nvPr/>
        </p:nvSpPr>
        <p:spPr>
          <a:xfrm>
            <a:off x="548640" y="529437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6</a:t>
            </a:r>
            <a:endParaRPr lang="en-US" sz="1400" dirty="0"/>
          </a:p>
        </p:txBody>
      </p:sp>
      <p:sp>
        <p:nvSpPr>
          <p:cNvPr id="27" name="Text 24"/>
          <p:cNvSpPr/>
          <p:nvPr/>
        </p:nvSpPr>
        <p:spPr>
          <a:xfrm>
            <a:off x="1097280" y="5257800"/>
            <a:ext cx="6035040" cy="576072"/>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Edit the README: paste in your one-paragraph GDD summary, scope tiers, and milestones</a:t>
            </a:r>
            <a:endParaRPr lang="en-US" sz="1600" dirty="0"/>
          </a:p>
        </p:txBody>
      </p:sp>
      <p:sp>
        <p:nvSpPr>
          <p:cNvPr id="28" name="Shape 25"/>
          <p:cNvSpPr/>
          <p:nvPr/>
        </p:nvSpPr>
        <p:spPr>
          <a:xfrm>
            <a:off x="7589520" y="1417320"/>
            <a:ext cx="4023360" cy="1691640"/>
          </a:xfrm>
          <a:prstGeom prst="rect">
            <a:avLst/>
          </a:prstGeom>
          <a:solidFill>
            <a:srgbClr val="FFF4DF"/>
          </a:solidFill>
          <a:ln w="12700">
            <a:solidFill>
              <a:srgbClr val="F2A541"/>
            </a:solidFill>
            <a:prstDash val="solid"/>
          </a:ln>
        </p:spPr>
      </p:sp>
      <p:sp>
        <p:nvSpPr>
          <p:cNvPr id="29" name="Shape 26"/>
          <p:cNvSpPr/>
          <p:nvPr/>
        </p:nvSpPr>
        <p:spPr>
          <a:xfrm>
            <a:off x="7589520" y="1417320"/>
            <a:ext cx="91440" cy="1691640"/>
          </a:xfrm>
          <a:prstGeom prst="rect">
            <a:avLst/>
          </a:prstGeom>
          <a:solidFill>
            <a:srgbClr val="F2A541"/>
          </a:solidFill>
          <a:ln w="12700">
            <a:solidFill>
              <a:srgbClr val="F2A541"/>
            </a:solidFill>
            <a:prstDash val="solid"/>
          </a:ln>
        </p:spPr>
      </p:sp>
      <p:sp>
        <p:nvSpPr>
          <p:cNvPr id="30" name="Text 27"/>
          <p:cNvSpPr/>
          <p:nvPr/>
        </p:nvSpPr>
        <p:spPr>
          <a:xfrm>
            <a:off x="7818120" y="1508760"/>
            <a:ext cx="3657600" cy="15087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Why the Unity .gitignore?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Unity generates Library/, Temp/, and Logs/ folders that are huge and rebuilt automatically. The template keeps them out of Git so your repo stays small and clones fast.</a:t>
            </a:r>
            <a:endParaRPr lang="en-US" sz="1400" dirty="0"/>
          </a:p>
        </p:txBody>
      </p:sp>
      <p:sp>
        <p:nvSpPr>
          <p:cNvPr id="31" name="Shape 28"/>
          <p:cNvSpPr/>
          <p:nvPr/>
        </p:nvSpPr>
        <p:spPr>
          <a:xfrm>
            <a:off x="7589520" y="3337560"/>
            <a:ext cx="4023360" cy="1188720"/>
          </a:xfrm>
          <a:prstGeom prst="rect">
            <a:avLst/>
          </a:prstGeom>
          <a:solidFill>
            <a:srgbClr val="FFF4DF"/>
          </a:solidFill>
          <a:ln w="12700">
            <a:solidFill>
              <a:srgbClr val="F2A541"/>
            </a:solidFill>
            <a:prstDash val="solid"/>
          </a:ln>
        </p:spPr>
      </p:sp>
      <p:sp>
        <p:nvSpPr>
          <p:cNvPr id="32" name="Shape 29"/>
          <p:cNvSpPr/>
          <p:nvPr/>
        </p:nvSpPr>
        <p:spPr>
          <a:xfrm>
            <a:off x="7589520" y="3337560"/>
            <a:ext cx="91440" cy="1188720"/>
          </a:xfrm>
          <a:prstGeom prst="rect">
            <a:avLst/>
          </a:prstGeom>
          <a:solidFill>
            <a:srgbClr val="F2A541"/>
          </a:solidFill>
          <a:ln w="12700">
            <a:solidFill>
              <a:srgbClr val="F2A541"/>
            </a:solidFill>
            <a:prstDash val="solid"/>
          </a:ln>
        </p:spPr>
      </p:sp>
      <p:sp>
        <p:nvSpPr>
          <p:cNvPr id="33" name="Text 30"/>
          <p:cNvSpPr/>
          <p:nvPr/>
        </p:nvSpPr>
        <p:spPr>
          <a:xfrm>
            <a:off x="7818120" y="3429000"/>
            <a:ext cx="3657600" cy="100584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Teams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One person creates the repo, then goes to Settings › Collaborators and invites everyone else.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2</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Create labels for each area of work</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17320"/>
            <a:ext cx="6583680" cy="457200"/>
          </a:xfrm>
          <a:prstGeom prst="roundRect">
            <a:avLst>
              <a:gd name="adj" fmla="val 16000"/>
            </a:avLst>
          </a:prstGeom>
          <a:solidFill>
            <a:srgbClr val="22365A"/>
          </a:solidFill>
          <a:ln w="12700">
            <a:solidFill>
              <a:srgbClr val="22365A"/>
            </a:solidFill>
            <a:prstDash val="solid"/>
          </a:ln>
        </p:spPr>
      </p:sp>
      <p:sp>
        <p:nvSpPr>
          <p:cNvPr id="9" name="Text 6"/>
          <p:cNvSpPr/>
          <p:nvPr/>
        </p:nvSpPr>
        <p:spPr>
          <a:xfrm>
            <a:off x="685800" y="1417320"/>
            <a:ext cx="6309360" cy="4572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Click path:  </a:t>
            </a:r>
            <a:pPr indent="0" marL="0">
              <a:buNone/>
            </a:pPr>
            <a:r>
              <a:rPr lang="en-US" sz="1400" dirty="0">
                <a:solidFill>
                  <a:srgbClr val="FFFFFF"/>
                </a:solidFill>
                <a:latin typeface="Consolas" pitchFamily="34" charset="0"/>
                <a:ea typeface="Consolas" pitchFamily="34" charset="-122"/>
                <a:cs typeface="Consolas" pitchFamily="34" charset="-120"/>
              </a:rPr>
              <a:t>Repo  ›  Issues  ›  Labels  ›  New label</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766560" cy="914400"/>
        </p:xfrm>
        <a:graphic>
          <a:graphicData uri="http://schemas.openxmlformats.org/drawingml/2006/table">
            <a:tbl>
              <a:tblPr/>
              <a:tblGrid>
                <a:gridCol w="1463040"/>
                <a:gridCol w="3931920"/>
                <a:gridCol w="1371600"/>
              </a:tblGrid>
              <a:tr h="438912">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Label</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Description</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Color</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r>
              <a:tr h="438912">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gameplay</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D76DB"/>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Mechanics and game logic</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5B6475"/>
                          </a:solidFill>
                          <a:latin typeface="Consolas" pitchFamily="34" charset="0"/>
                          <a:ea typeface="Consolas" pitchFamily="34" charset="-122"/>
                          <a:cs typeface="Consolas" pitchFamily="34" charset="-120"/>
                        </a:rPr>
                        <a:t>#1D76DB</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ui</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5319E7"/>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Menus, HUD, screens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5B6475"/>
                          </a:solidFill>
                          <a:latin typeface="Consolas" pitchFamily="34" charset="0"/>
                          <a:ea typeface="Consolas" pitchFamily="34" charset="-122"/>
                          <a:cs typeface="Consolas" pitchFamily="34" charset="-120"/>
                        </a:rPr>
                        <a:t>#5319E7</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1F2A"/>
                          </a:solidFill>
                          <a:latin typeface="Consolas" pitchFamily="34" charset="0"/>
                          <a:ea typeface="Consolas" pitchFamily="34" charset="-122"/>
                          <a:cs typeface="Consolas" pitchFamily="34" charset="-120"/>
                        </a:rPr>
                        <a:t>art</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E99695"/>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Sprites, tiles, animation</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5B6475"/>
                          </a:solidFill>
                          <a:latin typeface="Consolas" pitchFamily="34" charset="0"/>
                          <a:ea typeface="Consolas" pitchFamily="34" charset="-122"/>
                          <a:cs typeface="Consolas" pitchFamily="34" charset="-120"/>
                        </a:rPr>
                        <a:t>#E99695</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1F2A"/>
                          </a:solidFill>
                          <a:latin typeface="Consolas" pitchFamily="34" charset="0"/>
                          <a:ea typeface="Consolas" pitchFamily="34" charset="-122"/>
                          <a:cs typeface="Consolas" pitchFamily="34" charset="-120"/>
                        </a:rPr>
                        <a:t>audio</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9D0C4"/>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Music and sound effects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5B6475"/>
                          </a:solidFill>
                          <a:latin typeface="Consolas" pitchFamily="34" charset="0"/>
                          <a:ea typeface="Consolas" pitchFamily="34" charset="-122"/>
                          <a:cs typeface="Consolas" pitchFamily="34" charset="-120"/>
                        </a:rPr>
                        <a:t>#F9D0C4</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tech</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0E8A16"/>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Project setup, builds, tooling</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5B6475"/>
                          </a:solidFill>
                          <a:latin typeface="Consolas" pitchFamily="34" charset="0"/>
                          <a:ea typeface="Consolas" pitchFamily="34" charset="-122"/>
                          <a:cs typeface="Consolas" pitchFamily="34" charset="-120"/>
                        </a:rPr>
                        <a:t>#0E8A16</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1F2A"/>
                          </a:solidFill>
                          <a:latin typeface="Consolas" pitchFamily="34" charset="0"/>
                          <a:ea typeface="Consolas" pitchFamily="34" charset="-122"/>
                          <a:cs typeface="Consolas" pitchFamily="34" charset="-120"/>
                        </a:rPr>
                        <a:t>testing</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BCA04"/>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Playtesting and bug fixing</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5B6475"/>
                          </a:solidFill>
                          <a:latin typeface="Consolas" pitchFamily="34" charset="0"/>
                          <a:ea typeface="Consolas" pitchFamily="34" charset="-122"/>
                          <a:cs typeface="Consolas" pitchFamily="34" charset="-120"/>
                        </a:rPr>
                        <a:t>#FBCA04</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1F2A"/>
                          </a:solidFill>
                          <a:latin typeface="Consolas" pitchFamily="34" charset="0"/>
                          <a:ea typeface="Consolas" pitchFamily="34" charset="-122"/>
                          <a:cs typeface="Consolas" pitchFamily="34" charset="-120"/>
                        </a:rPr>
                        <a:t>docs</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C5DEF5"/>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GDD, plan, presentation</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5B6475"/>
                          </a:solidFill>
                          <a:latin typeface="Consolas" pitchFamily="34" charset="0"/>
                          <a:ea typeface="Consolas" pitchFamily="34" charset="-122"/>
                          <a:cs typeface="Consolas" pitchFamily="34" charset="-120"/>
                        </a:rPr>
                        <a:t>#C5DEF5</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risk</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B60205"/>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Something that could derail the schedule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5B6475"/>
                          </a:solidFill>
                          <a:latin typeface="Consolas" pitchFamily="34" charset="0"/>
                          <a:ea typeface="Consolas" pitchFamily="34" charset="-122"/>
                          <a:cs typeface="Consolas" pitchFamily="34" charset="-120"/>
                        </a:rPr>
                        <a:t>#B60205</a:t>
                      </a:r>
                      <a:endParaRPr lang="en-US" sz="1300" dirty="0">
                        <a:latin typeface="Consolas" charset="0"/>
                        <a:ea typeface="Consolas" charset="0"/>
                        <a:cs typeface="Consolas"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bl>
          </a:graphicData>
        </a:graphic>
      </p:graphicFrame>
      <p:sp>
        <p:nvSpPr>
          <p:cNvPr id="11" name="Shape 7"/>
          <p:cNvSpPr/>
          <p:nvPr/>
        </p:nvSpPr>
        <p:spPr>
          <a:xfrm>
            <a:off x="7772400" y="2103120"/>
            <a:ext cx="3840480" cy="1463040"/>
          </a:xfrm>
          <a:prstGeom prst="rect">
            <a:avLst/>
          </a:prstGeom>
          <a:solidFill>
            <a:srgbClr val="FFF4DF"/>
          </a:solidFill>
          <a:ln w="12700">
            <a:solidFill>
              <a:srgbClr val="F2A541"/>
            </a:solidFill>
            <a:prstDash val="solid"/>
          </a:ln>
        </p:spPr>
      </p:sp>
      <p:sp>
        <p:nvSpPr>
          <p:cNvPr id="12" name="Shape 8"/>
          <p:cNvSpPr/>
          <p:nvPr/>
        </p:nvSpPr>
        <p:spPr>
          <a:xfrm>
            <a:off x="7772400" y="2103120"/>
            <a:ext cx="91440" cy="1463040"/>
          </a:xfrm>
          <a:prstGeom prst="rect">
            <a:avLst/>
          </a:prstGeom>
          <a:solidFill>
            <a:srgbClr val="F2A541"/>
          </a:solidFill>
          <a:ln w="12700">
            <a:solidFill>
              <a:srgbClr val="F2A541"/>
            </a:solidFill>
            <a:prstDash val="solid"/>
          </a:ln>
        </p:spPr>
      </p:sp>
      <p:sp>
        <p:nvSpPr>
          <p:cNvPr id="13" name="Text 9"/>
          <p:cNvSpPr/>
          <p:nvPr/>
        </p:nvSpPr>
        <p:spPr>
          <a:xfrm>
            <a:off x="8001000" y="2194560"/>
            <a:ext cx="3474720" cy="12801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Default labels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GitHub starts every repo with labels like bug and enhancement. Keep bug, and delete any you won't use so the list stays clean.</a:t>
            </a:r>
            <a:endParaRPr lang="en-US" sz="1400" dirty="0"/>
          </a:p>
        </p:txBody>
      </p:sp>
      <p:sp>
        <p:nvSpPr>
          <p:cNvPr id="14" name="Shape 10"/>
          <p:cNvSpPr/>
          <p:nvPr/>
        </p:nvSpPr>
        <p:spPr>
          <a:xfrm>
            <a:off x="7772400" y="3794760"/>
            <a:ext cx="3840480" cy="1005840"/>
          </a:xfrm>
          <a:prstGeom prst="rect">
            <a:avLst/>
          </a:prstGeom>
          <a:solidFill>
            <a:srgbClr val="FFF4DF"/>
          </a:solidFill>
          <a:ln w="12700">
            <a:solidFill>
              <a:srgbClr val="F2A541"/>
            </a:solidFill>
            <a:prstDash val="solid"/>
          </a:ln>
        </p:spPr>
      </p:sp>
      <p:sp>
        <p:nvSpPr>
          <p:cNvPr id="15" name="Shape 11"/>
          <p:cNvSpPr/>
          <p:nvPr/>
        </p:nvSpPr>
        <p:spPr>
          <a:xfrm>
            <a:off x="7772400" y="3794760"/>
            <a:ext cx="91440" cy="1005840"/>
          </a:xfrm>
          <a:prstGeom prst="rect">
            <a:avLst/>
          </a:prstGeom>
          <a:solidFill>
            <a:srgbClr val="F2A541"/>
          </a:solidFill>
          <a:ln w="12700">
            <a:solidFill>
              <a:srgbClr val="F2A541"/>
            </a:solidFill>
            <a:prstDash val="solid"/>
          </a:ln>
        </p:spPr>
      </p:sp>
      <p:sp>
        <p:nvSpPr>
          <p:cNvPr id="16" name="Text 12"/>
          <p:cNvSpPr/>
          <p:nvPr/>
        </p:nvSpPr>
        <p:spPr>
          <a:xfrm>
            <a:off x="8001000" y="3886200"/>
            <a:ext cx="3474720" cy="8229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One label per issue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If a task needs two labels, it's probably two tasks.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3</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Create dated milestones</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17320"/>
            <a:ext cx="6583680" cy="457200"/>
          </a:xfrm>
          <a:prstGeom prst="roundRect">
            <a:avLst>
              <a:gd name="adj" fmla="val 16000"/>
            </a:avLst>
          </a:prstGeom>
          <a:solidFill>
            <a:srgbClr val="22365A"/>
          </a:solidFill>
          <a:ln w="12700">
            <a:solidFill>
              <a:srgbClr val="22365A"/>
            </a:solidFill>
            <a:prstDash val="solid"/>
          </a:ln>
        </p:spPr>
      </p:sp>
      <p:sp>
        <p:nvSpPr>
          <p:cNvPr id="9" name="Text 6"/>
          <p:cNvSpPr/>
          <p:nvPr/>
        </p:nvSpPr>
        <p:spPr>
          <a:xfrm>
            <a:off x="685800" y="1417320"/>
            <a:ext cx="6309360" cy="4572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Click path:  </a:t>
            </a:r>
            <a:pPr indent="0" marL="0">
              <a:buNone/>
            </a:pPr>
            <a:r>
              <a:rPr lang="en-US" sz="1400" dirty="0">
                <a:solidFill>
                  <a:srgbClr val="FFFFFF"/>
                </a:solidFill>
                <a:latin typeface="Consolas" pitchFamily="34" charset="0"/>
                <a:ea typeface="Consolas" pitchFamily="34" charset="-122"/>
                <a:cs typeface="Consolas" pitchFamily="34" charset="-120"/>
              </a:rPr>
              <a:t>Repo  ›  Issues  ›  Milestones  ›  New milestone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949440" cy="914400"/>
        </p:xfrm>
        <a:graphic>
          <a:graphicData uri="http://schemas.openxmlformats.org/drawingml/2006/table">
            <a:tbl>
              <a:tblPr/>
              <a:tblGrid>
                <a:gridCol w="1737360"/>
                <a:gridCol w="1371600"/>
                <a:gridCol w="3840480"/>
              </a:tblGrid>
              <a:tr h="502920">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Milestone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Due date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Done when…</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r>
              <a:tr h="50292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Plan Approved</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Tue Oct 27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GDD and board submitted and approved</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Prototype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Tue Nov 10</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Core loop is playable with grey boxes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Alpha</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Tue Nov 24</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Every Must-have feature is in</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Beta</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Tue Dec 1</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Content complete, playtested, bug fixing</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Final Build</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Tue Dec 8</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Windows build, presentation, credits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bl>
          </a:graphicData>
        </a:graphic>
      </p:graphicFrame>
      <p:sp>
        <p:nvSpPr>
          <p:cNvPr id="11" name="Text 7"/>
          <p:cNvSpPr/>
          <p:nvPr/>
        </p:nvSpPr>
        <p:spPr>
          <a:xfrm>
            <a:off x="548640" y="5349240"/>
            <a:ext cx="6949440" cy="548640"/>
          </a:xfrm>
          <a:prstGeom prst="rect">
            <a:avLst/>
          </a:prstGeom>
          <a:noFill/>
          <a:ln/>
        </p:spPr>
        <p:txBody>
          <a:bodyPr wrap="square" lIns="0" tIns="0" rIns="0" bIns="0" rtlCol="0" anchor="ctr"/>
          <a:lstStyle/>
          <a:p>
            <a:pPr indent="0" marL="0">
              <a:buNone/>
            </a:pPr>
            <a:r>
              <a:rPr lang="en-US" sz="1400" i="1" dirty="0">
                <a:solidFill>
                  <a:srgbClr val="5B6475"/>
                </a:solidFill>
                <a:latin typeface="Segoe UI" pitchFamily="34" charset="0"/>
                <a:ea typeface="Segoe UI" pitchFamily="34" charset="-122"/>
                <a:cs typeface="Segoe UI" pitchFamily="34" charset="-120"/>
              </a:rPr>
              <a:t>For each one, fill in Title, Due date, and Description (paste the "Done when…" text).</a:t>
            </a:r>
            <a:endParaRPr lang="en-US" sz="1400" dirty="0"/>
          </a:p>
        </p:txBody>
      </p:sp>
      <p:sp>
        <p:nvSpPr>
          <p:cNvPr id="12" name="Shape 8"/>
          <p:cNvSpPr/>
          <p:nvPr/>
        </p:nvSpPr>
        <p:spPr>
          <a:xfrm>
            <a:off x="7955280" y="2103120"/>
            <a:ext cx="3657600" cy="1463040"/>
          </a:xfrm>
          <a:prstGeom prst="rect">
            <a:avLst/>
          </a:prstGeom>
          <a:solidFill>
            <a:srgbClr val="FFF4DF"/>
          </a:solidFill>
          <a:ln w="12700">
            <a:solidFill>
              <a:srgbClr val="F2A541"/>
            </a:solidFill>
            <a:prstDash val="solid"/>
          </a:ln>
        </p:spPr>
      </p:sp>
      <p:sp>
        <p:nvSpPr>
          <p:cNvPr id="13" name="Shape 9"/>
          <p:cNvSpPr/>
          <p:nvPr/>
        </p:nvSpPr>
        <p:spPr>
          <a:xfrm>
            <a:off x="7955280" y="2103120"/>
            <a:ext cx="91440" cy="1463040"/>
          </a:xfrm>
          <a:prstGeom prst="rect">
            <a:avLst/>
          </a:prstGeom>
          <a:solidFill>
            <a:srgbClr val="F2A541"/>
          </a:solidFill>
          <a:ln w="12700">
            <a:solidFill>
              <a:srgbClr val="F2A541"/>
            </a:solidFill>
            <a:prstDash val="solid"/>
          </a:ln>
        </p:spPr>
      </p:sp>
      <p:sp>
        <p:nvSpPr>
          <p:cNvPr id="14" name="Text 10"/>
          <p:cNvSpPr/>
          <p:nvPr/>
        </p:nvSpPr>
        <p:spPr>
          <a:xfrm>
            <a:off x="8183880" y="2194560"/>
            <a:ext cx="3291840" cy="12801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Line them up with class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Use your course calendar's due dates. Then the milestones match the dates you're actually graded on.</a:t>
            </a:r>
            <a:endParaRPr lang="en-US" sz="1400" dirty="0"/>
          </a:p>
        </p:txBody>
      </p:sp>
      <p:sp>
        <p:nvSpPr>
          <p:cNvPr id="15" name="Shape 11"/>
          <p:cNvSpPr/>
          <p:nvPr/>
        </p:nvSpPr>
        <p:spPr>
          <a:xfrm>
            <a:off x="7955280" y="3794760"/>
            <a:ext cx="3657600" cy="1234440"/>
          </a:xfrm>
          <a:prstGeom prst="rect">
            <a:avLst/>
          </a:prstGeom>
          <a:solidFill>
            <a:srgbClr val="FFF4DF"/>
          </a:solidFill>
          <a:ln w="12700">
            <a:solidFill>
              <a:srgbClr val="F2A541"/>
            </a:solidFill>
            <a:prstDash val="solid"/>
          </a:ln>
        </p:spPr>
      </p:sp>
      <p:sp>
        <p:nvSpPr>
          <p:cNvPr id="16" name="Shape 12"/>
          <p:cNvSpPr/>
          <p:nvPr/>
        </p:nvSpPr>
        <p:spPr>
          <a:xfrm>
            <a:off x="7955280" y="3794760"/>
            <a:ext cx="91440" cy="1234440"/>
          </a:xfrm>
          <a:prstGeom prst="rect">
            <a:avLst/>
          </a:prstGeom>
          <a:solidFill>
            <a:srgbClr val="F2A541"/>
          </a:solidFill>
          <a:ln w="12700">
            <a:solidFill>
              <a:srgbClr val="F2A541"/>
            </a:solidFill>
            <a:prstDash val="solid"/>
          </a:ln>
        </p:spPr>
      </p:sp>
      <p:sp>
        <p:nvSpPr>
          <p:cNvPr id="17" name="Text 13"/>
          <p:cNvSpPr/>
          <p:nvPr/>
        </p:nvSpPr>
        <p:spPr>
          <a:xfrm>
            <a:off x="8183880" y="3886200"/>
            <a:ext cx="3291840" cy="10515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Free progress bar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The Milestones page shows % complete based on how many of its issues are closed.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4  ·  PLANNING ON PAPER FIRST</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Break the GDD into tasks</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Text 5"/>
          <p:cNvSpPr/>
          <p:nvPr/>
        </p:nvSpPr>
        <p:spPr>
          <a:xfrm>
            <a:off x="548640" y="1417320"/>
            <a:ext cx="5303520" cy="365760"/>
          </a:xfrm>
          <a:prstGeom prst="rect">
            <a:avLst/>
          </a:prstGeom>
          <a:noFill/>
          <a:ln/>
        </p:spPr>
        <p:txBody>
          <a:bodyPr wrap="square" lIns="0" tIns="0" rIns="0" bIns="0" rtlCol="0" anchor="ctr"/>
          <a:lstStyle/>
          <a:p>
            <a:pPr indent="0" marL="0">
              <a:buNone/>
            </a:pPr>
            <a:r>
              <a:rPr lang="en-US" sz="1800" b="1" dirty="0">
                <a:solidFill>
                  <a:srgbClr val="14213D"/>
                </a:solidFill>
                <a:latin typeface="Segoe UI" pitchFamily="34" charset="0"/>
                <a:ea typeface="Segoe UI" pitchFamily="34" charset="-122"/>
                <a:cs typeface="Segoe UI" pitchFamily="34" charset="-120"/>
              </a:rPr>
              <a:t>A good task is…</a:t>
            </a:r>
            <a:endParaRPr lang="en-US" sz="1800" dirty="0"/>
          </a:p>
        </p:txBody>
      </p:sp>
      <p:sp>
        <p:nvSpPr>
          <p:cNvPr id="9" name="Shape 6"/>
          <p:cNvSpPr/>
          <p:nvPr/>
        </p:nvSpPr>
        <p:spPr>
          <a:xfrm>
            <a:off x="548640" y="1911096"/>
            <a:ext cx="384048" cy="384048"/>
          </a:xfrm>
          <a:prstGeom prst="ellipse">
            <a:avLst/>
          </a:prstGeom>
          <a:solidFill>
            <a:srgbClr val="F2A541"/>
          </a:solidFill>
          <a:ln w="12700">
            <a:solidFill>
              <a:srgbClr val="F2A541"/>
            </a:solidFill>
            <a:prstDash val="solid"/>
          </a:ln>
        </p:spPr>
      </p:sp>
      <p:sp>
        <p:nvSpPr>
          <p:cNvPr id="10" name="Text 7"/>
          <p:cNvSpPr/>
          <p:nvPr/>
        </p:nvSpPr>
        <p:spPr>
          <a:xfrm>
            <a:off x="548640" y="191109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1</a:t>
            </a:r>
            <a:endParaRPr lang="en-US" sz="1400" dirty="0"/>
          </a:p>
        </p:txBody>
      </p:sp>
      <p:sp>
        <p:nvSpPr>
          <p:cNvPr id="11" name="Text 8"/>
          <p:cNvSpPr/>
          <p:nvPr/>
        </p:nvSpPr>
        <p:spPr>
          <a:xfrm>
            <a:off x="1097280" y="1874520"/>
            <a:ext cx="4754880" cy="52120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Small: one person, about 4 hours or less</a:t>
            </a:r>
            <a:endParaRPr lang="en-US" sz="1600" dirty="0"/>
          </a:p>
        </p:txBody>
      </p:sp>
      <p:sp>
        <p:nvSpPr>
          <p:cNvPr id="12" name="Shape 9"/>
          <p:cNvSpPr/>
          <p:nvPr/>
        </p:nvSpPr>
        <p:spPr>
          <a:xfrm>
            <a:off x="548640" y="2478024"/>
            <a:ext cx="384048" cy="384048"/>
          </a:xfrm>
          <a:prstGeom prst="ellipse">
            <a:avLst/>
          </a:prstGeom>
          <a:solidFill>
            <a:srgbClr val="F2A541"/>
          </a:solidFill>
          <a:ln w="12700">
            <a:solidFill>
              <a:srgbClr val="F2A541"/>
            </a:solidFill>
            <a:prstDash val="solid"/>
          </a:ln>
        </p:spPr>
      </p:sp>
      <p:sp>
        <p:nvSpPr>
          <p:cNvPr id="13" name="Text 10"/>
          <p:cNvSpPr/>
          <p:nvPr/>
        </p:nvSpPr>
        <p:spPr>
          <a:xfrm>
            <a:off x="548640" y="2478024"/>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2</a:t>
            </a:r>
            <a:endParaRPr lang="en-US" sz="1400" dirty="0"/>
          </a:p>
        </p:txBody>
      </p:sp>
      <p:sp>
        <p:nvSpPr>
          <p:cNvPr id="14" name="Text 11"/>
          <p:cNvSpPr/>
          <p:nvPr/>
        </p:nvSpPr>
        <p:spPr>
          <a:xfrm>
            <a:off x="1097280" y="2441448"/>
            <a:ext cx="4754880" cy="52120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Specific: you can tell when it's finished</a:t>
            </a:r>
            <a:endParaRPr lang="en-US" sz="1600" dirty="0"/>
          </a:p>
        </p:txBody>
      </p:sp>
      <p:sp>
        <p:nvSpPr>
          <p:cNvPr id="15" name="Shape 12"/>
          <p:cNvSpPr/>
          <p:nvPr/>
        </p:nvSpPr>
        <p:spPr>
          <a:xfrm>
            <a:off x="548640" y="3044952"/>
            <a:ext cx="384048" cy="384048"/>
          </a:xfrm>
          <a:prstGeom prst="ellipse">
            <a:avLst/>
          </a:prstGeom>
          <a:solidFill>
            <a:srgbClr val="F2A541"/>
          </a:solidFill>
          <a:ln w="12700">
            <a:solidFill>
              <a:srgbClr val="F2A541"/>
            </a:solidFill>
            <a:prstDash val="solid"/>
          </a:ln>
        </p:spPr>
      </p:sp>
      <p:sp>
        <p:nvSpPr>
          <p:cNvPr id="16" name="Text 13"/>
          <p:cNvSpPr/>
          <p:nvPr/>
        </p:nvSpPr>
        <p:spPr>
          <a:xfrm>
            <a:off x="548640" y="3044952"/>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3</a:t>
            </a:r>
            <a:endParaRPr lang="en-US" sz="1400" dirty="0"/>
          </a:p>
        </p:txBody>
      </p:sp>
      <p:sp>
        <p:nvSpPr>
          <p:cNvPr id="17" name="Text 14"/>
          <p:cNvSpPr/>
          <p:nvPr/>
        </p:nvSpPr>
        <p:spPr>
          <a:xfrm>
            <a:off x="1097280" y="3008376"/>
            <a:ext cx="4754880" cy="52120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Estimated: write down a guess in hours</a:t>
            </a:r>
            <a:endParaRPr lang="en-US" sz="1600" dirty="0"/>
          </a:p>
        </p:txBody>
      </p:sp>
      <p:sp>
        <p:nvSpPr>
          <p:cNvPr id="18" name="Shape 15"/>
          <p:cNvSpPr/>
          <p:nvPr/>
        </p:nvSpPr>
        <p:spPr>
          <a:xfrm>
            <a:off x="548640" y="3611880"/>
            <a:ext cx="384048" cy="384048"/>
          </a:xfrm>
          <a:prstGeom prst="ellipse">
            <a:avLst/>
          </a:prstGeom>
          <a:solidFill>
            <a:srgbClr val="F2A541"/>
          </a:solidFill>
          <a:ln w="12700">
            <a:solidFill>
              <a:srgbClr val="F2A541"/>
            </a:solidFill>
            <a:prstDash val="solid"/>
          </a:ln>
        </p:spPr>
      </p:sp>
      <p:sp>
        <p:nvSpPr>
          <p:cNvPr id="19" name="Text 16"/>
          <p:cNvSpPr/>
          <p:nvPr/>
        </p:nvSpPr>
        <p:spPr>
          <a:xfrm>
            <a:off x="548640" y="3611880"/>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4</a:t>
            </a:r>
            <a:endParaRPr lang="en-US" sz="1400" dirty="0"/>
          </a:p>
        </p:txBody>
      </p:sp>
      <p:sp>
        <p:nvSpPr>
          <p:cNvPr id="20" name="Text 17"/>
          <p:cNvSpPr/>
          <p:nvPr/>
        </p:nvSpPr>
        <p:spPr>
          <a:xfrm>
            <a:off x="1097280" y="3575304"/>
            <a:ext cx="4754880" cy="52120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Tiered: Must, Should, or Nice to have</a:t>
            </a:r>
            <a:endParaRPr lang="en-US" sz="1600" dirty="0"/>
          </a:p>
        </p:txBody>
      </p:sp>
      <p:sp>
        <p:nvSpPr>
          <p:cNvPr id="21" name="Shape 18"/>
          <p:cNvSpPr/>
          <p:nvPr/>
        </p:nvSpPr>
        <p:spPr>
          <a:xfrm>
            <a:off x="548640" y="4178808"/>
            <a:ext cx="384048" cy="384048"/>
          </a:xfrm>
          <a:prstGeom prst="ellipse">
            <a:avLst/>
          </a:prstGeom>
          <a:solidFill>
            <a:srgbClr val="F2A541"/>
          </a:solidFill>
          <a:ln w="12700">
            <a:solidFill>
              <a:srgbClr val="F2A541"/>
            </a:solidFill>
            <a:prstDash val="solid"/>
          </a:ln>
        </p:spPr>
      </p:sp>
      <p:sp>
        <p:nvSpPr>
          <p:cNvPr id="22" name="Text 19"/>
          <p:cNvSpPr/>
          <p:nvPr/>
        </p:nvSpPr>
        <p:spPr>
          <a:xfrm>
            <a:off x="548640" y="4178808"/>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5</a:t>
            </a:r>
            <a:endParaRPr lang="en-US" sz="1400" dirty="0"/>
          </a:p>
        </p:txBody>
      </p:sp>
      <p:sp>
        <p:nvSpPr>
          <p:cNvPr id="23" name="Text 20"/>
          <p:cNvSpPr/>
          <p:nvPr/>
        </p:nvSpPr>
        <p:spPr>
          <a:xfrm>
            <a:off x="1097280" y="4142232"/>
            <a:ext cx="4754880" cy="52120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Placed: belongs to exactly one milestone</a:t>
            </a:r>
            <a:endParaRPr lang="en-US" sz="1600" dirty="0"/>
          </a:p>
        </p:txBody>
      </p:sp>
      <p:sp>
        <p:nvSpPr>
          <p:cNvPr id="24" name="Shape 21"/>
          <p:cNvSpPr/>
          <p:nvPr/>
        </p:nvSpPr>
        <p:spPr>
          <a:xfrm>
            <a:off x="548640" y="4846320"/>
            <a:ext cx="5303520" cy="1051560"/>
          </a:xfrm>
          <a:prstGeom prst="rect">
            <a:avLst/>
          </a:prstGeom>
          <a:solidFill>
            <a:srgbClr val="FFF4DF"/>
          </a:solidFill>
          <a:ln w="12700">
            <a:solidFill>
              <a:srgbClr val="F2A541"/>
            </a:solidFill>
            <a:prstDash val="solid"/>
          </a:ln>
        </p:spPr>
      </p:sp>
      <p:sp>
        <p:nvSpPr>
          <p:cNvPr id="25" name="Shape 22"/>
          <p:cNvSpPr/>
          <p:nvPr/>
        </p:nvSpPr>
        <p:spPr>
          <a:xfrm>
            <a:off x="548640" y="4846320"/>
            <a:ext cx="91440" cy="1051560"/>
          </a:xfrm>
          <a:prstGeom prst="rect">
            <a:avLst/>
          </a:prstGeom>
          <a:solidFill>
            <a:srgbClr val="F2A541"/>
          </a:solidFill>
          <a:ln w="12700">
            <a:solidFill>
              <a:srgbClr val="F2A541"/>
            </a:solidFill>
            <a:prstDash val="solid"/>
          </a:ln>
        </p:spPr>
      </p:sp>
      <p:sp>
        <p:nvSpPr>
          <p:cNvPr id="26" name="Text 23"/>
          <p:cNvSpPr/>
          <p:nvPr/>
        </p:nvSpPr>
        <p:spPr>
          <a:xfrm>
            <a:off x="777240" y="4937760"/>
            <a:ext cx="4937760" cy="86868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The test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If you can't write acceptance criteria for a task, it isn't specific enough yet. Split it or rewrite it.</a:t>
            </a:r>
            <a:endParaRPr lang="en-US" sz="1400" dirty="0"/>
          </a:p>
        </p:txBody>
      </p:sp>
      <p:sp>
        <p:nvSpPr>
          <p:cNvPr id="27" name="Text 24"/>
          <p:cNvSpPr/>
          <p:nvPr/>
        </p:nvSpPr>
        <p:spPr>
          <a:xfrm>
            <a:off x="6400800" y="1417320"/>
            <a:ext cx="5212080" cy="365760"/>
          </a:xfrm>
          <a:prstGeom prst="rect">
            <a:avLst/>
          </a:prstGeom>
          <a:noFill/>
          <a:ln/>
        </p:spPr>
        <p:txBody>
          <a:bodyPr wrap="square" lIns="0" tIns="0" rIns="0" bIns="0" rtlCol="0" anchor="ctr"/>
          <a:lstStyle/>
          <a:p>
            <a:pPr indent="0" marL="0">
              <a:buNone/>
            </a:pPr>
            <a:r>
              <a:rPr lang="en-US" sz="1800" b="1" dirty="0">
                <a:solidFill>
                  <a:srgbClr val="14213D"/>
                </a:solidFill>
                <a:latin typeface="Segoe UI" pitchFamily="34" charset="0"/>
                <a:ea typeface="Segoe UI" pitchFamily="34" charset="-122"/>
                <a:cs typeface="Segoe UI" pitchFamily="34" charset="-120"/>
              </a:rPr>
              <a:t>Example: one GDD feature becomes four issues</a:t>
            </a:r>
            <a:endParaRPr lang="en-US" sz="1800" dirty="0"/>
          </a:p>
        </p:txBody>
      </p:sp>
      <p:sp>
        <p:nvSpPr>
          <p:cNvPr id="28" name="Shape 25"/>
          <p:cNvSpPr/>
          <p:nvPr/>
        </p:nvSpPr>
        <p:spPr>
          <a:xfrm>
            <a:off x="7498080" y="1965960"/>
            <a:ext cx="3017520" cy="640080"/>
          </a:xfrm>
          <a:prstGeom prst="roundRect">
            <a:avLst>
              <a:gd name="adj" fmla="val 14286"/>
            </a:avLst>
          </a:prstGeom>
          <a:solidFill>
            <a:srgbClr val="14213D"/>
          </a:solidFill>
          <a:ln w="12700">
            <a:solidFill>
              <a:srgbClr val="14213D"/>
            </a:solidFill>
            <a:prstDash val="solid"/>
          </a:ln>
        </p:spPr>
      </p:sp>
      <p:sp>
        <p:nvSpPr>
          <p:cNvPr id="29" name="Text 26"/>
          <p:cNvSpPr/>
          <p:nvPr/>
        </p:nvSpPr>
        <p:spPr>
          <a:xfrm>
            <a:off x="7498080" y="1965960"/>
            <a:ext cx="3017520" cy="640080"/>
          </a:xfrm>
          <a:prstGeom prst="rect">
            <a:avLst/>
          </a:prstGeom>
          <a:noFill/>
          <a:ln/>
        </p:spPr>
        <p:txBody>
          <a:bodyPr wrap="square" lIns="0" tIns="0" rIns="0" bIns="0" rtlCol="0" anchor="ctr"/>
          <a:lstStyle/>
          <a:p>
            <a:pPr algn="ctr" indent="0" marL="0">
              <a:buNone/>
            </a:pPr>
            <a:r>
              <a:rPr lang="en-US" sz="1600" b="1" dirty="0">
                <a:solidFill>
                  <a:srgbClr val="F2A541"/>
                </a:solidFill>
                <a:latin typeface="Segoe UI" pitchFamily="34" charset="0"/>
                <a:ea typeface="Segoe UI" pitchFamily="34" charset="-122"/>
                <a:cs typeface="Segoe UI" pitchFamily="34" charset="-120"/>
              </a:rPr>
              <a:t>"Keep the lamps lit"</a:t>
            </a:r>
            <a:endParaRPr lang="en-US" sz="1600" dirty="0"/>
          </a:p>
        </p:txBody>
      </p:sp>
      <p:sp>
        <p:nvSpPr>
          <p:cNvPr id="30" name="Shape 27"/>
          <p:cNvSpPr/>
          <p:nvPr/>
        </p:nvSpPr>
        <p:spPr>
          <a:xfrm>
            <a:off x="6720840" y="2606040"/>
            <a:ext cx="0" cy="685800"/>
          </a:xfrm>
          <a:prstGeom prst="line">
            <a:avLst/>
          </a:prstGeom>
          <a:noFill/>
          <a:ln w="25400">
            <a:solidFill>
              <a:srgbClr val="F2A541"/>
            </a:solidFill>
            <a:prstDash val="solid"/>
          </a:ln>
        </p:spPr>
      </p:sp>
      <p:sp>
        <p:nvSpPr>
          <p:cNvPr id="31" name="Shape 28"/>
          <p:cNvSpPr/>
          <p:nvPr/>
        </p:nvSpPr>
        <p:spPr>
          <a:xfrm>
            <a:off x="6720840" y="3291840"/>
            <a:ext cx="320040" cy="0"/>
          </a:xfrm>
          <a:prstGeom prst="line">
            <a:avLst/>
          </a:prstGeom>
          <a:noFill/>
          <a:ln w="25400">
            <a:solidFill>
              <a:srgbClr val="F2A541"/>
            </a:solidFill>
            <a:prstDash val="solid"/>
          </a:ln>
        </p:spPr>
      </p:sp>
      <p:sp>
        <p:nvSpPr>
          <p:cNvPr id="32" name="Shape 29"/>
          <p:cNvSpPr/>
          <p:nvPr/>
        </p:nvSpPr>
        <p:spPr>
          <a:xfrm>
            <a:off x="7040880" y="2971800"/>
            <a:ext cx="4572000" cy="640080"/>
          </a:xfrm>
          <a:prstGeom prst="rect">
            <a:avLst/>
          </a:prstGeom>
          <a:solidFill>
            <a:srgbClr val="FFFFFF"/>
          </a:solidFill>
          <a:ln w="12700">
            <a:solidFill>
              <a:srgbClr val="DDD7C9"/>
            </a:solidFill>
            <a:prstDash val="solid"/>
          </a:ln>
        </p:spPr>
      </p:sp>
      <p:sp>
        <p:nvSpPr>
          <p:cNvPr id="33" name="Text 30"/>
          <p:cNvSpPr/>
          <p:nvPr/>
        </p:nvSpPr>
        <p:spPr>
          <a:xfrm>
            <a:off x="7178040" y="2971800"/>
            <a:ext cx="4389120" cy="640080"/>
          </a:xfrm>
          <a:prstGeom prst="rect">
            <a:avLst/>
          </a:prstGeom>
          <a:noFill/>
          <a:ln/>
        </p:spPr>
        <p:txBody>
          <a:bodyPr wrap="square" lIns="0" tIns="0" rIns="0" bIns="0" rtlCol="0" anchor="ctr"/>
          <a:lstStyle/>
          <a:p>
            <a:pPr indent="0" marL="0">
              <a:buNone/>
            </a:pPr>
            <a:r>
              <a:rPr lang="en-US" sz="1400" b="1" dirty="0">
                <a:solidFill>
                  <a:srgbClr val="1B1F2A"/>
                </a:solidFill>
                <a:latin typeface="Segoe UI" pitchFamily="34" charset="0"/>
                <a:ea typeface="Segoe UI" pitchFamily="34" charset="-122"/>
                <a:cs typeface="Segoe UI" pitchFamily="34" charset="-120"/>
              </a:rPr>
              <a:t>Lamps with fuel that drains over time</a:t>
            </a:r>
            <a:endParaRPr lang="en-US" sz="1400" dirty="0"/>
          </a:p>
          <a:p>
            <a:pPr indent="0" marL="0">
              <a:buNone/>
            </a:pPr>
            <a:r>
              <a:rPr lang="en-US" sz="1200" dirty="0">
                <a:solidFill>
                  <a:srgbClr val="5B6475"/>
                </a:solidFill>
                <a:latin typeface="Segoe UI" pitchFamily="34" charset="0"/>
                <a:ea typeface="Segoe UI" pitchFamily="34" charset="-122"/>
                <a:cs typeface="Segoe UI" pitchFamily="34" charset="-120"/>
              </a:rPr>
              <a:t>gameplay · 3 h</a:t>
            </a:r>
            <a:endParaRPr lang="en-US" sz="1400" dirty="0"/>
          </a:p>
        </p:txBody>
      </p:sp>
      <p:sp>
        <p:nvSpPr>
          <p:cNvPr id="34" name="Shape 31"/>
          <p:cNvSpPr/>
          <p:nvPr/>
        </p:nvSpPr>
        <p:spPr>
          <a:xfrm>
            <a:off x="6720840" y="2606040"/>
            <a:ext cx="0" cy="1490472"/>
          </a:xfrm>
          <a:prstGeom prst="line">
            <a:avLst/>
          </a:prstGeom>
          <a:noFill/>
          <a:ln w="25400">
            <a:solidFill>
              <a:srgbClr val="F2A541"/>
            </a:solidFill>
            <a:prstDash val="solid"/>
          </a:ln>
        </p:spPr>
      </p:sp>
      <p:sp>
        <p:nvSpPr>
          <p:cNvPr id="35" name="Shape 32"/>
          <p:cNvSpPr/>
          <p:nvPr/>
        </p:nvSpPr>
        <p:spPr>
          <a:xfrm>
            <a:off x="6720840" y="4096512"/>
            <a:ext cx="320040" cy="0"/>
          </a:xfrm>
          <a:prstGeom prst="line">
            <a:avLst/>
          </a:prstGeom>
          <a:noFill/>
          <a:ln w="25400">
            <a:solidFill>
              <a:srgbClr val="F2A541"/>
            </a:solidFill>
            <a:prstDash val="solid"/>
          </a:ln>
        </p:spPr>
      </p:sp>
      <p:sp>
        <p:nvSpPr>
          <p:cNvPr id="36" name="Shape 33"/>
          <p:cNvSpPr/>
          <p:nvPr/>
        </p:nvSpPr>
        <p:spPr>
          <a:xfrm>
            <a:off x="7040880" y="3776472"/>
            <a:ext cx="4572000" cy="640080"/>
          </a:xfrm>
          <a:prstGeom prst="rect">
            <a:avLst/>
          </a:prstGeom>
          <a:solidFill>
            <a:srgbClr val="FFFFFF"/>
          </a:solidFill>
          <a:ln w="12700">
            <a:solidFill>
              <a:srgbClr val="DDD7C9"/>
            </a:solidFill>
            <a:prstDash val="solid"/>
          </a:ln>
        </p:spPr>
      </p:sp>
      <p:sp>
        <p:nvSpPr>
          <p:cNvPr id="37" name="Text 34"/>
          <p:cNvSpPr/>
          <p:nvPr/>
        </p:nvSpPr>
        <p:spPr>
          <a:xfrm>
            <a:off x="7178040" y="3776472"/>
            <a:ext cx="4389120" cy="640080"/>
          </a:xfrm>
          <a:prstGeom prst="rect">
            <a:avLst/>
          </a:prstGeom>
          <a:noFill/>
          <a:ln/>
        </p:spPr>
        <p:txBody>
          <a:bodyPr wrap="square" lIns="0" tIns="0" rIns="0" bIns="0" rtlCol="0" anchor="ctr"/>
          <a:lstStyle/>
          <a:p>
            <a:pPr indent="0" marL="0">
              <a:buNone/>
            </a:pPr>
            <a:r>
              <a:rPr lang="en-US" sz="1400" b="1" dirty="0">
                <a:solidFill>
                  <a:srgbClr val="1B1F2A"/>
                </a:solidFill>
                <a:latin typeface="Segoe UI" pitchFamily="34" charset="0"/>
                <a:ea typeface="Segoe UI" pitchFamily="34" charset="-122"/>
                <a:cs typeface="Segoe UI" pitchFamily="34" charset="-120"/>
              </a:rPr>
              <a:t>Refuel a lamp with the E key</a:t>
            </a:r>
            <a:endParaRPr lang="en-US" sz="1400" dirty="0"/>
          </a:p>
          <a:p>
            <a:pPr indent="0" marL="0">
              <a:buNone/>
            </a:pPr>
            <a:r>
              <a:rPr lang="en-US" sz="1200" dirty="0">
                <a:solidFill>
                  <a:srgbClr val="5B6475"/>
                </a:solidFill>
                <a:latin typeface="Segoe UI" pitchFamily="34" charset="0"/>
                <a:ea typeface="Segoe UI" pitchFamily="34" charset="-122"/>
                <a:cs typeface="Segoe UI" pitchFamily="34" charset="-120"/>
              </a:rPr>
              <a:t>gameplay · 2 h</a:t>
            </a:r>
            <a:endParaRPr lang="en-US" sz="1400" dirty="0"/>
          </a:p>
        </p:txBody>
      </p:sp>
      <p:sp>
        <p:nvSpPr>
          <p:cNvPr id="38" name="Shape 35"/>
          <p:cNvSpPr/>
          <p:nvPr/>
        </p:nvSpPr>
        <p:spPr>
          <a:xfrm>
            <a:off x="6720840" y="2606040"/>
            <a:ext cx="0" cy="2295144"/>
          </a:xfrm>
          <a:prstGeom prst="line">
            <a:avLst/>
          </a:prstGeom>
          <a:noFill/>
          <a:ln w="25400">
            <a:solidFill>
              <a:srgbClr val="F2A541"/>
            </a:solidFill>
            <a:prstDash val="solid"/>
          </a:ln>
        </p:spPr>
      </p:sp>
      <p:sp>
        <p:nvSpPr>
          <p:cNvPr id="39" name="Shape 36"/>
          <p:cNvSpPr/>
          <p:nvPr/>
        </p:nvSpPr>
        <p:spPr>
          <a:xfrm>
            <a:off x="6720840" y="4901184"/>
            <a:ext cx="320040" cy="0"/>
          </a:xfrm>
          <a:prstGeom prst="line">
            <a:avLst/>
          </a:prstGeom>
          <a:noFill/>
          <a:ln w="25400">
            <a:solidFill>
              <a:srgbClr val="F2A541"/>
            </a:solidFill>
            <a:prstDash val="solid"/>
          </a:ln>
        </p:spPr>
      </p:sp>
      <p:sp>
        <p:nvSpPr>
          <p:cNvPr id="40" name="Shape 37"/>
          <p:cNvSpPr/>
          <p:nvPr/>
        </p:nvSpPr>
        <p:spPr>
          <a:xfrm>
            <a:off x="7040880" y="4581144"/>
            <a:ext cx="4572000" cy="640080"/>
          </a:xfrm>
          <a:prstGeom prst="rect">
            <a:avLst/>
          </a:prstGeom>
          <a:solidFill>
            <a:srgbClr val="FFFFFF"/>
          </a:solidFill>
          <a:ln w="12700">
            <a:solidFill>
              <a:srgbClr val="DDD7C9"/>
            </a:solidFill>
            <a:prstDash val="solid"/>
          </a:ln>
        </p:spPr>
      </p:sp>
      <p:sp>
        <p:nvSpPr>
          <p:cNvPr id="41" name="Text 38"/>
          <p:cNvSpPr/>
          <p:nvPr/>
        </p:nvSpPr>
        <p:spPr>
          <a:xfrm>
            <a:off x="7178040" y="4581144"/>
            <a:ext cx="4389120" cy="640080"/>
          </a:xfrm>
          <a:prstGeom prst="rect">
            <a:avLst/>
          </a:prstGeom>
          <a:noFill/>
          <a:ln/>
        </p:spPr>
        <p:txBody>
          <a:bodyPr wrap="square" lIns="0" tIns="0" rIns="0" bIns="0" rtlCol="0" anchor="ctr"/>
          <a:lstStyle/>
          <a:p>
            <a:pPr indent="0" marL="0">
              <a:buNone/>
            </a:pPr>
            <a:r>
              <a:rPr lang="en-US" sz="1400" b="1" dirty="0">
                <a:solidFill>
                  <a:srgbClr val="1B1F2A"/>
                </a:solidFill>
                <a:latin typeface="Segoe UI" pitchFamily="34" charset="0"/>
                <a:ea typeface="Segoe UI" pitchFamily="34" charset="-122"/>
                <a:cs typeface="Segoe UI" pitchFamily="34" charset="-120"/>
              </a:rPr>
              <a:t>Ships wreck at dark lamps and cost a life</a:t>
            </a:r>
            <a:endParaRPr lang="en-US" sz="1400" dirty="0"/>
          </a:p>
          <a:p>
            <a:pPr indent="0" marL="0">
              <a:buNone/>
            </a:pPr>
            <a:r>
              <a:rPr lang="en-US" sz="1200" dirty="0">
                <a:solidFill>
                  <a:srgbClr val="5B6475"/>
                </a:solidFill>
                <a:latin typeface="Segoe UI" pitchFamily="34" charset="0"/>
                <a:ea typeface="Segoe UI" pitchFamily="34" charset="-122"/>
                <a:cs typeface="Segoe UI" pitchFamily="34" charset="-120"/>
              </a:rPr>
              <a:t>gameplay · 3 h</a:t>
            </a:r>
            <a:endParaRPr lang="en-US" sz="1400" dirty="0"/>
          </a:p>
        </p:txBody>
      </p:sp>
      <p:sp>
        <p:nvSpPr>
          <p:cNvPr id="42" name="Shape 39"/>
          <p:cNvSpPr/>
          <p:nvPr/>
        </p:nvSpPr>
        <p:spPr>
          <a:xfrm>
            <a:off x="6720840" y="2606040"/>
            <a:ext cx="0" cy="3099816"/>
          </a:xfrm>
          <a:prstGeom prst="line">
            <a:avLst/>
          </a:prstGeom>
          <a:noFill/>
          <a:ln w="25400">
            <a:solidFill>
              <a:srgbClr val="F2A541"/>
            </a:solidFill>
            <a:prstDash val="solid"/>
          </a:ln>
        </p:spPr>
      </p:sp>
      <p:sp>
        <p:nvSpPr>
          <p:cNvPr id="43" name="Shape 40"/>
          <p:cNvSpPr/>
          <p:nvPr/>
        </p:nvSpPr>
        <p:spPr>
          <a:xfrm>
            <a:off x="6720840" y="5705856"/>
            <a:ext cx="320040" cy="0"/>
          </a:xfrm>
          <a:prstGeom prst="line">
            <a:avLst/>
          </a:prstGeom>
          <a:noFill/>
          <a:ln w="25400">
            <a:solidFill>
              <a:srgbClr val="F2A541"/>
            </a:solidFill>
            <a:prstDash val="solid"/>
          </a:ln>
        </p:spPr>
      </p:sp>
      <p:sp>
        <p:nvSpPr>
          <p:cNvPr id="44" name="Shape 41"/>
          <p:cNvSpPr/>
          <p:nvPr/>
        </p:nvSpPr>
        <p:spPr>
          <a:xfrm>
            <a:off x="7040880" y="5385816"/>
            <a:ext cx="4572000" cy="640080"/>
          </a:xfrm>
          <a:prstGeom prst="rect">
            <a:avLst/>
          </a:prstGeom>
          <a:solidFill>
            <a:srgbClr val="FFFFFF"/>
          </a:solidFill>
          <a:ln w="12700">
            <a:solidFill>
              <a:srgbClr val="DDD7C9"/>
            </a:solidFill>
            <a:prstDash val="solid"/>
          </a:ln>
        </p:spPr>
      </p:sp>
      <p:sp>
        <p:nvSpPr>
          <p:cNvPr id="45" name="Text 42"/>
          <p:cNvSpPr/>
          <p:nvPr/>
        </p:nvSpPr>
        <p:spPr>
          <a:xfrm>
            <a:off x="7178040" y="5385816"/>
            <a:ext cx="4389120" cy="640080"/>
          </a:xfrm>
          <a:prstGeom prst="rect">
            <a:avLst/>
          </a:prstGeom>
          <a:noFill/>
          <a:ln/>
        </p:spPr>
        <p:txBody>
          <a:bodyPr wrap="square" lIns="0" tIns="0" rIns="0" bIns="0" rtlCol="0" anchor="ctr"/>
          <a:lstStyle/>
          <a:p>
            <a:pPr indent="0" marL="0">
              <a:buNone/>
            </a:pPr>
            <a:r>
              <a:rPr lang="en-US" sz="1400" b="1" dirty="0">
                <a:solidFill>
                  <a:srgbClr val="1B1F2A"/>
                </a:solidFill>
                <a:latin typeface="Segoe UI" pitchFamily="34" charset="0"/>
                <a:ea typeface="Segoe UI" pitchFamily="34" charset="-122"/>
                <a:cs typeface="Segoe UI" pitchFamily="34" charset="-120"/>
              </a:rPr>
              <a:t>HUD: lives, dawn timer, and lamp fuel bars</a:t>
            </a:r>
            <a:endParaRPr lang="en-US" sz="1400" dirty="0"/>
          </a:p>
          <a:p>
            <a:pPr indent="0" marL="0">
              <a:buNone/>
            </a:pPr>
            <a:r>
              <a:rPr lang="en-US" sz="1200" dirty="0">
                <a:solidFill>
                  <a:srgbClr val="5B6475"/>
                </a:solidFill>
                <a:latin typeface="Segoe UI" pitchFamily="34" charset="0"/>
                <a:ea typeface="Segoe UI" pitchFamily="34" charset="-122"/>
                <a:cs typeface="Segoe UI" pitchFamily="34" charset="-120"/>
              </a:rPr>
              <a:t>ui · 3 h</a:t>
            </a:r>
            <a:endParaRPr lang="en-US" sz="1400" dirty="0"/>
          </a:p>
        </p:txBody>
      </p:sp>
      <p:sp>
        <p:nvSpPr>
          <p:cNvPr id="46" name="Shape 43"/>
          <p:cNvSpPr/>
          <p:nvPr/>
        </p:nvSpPr>
        <p:spPr>
          <a:xfrm>
            <a:off x="6720840" y="2606040"/>
            <a:ext cx="777240" cy="0"/>
          </a:xfrm>
          <a:prstGeom prst="line">
            <a:avLst/>
          </a:prstGeom>
          <a:noFill/>
          <a:ln w="25400">
            <a:solidFill>
              <a:srgbClr val="F2A541"/>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5  ·  WRITING ISSUES</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Anatomy of a good issue</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17320"/>
            <a:ext cx="6766560" cy="4846320"/>
          </a:xfrm>
          <a:prstGeom prst="rect">
            <a:avLst/>
          </a:prstGeom>
          <a:solidFill>
            <a:srgbClr val="FFFFFF"/>
          </a:solidFill>
          <a:ln w="12700">
            <a:solidFill>
              <a:srgbClr val="DDD7C9"/>
            </a:solidFill>
            <a:prstDash val="solid"/>
          </a:ln>
        </p:spPr>
      </p:sp>
      <p:sp>
        <p:nvSpPr>
          <p:cNvPr id="9" name="Text 6"/>
          <p:cNvSpPr/>
          <p:nvPr/>
        </p:nvSpPr>
        <p:spPr>
          <a:xfrm>
            <a:off x="777240" y="1554480"/>
            <a:ext cx="6309360" cy="457200"/>
          </a:xfrm>
          <a:prstGeom prst="rect">
            <a:avLst/>
          </a:prstGeom>
          <a:noFill/>
          <a:ln/>
        </p:spPr>
        <p:txBody>
          <a:bodyPr wrap="square" lIns="0" tIns="0" rIns="0" bIns="0" rtlCol="0" anchor="ctr"/>
          <a:lstStyle/>
          <a:p>
            <a:pPr indent="0" marL="0">
              <a:buNone/>
            </a:pPr>
            <a:r>
              <a:rPr lang="en-US" sz="2000" b="1" dirty="0">
                <a:solidFill>
                  <a:srgbClr val="1B1F2A"/>
                </a:solidFill>
                <a:latin typeface="Segoe UI" pitchFamily="34" charset="0"/>
                <a:ea typeface="Segoe UI" pitchFamily="34" charset="-122"/>
                <a:cs typeface="Segoe UI" pitchFamily="34" charset="-120"/>
              </a:rPr>
              <a:t>Lamps with fuel that drains over time </a:t>
            </a:r>
            <a:pPr indent="0" marL="0">
              <a:buNone/>
            </a:pPr>
            <a:r>
              <a:rPr lang="en-US" sz="2000" dirty="0">
                <a:solidFill>
                  <a:srgbClr val="5B6475"/>
                </a:solidFill>
                <a:latin typeface="Segoe UI" pitchFamily="34" charset="0"/>
                <a:ea typeface="Segoe UI" pitchFamily="34" charset="-122"/>
                <a:cs typeface="Segoe UI" pitchFamily="34" charset="-120"/>
              </a:rPr>
              <a:t>#5</a:t>
            </a:r>
            <a:endParaRPr lang="en-US" sz="2000" dirty="0"/>
          </a:p>
        </p:txBody>
      </p:sp>
      <p:sp>
        <p:nvSpPr>
          <p:cNvPr id="10" name="Shape 7"/>
          <p:cNvSpPr/>
          <p:nvPr/>
        </p:nvSpPr>
        <p:spPr>
          <a:xfrm>
            <a:off x="777240" y="2103120"/>
            <a:ext cx="6309360" cy="0"/>
          </a:xfrm>
          <a:prstGeom prst="line">
            <a:avLst/>
          </a:prstGeom>
          <a:noFill/>
          <a:ln w="12700">
            <a:solidFill>
              <a:srgbClr val="DDD7C9"/>
            </a:solidFill>
            <a:prstDash val="solid"/>
          </a:ln>
        </p:spPr>
      </p:sp>
      <p:sp>
        <p:nvSpPr>
          <p:cNvPr id="11" name="Text 8"/>
          <p:cNvSpPr/>
          <p:nvPr/>
        </p:nvSpPr>
        <p:spPr>
          <a:xfrm>
            <a:off x="777240" y="2240280"/>
            <a:ext cx="6309360" cy="2926080"/>
          </a:xfrm>
          <a:prstGeom prst="rect">
            <a:avLst/>
          </a:prstGeom>
          <a:noFill/>
          <a:ln/>
        </p:spPr>
        <p:txBody>
          <a:bodyPr wrap="square" lIns="0" tIns="0" rIns="0" bIns="0" rtlCol="0" anchor="t"/>
          <a:lstStyle/>
          <a:p>
            <a:pPr indent="0" marL="0">
              <a:spcAft>
                <a:spcPts val="300"/>
              </a:spcAft>
              <a:buNone/>
            </a:pPr>
            <a:r>
              <a:rPr lang="en-US" sz="1600" b="1" dirty="0">
                <a:solidFill>
                  <a:srgbClr val="14213D"/>
                </a:solidFill>
                <a:latin typeface="Segoe UI" pitchFamily="34" charset="0"/>
                <a:ea typeface="Segoe UI" pitchFamily="34" charset="-122"/>
                <a:cs typeface="Segoe UI" pitchFamily="34" charset="-120"/>
              </a:rPr>
              <a:t>Description</a:t>
            </a:r>
            <a:endParaRPr lang="en-US" sz="1500" dirty="0"/>
          </a:p>
          <a:p>
            <a:pPr indent="0" marL="0">
              <a:spcAft>
                <a:spcPts val="300"/>
              </a:spcAft>
              <a:buNone/>
            </a:pPr>
            <a:r>
              <a:rPr lang="en-US" sz="1500" dirty="0">
                <a:solidFill>
                  <a:srgbClr val="1B1F2A"/>
                </a:solidFill>
                <a:latin typeface="Segoe UI" pitchFamily="34" charset="0"/>
                <a:ea typeface="Segoe UI" pitchFamily="34" charset="-122"/>
                <a:cs typeface="Segoe UI" pitchFamily="34" charset="-120"/>
              </a:rPr>
              <a:t>A Lamp prefab holds a fuel value from 0 to 100 that drains each second. At 0 the light turns off.</a:t>
            </a:r>
            <a:endParaRPr lang="en-US" sz="1500" dirty="0"/>
          </a:p>
          <a:p>
            <a:pPr indent="0" marL="0">
              <a:spcAft>
                <a:spcPts val="300"/>
              </a:spcAft>
              <a:buNone/>
            </a:pPr>
            <a:r>
              <a:rPr lang="en-US" sz="600" dirty="0">
                <a:solidFill>
                  <a:srgbClr val="1B1F2A"/>
                </a:solidFill>
                <a:latin typeface="Segoe UI" pitchFamily="34" charset="0"/>
                <a:ea typeface="Segoe UI" pitchFamily="34" charset="-122"/>
                <a:cs typeface="Segoe UI" pitchFamily="34" charset="-120"/>
              </a:rPr>
              <a:t> </a:t>
            </a:r>
            <a:endParaRPr lang="en-US" sz="1500" dirty="0"/>
          </a:p>
          <a:p>
            <a:pPr indent="0" marL="0">
              <a:spcAft>
                <a:spcPts val="300"/>
              </a:spcAft>
              <a:buNone/>
            </a:pPr>
            <a:r>
              <a:rPr lang="en-US" sz="1600" b="1" dirty="0">
                <a:solidFill>
                  <a:srgbClr val="14213D"/>
                </a:solidFill>
                <a:latin typeface="Segoe UI" pitchFamily="34" charset="0"/>
                <a:ea typeface="Segoe UI" pitchFamily="34" charset="-122"/>
                <a:cs typeface="Segoe UI" pitchFamily="34" charset="-120"/>
              </a:rPr>
              <a:t>Acceptance criteria</a:t>
            </a:r>
            <a:endParaRPr lang="en-US" sz="1500" dirty="0"/>
          </a:p>
          <a:p>
            <a:pPr indent="0" marL="0">
              <a:spcAft>
                <a:spcPts val="300"/>
              </a:spcAft>
              <a:buNone/>
            </a:pPr>
            <a:r>
              <a:rPr lang="en-US" sz="1500" dirty="0">
                <a:solidFill>
                  <a:srgbClr val="1B1F2A"/>
                </a:solidFill>
                <a:latin typeface="Segoe UI" pitchFamily="34" charset="0"/>
                <a:ea typeface="Segoe UI" pitchFamily="34" charset="-122"/>
                <a:cs typeface="Segoe UI" pitchFamily="34" charset="-120"/>
              </a:rPr>
              <a:t>☐  Drain rate is adjustable in the Inspector</a:t>
            </a:r>
            <a:endParaRPr lang="en-US" sz="1500" dirty="0"/>
          </a:p>
          <a:p>
            <a:pPr indent="0" marL="0">
              <a:spcAft>
                <a:spcPts val="300"/>
              </a:spcAft>
              <a:buNone/>
            </a:pPr>
            <a:r>
              <a:rPr lang="en-US" sz="1500" dirty="0">
                <a:solidFill>
                  <a:srgbClr val="1B1F2A"/>
                </a:solidFill>
                <a:latin typeface="Segoe UI" pitchFamily="34" charset="0"/>
                <a:ea typeface="Segoe UI" pitchFamily="34" charset="-122"/>
                <a:cs typeface="Segoe UI" pitchFamily="34" charset="-120"/>
              </a:rPr>
              <a:t>☐  Light visibly dims as fuel drops</a:t>
            </a:r>
            <a:endParaRPr lang="en-US" sz="1500" dirty="0"/>
          </a:p>
          <a:p>
            <a:pPr indent="0" marL="0">
              <a:spcAft>
                <a:spcPts val="300"/>
              </a:spcAft>
              <a:buNone/>
            </a:pPr>
            <a:r>
              <a:rPr lang="en-US" sz="1500" dirty="0">
                <a:solidFill>
                  <a:srgbClr val="1B1F2A"/>
                </a:solidFill>
                <a:latin typeface="Segoe UI" pitchFamily="34" charset="0"/>
                <a:ea typeface="Segoe UI" pitchFamily="34" charset="-122"/>
                <a:cs typeface="Segoe UI" pitchFamily="34" charset="-120"/>
              </a:rPr>
              <a:t>☐  Lamp reports when it goes dark</a:t>
            </a:r>
            <a:endParaRPr lang="en-US" sz="1500" dirty="0"/>
          </a:p>
          <a:p>
            <a:pPr indent="0" marL="0">
              <a:spcAft>
                <a:spcPts val="300"/>
              </a:spcAft>
              <a:buNone/>
            </a:pPr>
            <a:r>
              <a:rPr lang="en-US" sz="600" dirty="0">
                <a:solidFill>
                  <a:srgbClr val="1B1F2A"/>
                </a:solidFill>
                <a:latin typeface="Segoe UI" pitchFamily="34" charset="0"/>
                <a:ea typeface="Segoe UI" pitchFamily="34" charset="-122"/>
                <a:cs typeface="Segoe UI" pitchFamily="34" charset="-120"/>
              </a:rPr>
              <a:t> </a:t>
            </a:r>
            <a:endParaRPr lang="en-US" sz="1500" dirty="0"/>
          </a:p>
          <a:p>
            <a:pPr indent="0" marL="0">
              <a:spcAft>
                <a:spcPts val="300"/>
              </a:spcAft>
              <a:buNone/>
            </a:pPr>
            <a:r>
              <a:rPr lang="en-US" sz="1300" b="1" dirty="0">
                <a:solidFill>
                  <a:srgbClr val="5B6475"/>
                </a:solidFill>
                <a:latin typeface="Segoe UI" pitchFamily="34" charset="0"/>
                <a:ea typeface="Segoe UI" pitchFamily="34" charset="-122"/>
                <a:cs typeface="Segoe UI" pitchFamily="34" charset="-120"/>
              </a:rPr>
              <a:t>Scope: Must have  |  Estimate: 3 hrs  |  Milestone: Prototype</a:t>
            </a:r>
            <a:endParaRPr lang="en-US" sz="1500" dirty="0"/>
          </a:p>
        </p:txBody>
      </p:sp>
      <p:sp>
        <p:nvSpPr>
          <p:cNvPr id="12" name="Shape 9"/>
          <p:cNvSpPr/>
          <p:nvPr/>
        </p:nvSpPr>
        <p:spPr>
          <a:xfrm>
            <a:off x="777240" y="5303520"/>
            <a:ext cx="6309360" cy="0"/>
          </a:xfrm>
          <a:prstGeom prst="line">
            <a:avLst/>
          </a:prstGeom>
          <a:noFill/>
          <a:ln w="12700">
            <a:solidFill>
              <a:srgbClr val="DDD7C9"/>
            </a:solidFill>
            <a:prstDash val="solid"/>
          </a:ln>
        </p:spPr>
      </p:sp>
      <p:sp>
        <p:nvSpPr>
          <p:cNvPr id="13" name="Text 10"/>
          <p:cNvSpPr/>
          <p:nvPr/>
        </p:nvSpPr>
        <p:spPr>
          <a:xfrm>
            <a:off x="777240" y="5440680"/>
            <a:ext cx="6309360" cy="548640"/>
          </a:xfrm>
          <a:prstGeom prst="rect">
            <a:avLst/>
          </a:prstGeom>
          <a:noFill/>
          <a:ln/>
        </p:spPr>
        <p:txBody>
          <a:bodyPr wrap="square" lIns="0" tIns="0" rIns="0" bIns="0" rtlCol="0" anchor="ctr"/>
          <a:lstStyle/>
          <a:p>
            <a:pPr indent="0" marL="0">
              <a:buNone/>
            </a:pPr>
            <a:r>
              <a:rPr lang="en-US" sz="1400" dirty="0">
                <a:solidFill>
                  <a:srgbClr val="5B6475"/>
                </a:solidFill>
                <a:latin typeface="Segoe UI" pitchFamily="34" charset="0"/>
                <a:ea typeface="Segoe UI" pitchFamily="34" charset="-122"/>
                <a:cs typeface="Segoe UI" pitchFamily="34" charset="-120"/>
              </a:rPr>
              <a:t>Labels  </a:t>
            </a:r>
            <a:pPr indent="0" marL="0">
              <a:buNone/>
            </a:pPr>
            <a:r>
              <a:rPr lang="en-US" sz="1400" b="1" dirty="0">
                <a:solidFill>
                  <a:srgbClr val="FFFFFF"/>
                </a:solidFill>
                <a:highlight>
                  <a:srgbClr val="1D76DB"/>
                </a:highlight>
                <a:latin typeface="Segoe UI" pitchFamily="34" charset="0"/>
                <a:ea typeface="Segoe UI" pitchFamily="34" charset="-122"/>
                <a:cs typeface="Segoe UI" pitchFamily="34" charset="-120"/>
              </a:rPr>
              <a:t> gameplay </a:t>
            </a:r>
            <a:pPr indent="0" marL="0">
              <a:buNone/>
            </a:pPr>
            <a:r>
              <a:rPr lang="en-US" sz="1400" dirty="0">
                <a:solidFill>
                  <a:srgbClr val="5B6475"/>
                </a:solidFill>
                <a:latin typeface="Segoe UI" pitchFamily="34" charset="0"/>
                <a:ea typeface="Segoe UI" pitchFamily="34" charset="-122"/>
                <a:cs typeface="Segoe UI" pitchFamily="34" charset="-120"/>
              </a:rPr>
              <a:t>      Milestone  </a:t>
            </a:r>
            <a:pPr indent="0" marL="0">
              <a:buNone/>
            </a:pPr>
            <a:r>
              <a:rPr lang="en-US" sz="1400" b="1" dirty="0">
                <a:solidFill>
                  <a:srgbClr val="1B1F2A"/>
                </a:solidFill>
                <a:latin typeface="Segoe UI" pitchFamily="34" charset="0"/>
                <a:ea typeface="Segoe UI" pitchFamily="34" charset="-122"/>
                <a:cs typeface="Segoe UI" pitchFamily="34" charset="-120"/>
              </a:rPr>
              <a:t>Prototype</a:t>
            </a:r>
            <a:pPr indent="0" marL="0">
              <a:buNone/>
            </a:pPr>
            <a:r>
              <a:rPr lang="en-US" sz="1400" dirty="0">
                <a:solidFill>
                  <a:srgbClr val="5B6475"/>
                </a:solidFill>
                <a:latin typeface="Segoe UI" pitchFamily="34" charset="0"/>
                <a:ea typeface="Segoe UI" pitchFamily="34" charset="-122"/>
                <a:cs typeface="Segoe UI" pitchFamily="34" charset="-120"/>
              </a:rPr>
              <a:t>      Assignee  </a:t>
            </a:r>
            <a:pPr indent="0" marL="0">
              <a:buNone/>
            </a:pPr>
            <a:r>
              <a:rPr lang="en-US" sz="1400" b="1" dirty="0">
                <a:solidFill>
                  <a:srgbClr val="1B1F2A"/>
                </a:solidFill>
                <a:latin typeface="Segoe UI" pitchFamily="34" charset="0"/>
                <a:ea typeface="Segoe UI" pitchFamily="34" charset="-122"/>
                <a:cs typeface="Segoe UI" pitchFamily="34" charset="-120"/>
              </a:rPr>
              <a:t>you</a:t>
            </a:r>
            <a:endParaRPr lang="en-US" sz="1400" dirty="0"/>
          </a:p>
        </p:txBody>
      </p:sp>
      <p:sp>
        <p:nvSpPr>
          <p:cNvPr id="14" name="Shape 11"/>
          <p:cNvSpPr/>
          <p:nvPr/>
        </p:nvSpPr>
        <p:spPr>
          <a:xfrm>
            <a:off x="7680960" y="1417320"/>
            <a:ext cx="3931920" cy="1143000"/>
          </a:xfrm>
          <a:prstGeom prst="rect">
            <a:avLst/>
          </a:prstGeom>
          <a:solidFill>
            <a:srgbClr val="FFFFFF"/>
          </a:solidFill>
          <a:ln w="12700">
            <a:solidFill>
              <a:srgbClr val="DDD7C9"/>
            </a:solidFill>
            <a:prstDash val="solid"/>
          </a:ln>
        </p:spPr>
      </p:sp>
      <p:sp>
        <p:nvSpPr>
          <p:cNvPr id="15" name="Shape 12"/>
          <p:cNvSpPr/>
          <p:nvPr/>
        </p:nvSpPr>
        <p:spPr>
          <a:xfrm>
            <a:off x="7680960" y="1417320"/>
            <a:ext cx="3931920" cy="73152"/>
          </a:xfrm>
          <a:prstGeom prst="rect">
            <a:avLst/>
          </a:prstGeom>
          <a:solidFill>
            <a:srgbClr val="14213D"/>
          </a:solidFill>
          <a:ln w="12700">
            <a:solidFill>
              <a:srgbClr val="14213D"/>
            </a:solidFill>
            <a:prstDash val="solid"/>
          </a:ln>
        </p:spPr>
      </p:sp>
      <p:sp>
        <p:nvSpPr>
          <p:cNvPr id="16" name="Text 13"/>
          <p:cNvSpPr/>
          <p:nvPr/>
        </p:nvSpPr>
        <p:spPr>
          <a:xfrm>
            <a:off x="7863840" y="1572768"/>
            <a:ext cx="35661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Title</a:t>
            </a:r>
            <a:endParaRPr lang="en-US" sz="1700" dirty="0"/>
          </a:p>
        </p:txBody>
      </p:sp>
      <p:sp>
        <p:nvSpPr>
          <p:cNvPr id="17" name="Text 14"/>
          <p:cNvSpPr/>
          <p:nvPr/>
        </p:nvSpPr>
        <p:spPr>
          <a:xfrm>
            <a:off x="7863840" y="1947672"/>
            <a:ext cx="3566160" cy="521208"/>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Says what will exist when it's done. Not "Lamps" or "Work on lamps."</a:t>
            </a:r>
            <a:endParaRPr lang="en-US" sz="1400" dirty="0"/>
          </a:p>
        </p:txBody>
      </p:sp>
      <p:sp>
        <p:nvSpPr>
          <p:cNvPr id="18" name="Shape 15"/>
          <p:cNvSpPr/>
          <p:nvPr/>
        </p:nvSpPr>
        <p:spPr>
          <a:xfrm>
            <a:off x="7680960" y="2651760"/>
            <a:ext cx="3931920" cy="1143000"/>
          </a:xfrm>
          <a:prstGeom prst="rect">
            <a:avLst/>
          </a:prstGeom>
          <a:solidFill>
            <a:srgbClr val="FFFFFF"/>
          </a:solidFill>
          <a:ln w="12700">
            <a:solidFill>
              <a:srgbClr val="DDD7C9"/>
            </a:solidFill>
            <a:prstDash val="solid"/>
          </a:ln>
        </p:spPr>
      </p:sp>
      <p:sp>
        <p:nvSpPr>
          <p:cNvPr id="19" name="Shape 16"/>
          <p:cNvSpPr/>
          <p:nvPr/>
        </p:nvSpPr>
        <p:spPr>
          <a:xfrm>
            <a:off x="7680960" y="2651760"/>
            <a:ext cx="3931920" cy="73152"/>
          </a:xfrm>
          <a:prstGeom prst="rect">
            <a:avLst/>
          </a:prstGeom>
          <a:solidFill>
            <a:srgbClr val="14213D"/>
          </a:solidFill>
          <a:ln w="12700">
            <a:solidFill>
              <a:srgbClr val="14213D"/>
            </a:solidFill>
            <a:prstDash val="solid"/>
          </a:ln>
        </p:spPr>
      </p:sp>
      <p:sp>
        <p:nvSpPr>
          <p:cNvPr id="20" name="Text 17"/>
          <p:cNvSpPr/>
          <p:nvPr/>
        </p:nvSpPr>
        <p:spPr>
          <a:xfrm>
            <a:off x="7863840" y="2807208"/>
            <a:ext cx="35661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Description</a:t>
            </a:r>
            <a:endParaRPr lang="en-US" sz="1700" dirty="0"/>
          </a:p>
        </p:txBody>
      </p:sp>
      <p:sp>
        <p:nvSpPr>
          <p:cNvPr id="21" name="Text 18"/>
          <p:cNvSpPr/>
          <p:nvPr/>
        </p:nvSpPr>
        <p:spPr>
          <a:xfrm>
            <a:off x="7863840" y="3182112"/>
            <a:ext cx="3566160" cy="521208"/>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One or two sentences on what to build and how it should behave.</a:t>
            </a:r>
            <a:endParaRPr lang="en-US" sz="1400" dirty="0"/>
          </a:p>
        </p:txBody>
      </p:sp>
      <p:sp>
        <p:nvSpPr>
          <p:cNvPr id="22" name="Shape 19"/>
          <p:cNvSpPr/>
          <p:nvPr/>
        </p:nvSpPr>
        <p:spPr>
          <a:xfrm>
            <a:off x="7680960" y="3886200"/>
            <a:ext cx="3931920" cy="1143000"/>
          </a:xfrm>
          <a:prstGeom prst="rect">
            <a:avLst/>
          </a:prstGeom>
          <a:solidFill>
            <a:srgbClr val="FFFFFF"/>
          </a:solidFill>
          <a:ln w="12700">
            <a:solidFill>
              <a:srgbClr val="DDD7C9"/>
            </a:solidFill>
            <a:prstDash val="solid"/>
          </a:ln>
        </p:spPr>
      </p:sp>
      <p:sp>
        <p:nvSpPr>
          <p:cNvPr id="23" name="Shape 20"/>
          <p:cNvSpPr/>
          <p:nvPr/>
        </p:nvSpPr>
        <p:spPr>
          <a:xfrm>
            <a:off x="7680960" y="3886200"/>
            <a:ext cx="3931920" cy="73152"/>
          </a:xfrm>
          <a:prstGeom prst="rect">
            <a:avLst/>
          </a:prstGeom>
          <a:solidFill>
            <a:srgbClr val="F2A541"/>
          </a:solidFill>
          <a:ln w="12700">
            <a:solidFill>
              <a:srgbClr val="F2A541"/>
            </a:solidFill>
            <a:prstDash val="solid"/>
          </a:ln>
        </p:spPr>
      </p:sp>
      <p:sp>
        <p:nvSpPr>
          <p:cNvPr id="24" name="Text 21"/>
          <p:cNvSpPr/>
          <p:nvPr/>
        </p:nvSpPr>
        <p:spPr>
          <a:xfrm>
            <a:off x="7863840" y="4041648"/>
            <a:ext cx="35661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Acceptance criteria</a:t>
            </a:r>
            <a:endParaRPr lang="en-US" sz="1700" dirty="0"/>
          </a:p>
        </p:txBody>
      </p:sp>
      <p:sp>
        <p:nvSpPr>
          <p:cNvPr id="25" name="Text 22"/>
          <p:cNvSpPr/>
          <p:nvPr/>
        </p:nvSpPr>
        <p:spPr>
          <a:xfrm>
            <a:off x="7863840" y="4416552"/>
            <a:ext cx="3566160" cy="521208"/>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A checklist you can test. This is your definition of "done."</a:t>
            </a:r>
            <a:endParaRPr lang="en-US" sz="1400" dirty="0"/>
          </a:p>
        </p:txBody>
      </p:sp>
      <p:sp>
        <p:nvSpPr>
          <p:cNvPr id="26" name="Shape 23"/>
          <p:cNvSpPr/>
          <p:nvPr/>
        </p:nvSpPr>
        <p:spPr>
          <a:xfrm>
            <a:off x="7680960" y="5120640"/>
            <a:ext cx="3931920" cy="1143000"/>
          </a:xfrm>
          <a:prstGeom prst="rect">
            <a:avLst/>
          </a:prstGeom>
          <a:solidFill>
            <a:srgbClr val="FFFFFF"/>
          </a:solidFill>
          <a:ln w="12700">
            <a:solidFill>
              <a:srgbClr val="DDD7C9"/>
            </a:solidFill>
            <a:prstDash val="solid"/>
          </a:ln>
        </p:spPr>
      </p:sp>
      <p:sp>
        <p:nvSpPr>
          <p:cNvPr id="27" name="Shape 24"/>
          <p:cNvSpPr/>
          <p:nvPr/>
        </p:nvSpPr>
        <p:spPr>
          <a:xfrm>
            <a:off x="7680960" y="5120640"/>
            <a:ext cx="3931920" cy="73152"/>
          </a:xfrm>
          <a:prstGeom prst="rect">
            <a:avLst/>
          </a:prstGeom>
          <a:solidFill>
            <a:srgbClr val="14213D"/>
          </a:solidFill>
          <a:ln w="12700">
            <a:solidFill>
              <a:srgbClr val="14213D"/>
            </a:solidFill>
            <a:prstDash val="solid"/>
          </a:ln>
        </p:spPr>
      </p:sp>
      <p:sp>
        <p:nvSpPr>
          <p:cNvPr id="28" name="Text 25"/>
          <p:cNvSpPr/>
          <p:nvPr/>
        </p:nvSpPr>
        <p:spPr>
          <a:xfrm>
            <a:off x="7863840" y="5276088"/>
            <a:ext cx="356616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Sidebar</a:t>
            </a:r>
            <a:endParaRPr lang="en-US" sz="1700" dirty="0"/>
          </a:p>
        </p:txBody>
      </p:sp>
      <p:sp>
        <p:nvSpPr>
          <p:cNvPr id="29" name="Text 26"/>
          <p:cNvSpPr/>
          <p:nvPr/>
        </p:nvSpPr>
        <p:spPr>
          <a:xfrm>
            <a:off x="7863840" y="5650992"/>
            <a:ext cx="3566160" cy="521208"/>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Exactly one label, one milestone, and an assignee.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5  ·  CREATING ISSUES</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Create one issue per task</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17320"/>
            <a:ext cx="6583680" cy="457200"/>
          </a:xfrm>
          <a:prstGeom prst="roundRect">
            <a:avLst>
              <a:gd name="adj" fmla="val 16000"/>
            </a:avLst>
          </a:prstGeom>
          <a:solidFill>
            <a:srgbClr val="22365A"/>
          </a:solidFill>
          <a:ln w="12700">
            <a:solidFill>
              <a:srgbClr val="22365A"/>
            </a:solidFill>
            <a:prstDash val="solid"/>
          </a:ln>
        </p:spPr>
      </p:sp>
      <p:sp>
        <p:nvSpPr>
          <p:cNvPr id="9" name="Text 6"/>
          <p:cNvSpPr/>
          <p:nvPr/>
        </p:nvSpPr>
        <p:spPr>
          <a:xfrm>
            <a:off x="685800" y="1417320"/>
            <a:ext cx="6309360" cy="4572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Click path:  </a:t>
            </a:r>
            <a:pPr indent="0" marL="0">
              <a:buNone/>
            </a:pPr>
            <a:r>
              <a:rPr lang="en-US" sz="1400" dirty="0">
                <a:solidFill>
                  <a:srgbClr val="FFFFFF"/>
                </a:solidFill>
                <a:latin typeface="Consolas" pitchFamily="34" charset="0"/>
                <a:ea typeface="Consolas" pitchFamily="34" charset="-122"/>
                <a:cs typeface="Consolas" pitchFamily="34" charset="-120"/>
              </a:rPr>
              <a:t>Repo  ›  Issues  ›  New issue</a:t>
            </a:r>
            <a:endParaRPr lang="en-US" sz="1400" dirty="0"/>
          </a:p>
        </p:txBody>
      </p:sp>
      <p:sp>
        <p:nvSpPr>
          <p:cNvPr id="10" name="Shape 7"/>
          <p:cNvSpPr/>
          <p:nvPr/>
        </p:nvSpPr>
        <p:spPr>
          <a:xfrm>
            <a:off x="548640" y="2185416"/>
            <a:ext cx="384048" cy="384048"/>
          </a:xfrm>
          <a:prstGeom prst="ellipse">
            <a:avLst/>
          </a:prstGeom>
          <a:solidFill>
            <a:srgbClr val="F2A541"/>
          </a:solidFill>
          <a:ln w="12700">
            <a:solidFill>
              <a:srgbClr val="F2A541"/>
            </a:solidFill>
            <a:prstDash val="solid"/>
          </a:ln>
        </p:spPr>
      </p:sp>
      <p:sp>
        <p:nvSpPr>
          <p:cNvPr id="11" name="Text 8"/>
          <p:cNvSpPr/>
          <p:nvPr/>
        </p:nvSpPr>
        <p:spPr>
          <a:xfrm>
            <a:off x="548640" y="218541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1</a:t>
            </a:r>
            <a:endParaRPr lang="en-US" sz="1400" dirty="0"/>
          </a:p>
        </p:txBody>
      </p:sp>
      <p:sp>
        <p:nvSpPr>
          <p:cNvPr id="12" name="Text 9"/>
          <p:cNvSpPr/>
          <p:nvPr/>
        </p:nvSpPr>
        <p:spPr>
          <a:xfrm>
            <a:off x="1097280" y="2148840"/>
            <a:ext cx="4937760" cy="557784"/>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Type a specific title</a:t>
            </a:r>
            <a:endParaRPr lang="en-US" sz="1600" dirty="0"/>
          </a:p>
        </p:txBody>
      </p:sp>
      <p:sp>
        <p:nvSpPr>
          <p:cNvPr id="13" name="Shape 10"/>
          <p:cNvSpPr/>
          <p:nvPr/>
        </p:nvSpPr>
        <p:spPr>
          <a:xfrm>
            <a:off x="548640" y="2788920"/>
            <a:ext cx="384048" cy="384048"/>
          </a:xfrm>
          <a:prstGeom prst="ellipse">
            <a:avLst/>
          </a:prstGeom>
          <a:solidFill>
            <a:srgbClr val="F2A541"/>
          </a:solidFill>
          <a:ln w="12700">
            <a:solidFill>
              <a:srgbClr val="F2A541"/>
            </a:solidFill>
            <a:prstDash val="solid"/>
          </a:ln>
        </p:spPr>
      </p:sp>
      <p:sp>
        <p:nvSpPr>
          <p:cNvPr id="14" name="Text 11"/>
          <p:cNvSpPr/>
          <p:nvPr/>
        </p:nvSpPr>
        <p:spPr>
          <a:xfrm>
            <a:off x="548640" y="2788920"/>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2</a:t>
            </a:r>
            <a:endParaRPr lang="en-US" sz="1400" dirty="0"/>
          </a:p>
        </p:txBody>
      </p:sp>
      <p:sp>
        <p:nvSpPr>
          <p:cNvPr id="15" name="Text 12"/>
          <p:cNvSpPr/>
          <p:nvPr/>
        </p:nvSpPr>
        <p:spPr>
          <a:xfrm>
            <a:off x="1097280" y="2752344"/>
            <a:ext cx="4937760" cy="557784"/>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Paste the body template and fill it in</a:t>
            </a:r>
            <a:endParaRPr lang="en-US" sz="1600" dirty="0"/>
          </a:p>
        </p:txBody>
      </p:sp>
      <p:sp>
        <p:nvSpPr>
          <p:cNvPr id="16" name="Shape 13"/>
          <p:cNvSpPr/>
          <p:nvPr/>
        </p:nvSpPr>
        <p:spPr>
          <a:xfrm>
            <a:off x="548640" y="3392424"/>
            <a:ext cx="384048" cy="384048"/>
          </a:xfrm>
          <a:prstGeom prst="ellipse">
            <a:avLst/>
          </a:prstGeom>
          <a:solidFill>
            <a:srgbClr val="F2A541"/>
          </a:solidFill>
          <a:ln w="12700">
            <a:solidFill>
              <a:srgbClr val="F2A541"/>
            </a:solidFill>
            <a:prstDash val="solid"/>
          </a:ln>
        </p:spPr>
      </p:sp>
      <p:sp>
        <p:nvSpPr>
          <p:cNvPr id="17" name="Text 14"/>
          <p:cNvSpPr/>
          <p:nvPr/>
        </p:nvSpPr>
        <p:spPr>
          <a:xfrm>
            <a:off x="548640" y="3392424"/>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3</a:t>
            </a:r>
            <a:endParaRPr lang="en-US" sz="1400" dirty="0"/>
          </a:p>
        </p:txBody>
      </p:sp>
      <p:sp>
        <p:nvSpPr>
          <p:cNvPr id="18" name="Text 15"/>
          <p:cNvSpPr/>
          <p:nvPr/>
        </p:nvSpPr>
        <p:spPr>
          <a:xfrm>
            <a:off x="1097280" y="3355848"/>
            <a:ext cx="4937760" cy="557784"/>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Sidebar: pick one Label</a:t>
            </a:r>
            <a:endParaRPr lang="en-US" sz="1600" dirty="0"/>
          </a:p>
        </p:txBody>
      </p:sp>
      <p:sp>
        <p:nvSpPr>
          <p:cNvPr id="19" name="Shape 16"/>
          <p:cNvSpPr/>
          <p:nvPr/>
        </p:nvSpPr>
        <p:spPr>
          <a:xfrm>
            <a:off x="548640" y="3995928"/>
            <a:ext cx="384048" cy="384048"/>
          </a:xfrm>
          <a:prstGeom prst="ellipse">
            <a:avLst/>
          </a:prstGeom>
          <a:solidFill>
            <a:srgbClr val="F2A541"/>
          </a:solidFill>
          <a:ln w="12700">
            <a:solidFill>
              <a:srgbClr val="F2A541"/>
            </a:solidFill>
            <a:prstDash val="solid"/>
          </a:ln>
        </p:spPr>
      </p:sp>
      <p:sp>
        <p:nvSpPr>
          <p:cNvPr id="20" name="Text 17"/>
          <p:cNvSpPr/>
          <p:nvPr/>
        </p:nvSpPr>
        <p:spPr>
          <a:xfrm>
            <a:off x="548640" y="3995928"/>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4</a:t>
            </a:r>
            <a:endParaRPr lang="en-US" sz="1400" dirty="0"/>
          </a:p>
        </p:txBody>
      </p:sp>
      <p:sp>
        <p:nvSpPr>
          <p:cNvPr id="21" name="Text 18"/>
          <p:cNvSpPr/>
          <p:nvPr/>
        </p:nvSpPr>
        <p:spPr>
          <a:xfrm>
            <a:off x="1097280" y="3959352"/>
            <a:ext cx="4937760" cy="557784"/>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Sidebar: pick the Milestone</a:t>
            </a:r>
            <a:endParaRPr lang="en-US" sz="1600" dirty="0"/>
          </a:p>
        </p:txBody>
      </p:sp>
      <p:sp>
        <p:nvSpPr>
          <p:cNvPr id="22" name="Shape 19"/>
          <p:cNvSpPr/>
          <p:nvPr/>
        </p:nvSpPr>
        <p:spPr>
          <a:xfrm>
            <a:off x="548640" y="4599432"/>
            <a:ext cx="384048" cy="384048"/>
          </a:xfrm>
          <a:prstGeom prst="ellipse">
            <a:avLst/>
          </a:prstGeom>
          <a:solidFill>
            <a:srgbClr val="F2A541"/>
          </a:solidFill>
          <a:ln w="12700">
            <a:solidFill>
              <a:srgbClr val="F2A541"/>
            </a:solidFill>
            <a:prstDash val="solid"/>
          </a:ln>
        </p:spPr>
      </p:sp>
      <p:sp>
        <p:nvSpPr>
          <p:cNvPr id="23" name="Text 20"/>
          <p:cNvSpPr/>
          <p:nvPr/>
        </p:nvSpPr>
        <p:spPr>
          <a:xfrm>
            <a:off x="548640" y="4599432"/>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5</a:t>
            </a:r>
            <a:endParaRPr lang="en-US" sz="1400" dirty="0"/>
          </a:p>
        </p:txBody>
      </p:sp>
      <p:sp>
        <p:nvSpPr>
          <p:cNvPr id="24" name="Text 21"/>
          <p:cNvSpPr/>
          <p:nvPr/>
        </p:nvSpPr>
        <p:spPr>
          <a:xfrm>
            <a:off x="1097280" y="4562856"/>
            <a:ext cx="4937760" cy="557784"/>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Sidebar: assign a teammate</a:t>
            </a:r>
            <a:endParaRPr lang="en-US" sz="1600" dirty="0"/>
          </a:p>
        </p:txBody>
      </p:sp>
      <p:sp>
        <p:nvSpPr>
          <p:cNvPr id="25" name="Shape 22"/>
          <p:cNvSpPr/>
          <p:nvPr/>
        </p:nvSpPr>
        <p:spPr>
          <a:xfrm>
            <a:off x="548640" y="5202936"/>
            <a:ext cx="384048" cy="384048"/>
          </a:xfrm>
          <a:prstGeom prst="ellipse">
            <a:avLst/>
          </a:prstGeom>
          <a:solidFill>
            <a:srgbClr val="F2A541"/>
          </a:solidFill>
          <a:ln w="12700">
            <a:solidFill>
              <a:srgbClr val="F2A541"/>
            </a:solidFill>
            <a:prstDash val="solid"/>
          </a:ln>
        </p:spPr>
      </p:sp>
      <p:sp>
        <p:nvSpPr>
          <p:cNvPr id="26" name="Text 23"/>
          <p:cNvSpPr/>
          <p:nvPr/>
        </p:nvSpPr>
        <p:spPr>
          <a:xfrm>
            <a:off x="548640" y="520293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6</a:t>
            </a:r>
            <a:endParaRPr lang="en-US" sz="1400" dirty="0"/>
          </a:p>
        </p:txBody>
      </p:sp>
      <p:sp>
        <p:nvSpPr>
          <p:cNvPr id="27" name="Text 24"/>
          <p:cNvSpPr/>
          <p:nvPr/>
        </p:nvSpPr>
        <p:spPr>
          <a:xfrm>
            <a:off x="1097280" y="5166360"/>
            <a:ext cx="4937760" cy="557784"/>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Click Create. Repeat for every task (26 in the example)</a:t>
            </a:r>
            <a:endParaRPr lang="en-US" sz="1600" dirty="0"/>
          </a:p>
        </p:txBody>
      </p:sp>
      <p:sp>
        <p:nvSpPr>
          <p:cNvPr id="28" name="Text 25"/>
          <p:cNvSpPr/>
          <p:nvPr/>
        </p:nvSpPr>
        <p:spPr>
          <a:xfrm>
            <a:off x="6400800" y="2148840"/>
            <a:ext cx="5212080" cy="320040"/>
          </a:xfrm>
          <a:prstGeom prst="rect">
            <a:avLst/>
          </a:prstGeom>
          <a:noFill/>
          <a:ln/>
        </p:spPr>
        <p:txBody>
          <a:bodyPr wrap="square" lIns="0" tIns="0" rIns="0" bIns="0" rtlCol="0" anchor="ctr"/>
          <a:lstStyle/>
          <a:p>
            <a:pPr indent="0" marL="0">
              <a:buNone/>
            </a:pPr>
            <a:r>
              <a:rPr lang="en-US" sz="1400" b="1" dirty="0">
                <a:solidFill>
                  <a:srgbClr val="14213D"/>
                </a:solidFill>
                <a:latin typeface="Segoe UI" pitchFamily="34" charset="0"/>
                <a:ea typeface="Segoe UI" pitchFamily="34" charset="-122"/>
                <a:cs typeface="Segoe UI" pitchFamily="34" charset="-120"/>
              </a:rPr>
              <a:t>Body template (Markdown)</a:t>
            </a:r>
            <a:endParaRPr lang="en-US" sz="1400" dirty="0"/>
          </a:p>
        </p:txBody>
      </p:sp>
      <p:sp>
        <p:nvSpPr>
          <p:cNvPr id="29" name="Shape 26"/>
          <p:cNvSpPr/>
          <p:nvPr/>
        </p:nvSpPr>
        <p:spPr>
          <a:xfrm>
            <a:off x="6400800" y="2514600"/>
            <a:ext cx="5212080" cy="2743200"/>
          </a:xfrm>
          <a:prstGeom prst="rect">
            <a:avLst/>
          </a:prstGeom>
          <a:solidFill>
            <a:srgbClr val="1E2433"/>
          </a:solidFill>
          <a:ln w="12700">
            <a:solidFill>
              <a:srgbClr val="1E2433"/>
            </a:solidFill>
            <a:prstDash val="solid"/>
          </a:ln>
        </p:spPr>
      </p:sp>
      <p:sp>
        <p:nvSpPr>
          <p:cNvPr id="30" name="Text 27"/>
          <p:cNvSpPr/>
          <p:nvPr/>
        </p:nvSpPr>
        <p:spPr>
          <a:xfrm>
            <a:off x="6583680" y="2606040"/>
            <a:ext cx="4846320" cy="2560320"/>
          </a:xfrm>
          <a:prstGeom prst="rect">
            <a:avLst/>
          </a:prstGeom>
          <a:noFill/>
          <a:ln/>
        </p:spPr>
        <p:txBody>
          <a:bodyPr wrap="square" lIns="0" tIns="0" rIns="0" bIns="0" rtlCol="0" anchor="t"/>
          <a:lstStyle/>
          <a:p>
            <a:pPr indent="0" marL="0">
              <a:buNone/>
            </a:pPr>
            <a:r>
              <a:rPr lang="en-US" sz="1300" dirty="0">
                <a:solidFill>
                  <a:srgbClr val="E6E1D3"/>
                </a:solidFill>
                <a:latin typeface="Consolas" pitchFamily="34" charset="0"/>
                <a:ea typeface="Consolas" pitchFamily="34" charset="-122"/>
                <a:cs typeface="Consolas" pitchFamily="34" charset="-120"/>
              </a:rPr>
              <a:t>## Description</a:t>
            </a:r>
            <a:endParaRPr lang="en-US" sz="1300" dirty="0"/>
          </a:p>
          <a:p>
            <a:pPr indent="0" marL="0">
              <a:buNone/>
            </a:pPr>
            <a:r>
              <a:rPr lang="en-US" sz="1300" dirty="0">
                <a:solidFill>
                  <a:srgbClr val="E6E1D3"/>
                </a:solidFill>
                <a:latin typeface="Consolas" pitchFamily="34" charset="0"/>
                <a:ea typeface="Consolas" pitchFamily="34" charset="-122"/>
                <a:cs typeface="Consolas" pitchFamily="34" charset="-120"/>
              </a:rPr>
              <a:t>What to build, in one or two sentences.</a:t>
            </a:r>
            <a:endParaRPr lang="en-US" sz="1300" dirty="0"/>
          </a:p>
          <a:p>
            <a:pPr indent="0" marL="0">
              <a:buNone/>
            </a:pPr>
            <a:endParaRPr lang="en-US" sz="1300" dirty="0"/>
          </a:p>
          <a:p>
            <a:pPr indent="0" marL="0">
              <a:buNone/>
            </a:pPr>
            <a:r>
              <a:rPr lang="en-US" sz="1300" dirty="0">
                <a:solidFill>
                  <a:srgbClr val="E6E1D3"/>
                </a:solidFill>
                <a:latin typeface="Consolas" pitchFamily="34" charset="0"/>
                <a:ea typeface="Consolas" pitchFamily="34" charset="-122"/>
                <a:cs typeface="Consolas" pitchFamily="34" charset="-120"/>
              </a:rPr>
              <a:t>## Acceptance criteria</a:t>
            </a:r>
            <a:endParaRPr lang="en-US" sz="1300" dirty="0"/>
          </a:p>
          <a:p>
            <a:pPr indent="0" marL="0">
              <a:buNone/>
            </a:pPr>
            <a:r>
              <a:rPr lang="en-US" sz="1300" dirty="0">
                <a:solidFill>
                  <a:srgbClr val="E6E1D3"/>
                </a:solidFill>
                <a:latin typeface="Consolas" pitchFamily="34" charset="0"/>
                <a:ea typeface="Consolas" pitchFamily="34" charset="-122"/>
                <a:cs typeface="Consolas" pitchFamily="34" charset="-120"/>
              </a:rPr>
              <a:t>- [ ] Something you can test</a:t>
            </a:r>
            <a:endParaRPr lang="en-US" sz="1300" dirty="0"/>
          </a:p>
          <a:p>
            <a:pPr indent="0" marL="0">
              <a:buNone/>
            </a:pPr>
            <a:r>
              <a:rPr lang="en-US" sz="1300" dirty="0">
                <a:solidFill>
                  <a:srgbClr val="E6E1D3"/>
                </a:solidFill>
                <a:latin typeface="Consolas" pitchFamily="34" charset="0"/>
                <a:ea typeface="Consolas" pitchFamily="34" charset="-122"/>
                <a:cs typeface="Consolas" pitchFamily="34" charset="-120"/>
              </a:rPr>
              <a:t>- [ ] Another thing you can test</a:t>
            </a:r>
            <a:endParaRPr lang="en-US" sz="1300" dirty="0"/>
          </a:p>
          <a:p>
            <a:pPr indent="0" marL="0">
              <a:buNone/>
            </a:pPr>
            <a:endParaRPr lang="en-US" sz="1300" dirty="0"/>
          </a:p>
          <a:p>
            <a:pPr indent="0" marL="0">
              <a:buNone/>
            </a:pPr>
            <a:r>
              <a:rPr lang="en-US" sz="1300" dirty="0">
                <a:solidFill>
                  <a:srgbClr val="E6E1D3"/>
                </a:solidFill>
                <a:latin typeface="Consolas" pitchFamily="34" charset="0"/>
                <a:ea typeface="Consolas" pitchFamily="34" charset="-122"/>
                <a:cs typeface="Consolas" pitchFamily="34" charset="-120"/>
              </a:rPr>
              <a:t>**Scope:** Must have | **Estimate:** 3 hrs</a:t>
            </a:r>
            <a:endParaRPr lang="en-US" sz="1300" dirty="0"/>
          </a:p>
          <a:p>
            <a:pPr indent="0" marL="0">
              <a:buNone/>
            </a:pPr>
            <a:r>
              <a:rPr lang="en-US" sz="1300" dirty="0">
                <a:solidFill>
                  <a:srgbClr val="E6E1D3"/>
                </a:solidFill>
                <a:latin typeface="Consolas" pitchFamily="34" charset="0"/>
                <a:ea typeface="Consolas" pitchFamily="34" charset="-122"/>
                <a:cs typeface="Consolas" pitchFamily="34" charset="-120"/>
              </a:rPr>
              <a:t>**Milestone:** Prototype</a:t>
            </a:r>
            <a:endParaRPr lang="en-US" sz="1300" dirty="0"/>
          </a:p>
        </p:txBody>
      </p:sp>
      <p:sp>
        <p:nvSpPr>
          <p:cNvPr id="31" name="Shape 28"/>
          <p:cNvSpPr/>
          <p:nvPr/>
        </p:nvSpPr>
        <p:spPr>
          <a:xfrm>
            <a:off x="6400800" y="5440680"/>
            <a:ext cx="5212080" cy="822960"/>
          </a:xfrm>
          <a:prstGeom prst="rect">
            <a:avLst/>
          </a:prstGeom>
          <a:solidFill>
            <a:srgbClr val="FFF4DF"/>
          </a:solidFill>
          <a:ln w="12700">
            <a:solidFill>
              <a:srgbClr val="F2A541"/>
            </a:solidFill>
            <a:prstDash val="solid"/>
          </a:ln>
        </p:spPr>
      </p:sp>
      <p:sp>
        <p:nvSpPr>
          <p:cNvPr id="32" name="Shape 29"/>
          <p:cNvSpPr/>
          <p:nvPr/>
        </p:nvSpPr>
        <p:spPr>
          <a:xfrm>
            <a:off x="6400800" y="5440680"/>
            <a:ext cx="91440" cy="822960"/>
          </a:xfrm>
          <a:prstGeom prst="rect">
            <a:avLst/>
          </a:prstGeom>
          <a:solidFill>
            <a:srgbClr val="F2A541"/>
          </a:solidFill>
          <a:ln w="12700">
            <a:solidFill>
              <a:srgbClr val="F2A541"/>
            </a:solidFill>
            <a:prstDash val="solid"/>
          </a:ln>
        </p:spPr>
      </p:sp>
      <p:sp>
        <p:nvSpPr>
          <p:cNvPr id="33" name="Text 30"/>
          <p:cNvSpPr/>
          <p:nvPr/>
        </p:nvSpPr>
        <p:spPr>
          <a:xfrm>
            <a:off x="6629400" y="5532120"/>
            <a:ext cx="4846320" cy="64008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Shortcut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Write "- [ ]" and GitHub turns it into a checkbox you can tick.</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CHECK YOUR ESTIMATES</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The example plan, by the numbers</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94560"/>
                <a:gridCol w="1280160"/>
                <a:gridCol w="1280160"/>
                <a:gridCol w="1554480"/>
                <a:gridCol w="1645920"/>
                <a:gridCol w="1463040"/>
                <a:gridCol w="1645920"/>
              </a:tblGrid>
              <a:tr h="457200">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Milestone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Due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Tasks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Must hrs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Should hrs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Nice hrs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Total hrs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r>
              <a:tr h="457200">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Plan Approved</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Oct 27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Prototype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Nov 10</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18</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18</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Alpha</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Nov 24</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8</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13</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21</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Beta</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Dec 1</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14</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Final Build</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Dec 8</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A"/>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Total</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4DF"/>
                    </a:solidFill>
                  </a:tcPr>
                </a:tc>
                <a:tc>
                  <a:txBody>
                    <a:bodyPr/>
                    <a:lstStyle/>
                    <a:p>
                      <a:pPr algn="ctr" indent="0" marL="0">
                        <a:buNone/>
                      </a:pP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4D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26</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4D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44</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4D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16</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4D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4DF"/>
                    </a:solidFill>
                  </a:tcPr>
                </a:tc>
                <a:tc>
                  <a:txBody>
                    <a:bodyPr/>
                    <a:lstStyle/>
                    <a:p>
                      <a:pPr algn="ctr" indent="0" marL="0">
                        <a:buNone/>
                      </a:pPr>
                      <a:r>
                        <a:rPr lang="en-US" sz="1300" b="1" dirty="0">
                          <a:solidFill>
                            <a:srgbClr val="1B1F2A"/>
                          </a:solidFill>
                          <a:latin typeface="Segoe UI" pitchFamily="34" charset="0"/>
                          <a:ea typeface="Segoe UI" pitchFamily="34" charset="-122"/>
                          <a:cs typeface="Segoe UI" pitchFamily="34" charset="-120"/>
                        </a:rPr>
                        <a:t>67</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4DF"/>
                    </a:solidFill>
                  </a:tcPr>
                </a:tc>
              </a:tr>
            </a:tbl>
          </a:graphicData>
        </a:graphic>
      </p:graphicFrame>
      <p:sp>
        <p:nvSpPr>
          <p:cNvPr id="9" name="Shape 5"/>
          <p:cNvSpPr/>
          <p:nvPr/>
        </p:nvSpPr>
        <p:spPr>
          <a:xfrm>
            <a:off x="548640" y="4892040"/>
            <a:ext cx="3566160" cy="1371600"/>
          </a:xfrm>
          <a:prstGeom prst="rect">
            <a:avLst/>
          </a:prstGeom>
          <a:solidFill>
            <a:srgbClr val="FFFFFF"/>
          </a:solidFill>
          <a:ln w="12700">
            <a:solidFill>
              <a:srgbClr val="DDD7C9"/>
            </a:solidFill>
            <a:prstDash val="solid"/>
          </a:ln>
        </p:spPr>
      </p:sp>
      <p:sp>
        <p:nvSpPr>
          <p:cNvPr id="10" name="Shape 6"/>
          <p:cNvSpPr/>
          <p:nvPr/>
        </p:nvSpPr>
        <p:spPr>
          <a:xfrm>
            <a:off x="548640" y="4892040"/>
            <a:ext cx="3566160" cy="73152"/>
          </a:xfrm>
          <a:prstGeom prst="rect">
            <a:avLst/>
          </a:prstGeom>
          <a:solidFill>
            <a:srgbClr val="F2A541"/>
          </a:solidFill>
          <a:ln w="12700">
            <a:solidFill>
              <a:srgbClr val="F2A541"/>
            </a:solidFill>
            <a:prstDash val="solid"/>
          </a:ln>
        </p:spPr>
      </p:sp>
      <p:sp>
        <p:nvSpPr>
          <p:cNvPr id="11" name="Text 7"/>
          <p:cNvSpPr/>
          <p:nvPr/>
        </p:nvSpPr>
        <p:spPr>
          <a:xfrm>
            <a:off x="731520" y="5074920"/>
            <a:ext cx="320040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44 hrs is the real plan</a:t>
            </a:r>
            <a:endParaRPr lang="en-US" sz="1700" dirty="0"/>
          </a:p>
        </p:txBody>
      </p:sp>
      <p:sp>
        <p:nvSpPr>
          <p:cNvPr id="12" name="Text 8"/>
          <p:cNvSpPr/>
          <p:nvPr/>
        </p:nvSpPr>
        <p:spPr>
          <a:xfrm>
            <a:off x="731520" y="5532120"/>
            <a:ext cx="3200400" cy="64008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That's the Must-have work. The rest is a bonus if time allows.</a:t>
            </a:r>
            <a:endParaRPr lang="en-US" sz="1400" dirty="0"/>
          </a:p>
        </p:txBody>
      </p:sp>
      <p:sp>
        <p:nvSpPr>
          <p:cNvPr id="13" name="Shape 9"/>
          <p:cNvSpPr/>
          <p:nvPr/>
        </p:nvSpPr>
        <p:spPr>
          <a:xfrm>
            <a:off x="4297680" y="4892040"/>
            <a:ext cx="3566160" cy="1371600"/>
          </a:xfrm>
          <a:prstGeom prst="rect">
            <a:avLst/>
          </a:prstGeom>
          <a:solidFill>
            <a:srgbClr val="FFFFFF"/>
          </a:solidFill>
          <a:ln w="12700">
            <a:solidFill>
              <a:srgbClr val="DDD7C9"/>
            </a:solidFill>
            <a:prstDash val="solid"/>
          </a:ln>
        </p:spPr>
      </p:sp>
      <p:sp>
        <p:nvSpPr>
          <p:cNvPr id="14" name="Shape 10"/>
          <p:cNvSpPr/>
          <p:nvPr/>
        </p:nvSpPr>
        <p:spPr>
          <a:xfrm>
            <a:off x="4297680" y="4892040"/>
            <a:ext cx="3566160" cy="73152"/>
          </a:xfrm>
          <a:prstGeom prst="rect">
            <a:avLst/>
          </a:prstGeom>
          <a:solidFill>
            <a:srgbClr val="F2A541"/>
          </a:solidFill>
          <a:ln w="12700">
            <a:solidFill>
              <a:srgbClr val="F2A541"/>
            </a:solidFill>
            <a:prstDash val="solid"/>
          </a:ln>
        </p:spPr>
      </p:sp>
      <p:sp>
        <p:nvSpPr>
          <p:cNvPr id="15" name="Text 11"/>
          <p:cNvSpPr/>
          <p:nvPr/>
        </p:nvSpPr>
        <p:spPr>
          <a:xfrm>
            <a:off x="4480560" y="5074920"/>
            <a:ext cx="320040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Front-load the core</a:t>
            </a:r>
            <a:endParaRPr lang="en-US" sz="1700" dirty="0"/>
          </a:p>
        </p:txBody>
      </p:sp>
      <p:sp>
        <p:nvSpPr>
          <p:cNvPr id="16" name="Text 12"/>
          <p:cNvSpPr/>
          <p:nvPr/>
        </p:nvSpPr>
        <p:spPr>
          <a:xfrm>
            <a:off x="4480560" y="5532120"/>
            <a:ext cx="3200400" cy="64008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Prototype has the most Must-have hours. Get the core loop working early.</a:t>
            </a:r>
            <a:endParaRPr lang="en-US" sz="1400" dirty="0"/>
          </a:p>
        </p:txBody>
      </p:sp>
      <p:sp>
        <p:nvSpPr>
          <p:cNvPr id="17" name="Shape 13"/>
          <p:cNvSpPr/>
          <p:nvPr/>
        </p:nvSpPr>
        <p:spPr>
          <a:xfrm>
            <a:off x="8046720" y="4892040"/>
            <a:ext cx="3566160" cy="1371600"/>
          </a:xfrm>
          <a:prstGeom prst="rect">
            <a:avLst/>
          </a:prstGeom>
          <a:solidFill>
            <a:srgbClr val="FFFFFF"/>
          </a:solidFill>
          <a:ln w="12700">
            <a:solidFill>
              <a:srgbClr val="DDD7C9"/>
            </a:solidFill>
            <a:prstDash val="solid"/>
          </a:ln>
        </p:spPr>
      </p:sp>
      <p:sp>
        <p:nvSpPr>
          <p:cNvPr id="18" name="Shape 14"/>
          <p:cNvSpPr/>
          <p:nvPr/>
        </p:nvSpPr>
        <p:spPr>
          <a:xfrm>
            <a:off x="8046720" y="4892040"/>
            <a:ext cx="3566160" cy="73152"/>
          </a:xfrm>
          <a:prstGeom prst="rect">
            <a:avLst/>
          </a:prstGeom>
          <a:solidFill>
            <a:srgbClr val="F2A541"/>
          </a:solidFill>
          <a:ln w="12700">
            <a:solidFill>
              <a:srgbClr val="F2A541"/>
            </a:solidFill>
            <a:prstDash val="solid"/>
          </a:ln>
        </p:spPr>
      </p:sp>
      <p:sp>
        <p:nvSpPr>
          <p:cNvPr id="19" name="Text 15"/>
          <p:cNvSpPr/>
          <p:nvPr/>
        </p:nvSpPr>
        <p:spPr>
          <a:xfrm>
            <a:off x="8229600" y="5074920"/>
            <a:ext cx="320040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Cut from the bottom</a:t>
            </a:r>
            <a:endParaRPr lang="en-US" sz="1700" dirty="0"/>
          </a:p>
        </p:txBody>
      </p:sp>
      <p:sp>
        <p:nvSpPr>
          <p:cNvPr id="20" name="Text 16"/>
          <p:cNvSpPr/>
          <p:nvPr/>
        </p:nvSpPr>
        <p:spPr>
          <a:xfrm>
            <a:off x="8229600" y="5532120"/>
            <a:ext cx="3200400" cy="64008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If Alpha slips, the 7 Nice-to-have hours go first.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6</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Create the GitHub Project and link it</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17320"/>
            <a:ext cx="6766560" cy="457200"/>
          </a:xfrm>
          <a:prstGeom prst="roundRect">
            <a:avLst>
              <a:gd name="adj" fmla="val 16000"/>
            </a:avLst>
          </a:prstGeom>
          <a:solidFill>
            <a:srgbClr val="22365A"/>
          </a:solidFill>
          <a:ln w="12700">
            <a:solidFill>
              <a:srgbClr val="22365A"/>
            </a:solidFill>
            <a:prstDash val="solid"/>
          </a:ln>
        </p:spPr>
      </p:sp>
      <p:sp>
        <p:nvSpPr>
          <p:cNvPr id="9" name="Text 6"/>
          <p:cNvSpPr/>
          <p:nvPr/>
        </p:nvSpPr>
        <p:spPr>
          <a:xfrm>
            <a:off x="685800" y="1417320"/>
            <a:ext cx="6492240" cy="4572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Click path:  </a:t>
            </a:r>
            <a:pPr indent="0" marL="0">
              <a:buNone/>
            </a:pPr>
            <a:r>
              <a:rPr lang="en-US" sz="1400" dirty="0">
                <a:solidFill>
                  <a:srgbClr val="FFFFFF"/>
                </a:solidFill>
                <a:latin typeface="Consolas" pitchFamily="34" charset="0"/>
                <a:ea typeface="Consolas" pitchFamily="34" charset="-122"/>
                <a:cs typeface="Consolas" pitchFamily="34" charset="-120"/>
              </a:rPr>
              <a:t>Your profile  ›  Projects  ›  New project</a:t>
            </a:r>
            <a:endParaRPr lang="en-US" sz="1400" dirty="0"/>
          </a:p>
        </p:txBody>
      </p:sp>
      <p:sp>
        <p:nvSpPr>
          <p:cNvPr id="10" name="Shape 7"/>
          <p:cNvSpPr/>
          <p:nvPr/>
        </p:nvSpPr>
        <p:spPr>
          <a:xfrm>
            <a:off x="548640" y="2185416"/>
            <a:ext cx="384048" cy="384048"/>
          </a:xfrm>
          <a:prstGeom prst="ellipse">
            <a:avLst/>
          </a:prstGeom>
          <a:solidFill>
            <a:srgbClr val="F2A541"/>
          </a:solidFill>
          <a:ln w="12700">
            <a:solidFill>
              <a:srgbClr val="F2A541"/>
            </a:solidFill>
            <a:prstDash val="solid"/>
          </a:ln>
        </p:spPr>
      </p:sp>
      <p:sp>
        <p:nvSpPr>
          <p:cNvPr id="11" name="Text 8"/>
          <p:cNvSpPr/>
          <p:nvPr/>
        </p:nvSpPr>
        <p:spPr>
          <a:xfrm>
            <a:off x="548640" y="218541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1</a:t>
            </a:r>
            <a:endParaRPr lang="en-US" sz="1400" dirty="0"/>
          </a:p>
        </p:txBody>
      </p:sp>
      <p:sp>
        <p:nvSpPr>
          <p:cNvPr id="12" name="Text 9"/>
          <p:cNvSpPr/>
          <p:nvPr/>
        </p:nvSpPr>
        <p:spPr>
          <a:xfrm>
            <a:off x="1097280" y="2148840"/>
            <a:ext cx="6217920" cy="594360"/>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Pick the Board template</a:t>
            </a:r>
            <a:endParaRPr lang="en-US" sz="1600" dirty="0"/>
          </a:p>
        </p:txBody>
      </p:sp>
      <p:sp>
        <p:nvSpPr>
          <p:cNvPr id="13" name="Shape 10"/>
          <p:cNvSpPr/>
          <p:nvPr/>
        </p:nvSpPr>
        <p:spPr>
          <a:xfrm>
            <a:off x="548640" y="2825496"/>
            <a:ext cx="384048" cy="384048"/>
          </a:xfrm>
          <a:prstGeom prst="ellipse">
            <a:avLst/>
          </a:prstGeom>
          <a:solidFill>
            <a:srgbClr val="F2A541"/>
          </a:solidFill>
          <a:ln w="12700">
            <a:solidFill>
              <a:srgbClr val="F2A541"/>
            </a:solidFill>
            <a:prstDash val="solid"/>
          </a:ln>
        </p:spPr>
      </p:sp>
      <p:sp>
        <p:nvSpPr>
          <p:cNvPr id="14" name="Text 11"/>
          <p:cNvSpPr/>
          <p:nvPr/>
        </p:nvSpPr>
        <p:spPr>
          <a:xfrm>
            <a:off x="548640" y="282549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2</a:t>
            </a:r>
            <a:endParaRPr lang="en-US" sz="1400" dirty="0"/>
          </a:p>
        </p:txBody>
      </p:sp>
      <p:sp>
        <p:nvSpPr>
          <p:cNvPr id="15" name="Text 12"/>
          <p:cNvSpPr/>
          <p:nvPr/>
        </p:nvSpPr>
        <p:spPr>
          <a:xfrm>
            <a:off x="1097280" y="2788920"/>
            <a:ext cx="6217920" cy="594360"/>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Name it, for example "Lantern Keeper - Project Plan"</a:t>
            </a:r>
            <a:endParaRPr lang="en-US" sz="1600" dirty="0"/>
          </a:p>
        </p:txBody>
      </p:sp>
      <p:sp>
        <p:nvSpPr>
          <p:cNvPr id="16" name="Shape 13"/>
          <p:cNvSpPr/>
          <p:nvPr/>
        </p:nvSpPr>
        <p:spPr>
          <a:xfrm>
            <a:off x="548640" y="3465576"/>
            <a:ext cx="384048" cy="384048"/>
          </a:xfrm>
          <a:prstGeom prst="ellipse">
            <a:avLst/>
          </a:prstGeom>
          <a:solidFill>
            <a:srgbClr val="F2A541"/>
          </a:solidFill>
          <a:ln w="12700">
            <a:solidFill>
              <a:srgbClr val="F2A541"/>
            </a:solidFill>
            <a:prstDash val="solid"/>
          </a:ln>
        </p:spPr>
      </p:sp>
      <p:sp>
        <p:nvSpPr>
          <p:cNvPr id="17" name="Text 14"/>
          <p:cNvSpPr/>
          <p:nvPr/>
        </p:nvSpPr>
        <p:spPr>
          <a:xfrm>
            <a:off x="548640" y="346557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3</a:t>
            </a:r>
            <a:endParaRPr lang="en-US" sz="1400" dirty="0"/>
          </a:p>
        </p:txBody>
      </p:sp>
      <p:sp>
        <p:nvSpPr>
          <p:cNvPr id="18" name="Text 15"/>
          <p:cNvSpPr/>
          <p:nvPr/>
        </p:nvSpPr>
        <p:spPr>
          <a:xfrm>
            <a:off x="1097280" y="3429000"/>
            <a:ext cx="6217920" cy="594360"/>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Open ⋯ › Settings: add a short description</a:t>
            </a:r>
            <a:endParaRPr lang="en-US" sz="1600" dirty="0"/>
          </a:p>
        </p:txBody>
      </p:sp>
      <p:sp>
        <p:nvSpPr>
          <p:cNvPr id="19" name="Shape 16"/>
          <p:cNvSpPr/>
          <p:nvPr/>
        </p:nvSpPr>
        <p:spPr>
          <a:xfrm>
            <a:off x="548640" y="4105656"/>
            <a:ext cx="384048" cy="384048"/>
          </a:xfrm>
          <a:prstGeom prst="ellipse">
            <a:avLst/>
          </a:prstGeom>
          <a:solidFill>
            <a:srgbClr val="F2A541"/>
          </a:solidFill>
          <a:ln w="12700">
            <a:solidFill>
              <a:srgbClr val="F2A541"/>
            </a:solidFill>
            <a:prstDash val="solid"/>
          </a:ln>
        </p:spPr>
      </p:sp>
      <p:sp>
        <p:nvSpPr>
          <p:cNvPr id="20" name="Text 17"/>
          <p:cNvSpPr/>
          <p:nvPr/>
        </p:nvSpPr>
        <p:spPr>
          <a:xfrm>
            <a:off x="548640" y="410565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4</a:t>
            </a:r>
            <a:endParaRPr lang="en-US" sz="1400" dirty="0"/>
          </a:p>
        </p:txBody>
      </p:sp>
      <p:sp>
        <p:nvSpPr>
          <p:cNvPr id="21" name="Text 18"/>
          <p:cNvSpPr/>
          <p:nvPr/>
        </p:nvSpPr>
        <p:spPr>
          <a:xfrm>
            <a:off x="1097280" y="4069080"/>
            <a:ext cx="6217920" cy="594360"/>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Link it: in the repo's Projects tab, click Link a project</a:t>
            </a:r>
            <a:endParaRPr lang="en-US" sz="1600" dirty="0"/>
          </a:p>
        </p:txBody>
      </p:sp>
      <p:sp>
        <p:nvSpPr>
          <p:cNvPr id="22" name="Shape 19"/>
          <p:cNvSpPr/>
          <p:nvPr/>
        </p:nvSpPr>
        <p:spPr>
          <a:xfrm>
            <a:off x="548640" y="4745736"/>
            <a:ext cx="384048" cy="384048"/>
          </a:xfrm>
          <a:prstGeom prst="ellipse">
            <a:avLst/>
          </a:prstGeom>
          <a:solidFill>
            <a:srgbClr val="F2A541"/>
          </a:solidFill>
          <a:ln w="12700">
            <a:solidFill>
              <a:srgbClr val="F2A541"/>
            </a:solidFill>
            <a:prstDash val="solid"/>
          </a:ln>
        </p:spPr>
      </p:sp>
      <p:sp>
        <p:nvSpPr>
          <p:cNvPr id="23" name="Text 20"/>
          <p:cNvSpPr/>
          <p:nvPr/>
        </p:nvSpPr>
        <p:spPr>
          <a:xfrm>
            <a:off x="548640" y="474573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5</a:t>
            </a:r>
            <a:endParaRPr lang="en-US" sz="1400" dirty="0"/>
          </a:p>
        </p:txBody>
      </p:sp>
      <p:sp>
        <p:nvSpPr>
          <p:cNvPr id="24" name="Text 21"/>
          <p:cNvSpPr/>
          <p:nvPr/>
        </p:nvSpPr>
        <p:spPr>
          <a:xfrm>
            <a:off x="1097280" y="4709160"/>
            <a:ext cx="6217920" cy="594360"/>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Under Manage access, add teammates as Write and your instructor</a:t>
            </a:r>
            <a:endParaRPr lang="en-US" sz="1600" dirty="0"/>
          </a:p>
        </p:txBody>
      </p:sp>
      <p:sp>
        <p:nvSpPr>
          <p:cNvPr id="25" name="Shape 22"/>
          <p:cNvSpPr/>
          <p:nvPr/>
        </p:nvSpPr>
        <p:spPr>
          <a:xfrm>
            <a:off x="548640" y="5385816"/>
            <a:ext cx="384048" cy="384048"/>
          </a:xfrm>
          <a:prstGeom prst="ellipse">
            <a:avLst/>
          </a:prstGeom>
          <a:solidFill>
            <a:srgbClr val="F2A541"/>
          </a:solidFill>
          <a:ln w="12700">
            <a:solidFill>
              <a:srgbClr val="F2A541"/>
            </a:solidFill>
            <a:prstDash val="solid"/>
          </a:ln>
        </p:spPr>
      </p:sp>
      <p:sp>
        <p:nvSpPr>
          <p:cNvPr id="26" name="Text 23"/>
          <p:cNvSpPr/>
          <p:nvPr/>
        </p:nvSpPr>
        <p:spPr>
          <a:xfrm>
            <a:off x="548640" y="538581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6</a:t>
            </a:r>
            <a:endParaRPr lang="en-US" sz="1400" dirty="0"/>
          </a:p>
        </p:txBody>
      </p:sp>
      <p:sp>
        <p:nvSpPr>
          <p:cNvPr id="27" name="Text 24"/>
          <p:cNvSpPr/>
          <p:nvPr/>
        </p:nvSpPr>
        <p:spPr>
          <a:xfrm>
            <a:off x="1097280" y="5349240"/>
            <a:ext cx="6217920" cy="594360"/>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Set Visibility to Public, or make sure your instructor has access</a:t>
            </a:r>
            <a:endParaRPr lang="en-US" sz="1600" dirty="0"/>
          </a:p>
        </p:txBody>
      </p:sp>
      <p:sp>
        <p:nvSpPr>
          <p:cNvPr id="28" name="Shape 25"/>
          <p:cNvSpPr/>
          <p:nvPr/>
        </p:nvSpPr>
        <p:spPr>
          <a:xfrm>
            <a:off x="7680960" y="1417320"/>
            <a:ext cx="3931920" cy="1463040"/>
          </a:xfrm>
          <a:prstGeom prst="rect">
            <a:avLst/>
          </a:prstGeom>
          <a:solidFill>
            <a:srgbClr val="FFF4DF"/>
          </a:solidFill>
          <a:ln w="12700">
            <a:solidFill>
              <a:srgbClr val="F2A541"/>
            </a:solidFill>
            <a:prstDash val="solid"/>
          </a:ln>
        </p:spPr>
      </p:sp>
      <p:sp>
        <p:nvSpPr>
          <p:cNvPr id="29" name="Shape 26"/>
          <p:cNvSpPr/>
          <p:nvPr/>
        </p:nvSpPr>
        <p:spPr>
          <a:xfrm>
            <a:off x="7680960" y="1417320"/>
            <a:ext cx="91440" cy="1463040"/>
          </a:xfrm>
          <a:prstGeom prst="rect">
            <a:avLst/>
          </a:prstGeom>
          <a:solidFill>
            <a:srgbClr val="F2A541"/>
          </a:solidFill>
          <a:ln w="12700">
            <a:solidFill>
              <a:srgbClr val="F2A541"/>
            </a:solidFill>
            <a:prstDash val="solid"/>
          </a:ln>
        </p:spPr>
      </p:sp>
      <p:sp>
        <p:nvSpPr>
          <p:cNvPr id="30" name="Text 27"/>
          <p:cNvSpPr/>
          <p:nvPr/>
        </p:nvSpPr>
        <p:spPr>
          <a:xfrm>
            <a:off x="7909560" y="1508760"/>
            <a:ext cx="3566160" cy="12801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Project ≠ repo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A Project is a view on top of your issues. It's owned by your account, not the repo, so you have to link it to the repo yourself.</a:t>
            </a:r>
            <a:endParaRPr lang="en-US" sz="1400" dirty="0"/>
          </a:p>
        </p:txBody>
      </p:sp>
      <p:sp>
        <p:nvSpPr>
          <p:cNvPr id="31" name="Shape 28"/>
          <p:cNvSpPr/>
          <p:nvPr/>
        </p:nvSpPr>
        <p:spPr>
          <a:xfrm>
            <a:off x="7680960" y="3108960"/>
            <a:ext cx="3931920" cy="1188720"/>
          </a:xfrm>
          <a:prstGeom prst="rect">
            <a:avLst/>
          </a:prstGeom>
          <a:solidFill>
            <a:srgbClr val="FFF4DF"/>
          </a:solidFill>
          <a:ln w="12700">
            <a:solidFill>
              <a:srgbClr val="F2A541"/>
            </a:solidFill>
            <a:prstDash val="solid"/>
          </a:ln>
        </p:spPr>
      </p:sp>
      <p:sp>
        <p:nvSpPr>
          <p:cNvPr id="32" name="Shape 29"/>
          <p:cNvSpPr/>
          <p:nvPr/>
        </p:nvSpPr>
        <p:spPr>
          <a:xfrm>
            <a:off x="7680960" y="3108960"/>
            <a:ext cx="91440" cy="1188720"/>
          </a:xfrm>
          <a:prstGeom prst="rect">
            <a:avLst/>
          </a:prstGeom>
          <a:solidFill>
            <a:srgbClr val="F2A541"/>
          </a:solidFill>
          <a:ln w="12700">
            <a:solidFill>
              <a:srgbClr val="F2A541"/>
            </a:solidFill>
            <a:prstDash val="solid"/>
          </a:ln>
        </p:spPr>
      </p:sp>
      <p:sp>
        <p:nvSpPr>
          <p:cNvPr id="33" name="Text 30"/>
          <p:cNvSpPr/>
          <p:nvPr/>
        </p:nvSpPr>
        <p:spPr>
          <a:xfrm>
            <a:off x="7909560" y="3200400"/>
            <a:ext cx="3566160" cy="100584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Status is built in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The Board template already has a Status field with Todo, In Progress, and Done.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7</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Add custom fields</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17320"/>
            <a:ext cx="8229600" cy="457200"/>
          </a:xfrm>
          <a:prstGeom prst="roundRect">
            <a:avLst>
              <a:gd name="adj" fmla="val 16000"/>
            </a:avLst>
          </a:prstGeom>
          <a:solidFill>
            <a:srgbClr val="22365A"/>
          </a:solidFill>
          <a:ln w="12700">
            <a:solidFill>
              <a:srgbClr val="22365A"/>
            </a:solidFill>
            <a:prstDash val="solid"/>
          </a:ln>
        </p:spPr>
      </p:sp>
      <p:sp>
        <p:nvSpPr>
          <p:cNvPr id="9" name="Text 6"/>
          <p:cNvSpPr/>
          <p:nvPr/>
        </p:nvSpPr>
        <p:spPr>
          <a:xfrm>
            <a:off x="685800" y="1417320"/>
            <a:ext cx="7955280" cy="4572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Click path:  </a:t>
            </a:r>
            <a:pPr indent="0" marL="0">
              <a:buNone/>
            </a:pPr>
            <a:r>
              <a:rPr lang="en-US" sz="1400" dirty="0">
                <a:solidFill>
                  <a:srgbClr val="FFFFFF"/>
                </a:solidFill>
                <a:latin typeface="Consolas" pitchFamily="34" charset="0"/>
                <a:ea typeface="Consolas" pitchFamily="34" charset="-122"/>
                <a:cs typeface="Consolas" pitchFamily="34" charset="-120"/>
              </a:rPr>
              <a:t>Project  ›  ⋯  ›  Settings  ›  Custom fields  ›  + New field</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64240" cy="914400"/>
        </p:xfrm>
        <a:graphic>
          <a:graphicData uri="http://schemas.openxmlformats.org/drawingml/2006/table">
            <a:tbl>
              <a:tblPr/>
              <a:tblGrid>
                <a:gridCol w="1920240"/>
                <a:gridCol w="2377440"/>
                <a:gridCol w="3566160"/>
                <a:gridCol w="3200400"/>
              </a:tblGrid>
              <a:tr h="548640">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Field</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Type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Options / format</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What it's for</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r>
              <a:tr h="54864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Status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Single select (built in)</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Todo · In Progress · Done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Where the task is right now</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Scope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Single select</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Must have · Should have · Nice to have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What gets cut first</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Estimate (hrs)</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Number</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e.g. 3</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Totals per milestone and scope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B1F2A"/>
                          </a:solidFill>
                          <a:latin typeface="Segoe UI" pitchFamily="34" charset="0"/>
                          <a:ea typeface="Segoe UI" pitchFamily="34" charset="-122"/>
                          <a:cs typeface="Segoe UI" pitchFamily="34" charset="-120"/>
                        </a:rPr>
                        <a:t>Target date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Date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Use the milestone's due date</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Segoe UI" pitchFamily="34" charset="0"/>
                          <a:ea typeface="Segoe UI" pitchFamily="34" charset="-122"/>
                          <a:cs typeface="Segoe UI" pitchFamily="34" charset="-120"/>
                        </a:rPr>
                        <a:t>Places the card on the Roadmap</a:t>
                      </a:r>
                      <a:endParaRPr lang="en-US" sz="13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5074920"/>
            <a:ext cx="5394960" cy="1005840"/>
          </a:xfrm>
          <a:prstGeom prst="rect">
            <a:avLst/>
          </a:prstGeom>
          <a:solidFill>
            <a:srgbClr val="FFF4DF"/>
          </a:solidFill>
          <a:ln w="12700">
            <a:solidFill>
              <a:srgbClr val="F2A541"/>
            </a:solidFill>
            <a:prstDash val="solid"/>
          </a:ln>
        </p:spPr>
      </p:sp>
      <p:sp>
        <p:nvSpPr>
          <p:cNvPr id="12" name="Shape 8"/>
          <p:cNvSpPr/>
          <p:nvPr/>
        </p:nvSpPr>
        <p:spPr>
          <a:xfrm>
            <a:off x="548640" y="5074920"/>
            <a:ext cx="91440" cy="1005840"/>
          </a:xfrm>
          <a:prstGeom prst="rect">
            <a:avLst/>
          </a:prstGeom>
          <a:solidFill>
            <a:srgbClr val="F2A541"/>
          </a:solidFill>
          <a:ln w="12700">
            <a:solidFill>
              <a:srgbClr val="F2A541"/>
            </a:solidFill>
            <a:prstDash val="solid"/>
          </a:ln>
        </p:spPr>
      </p:sp>
      <p:sp>
        <p:nvSpPr>
          <p:cNvPr id="13" name="Text 9"/>
          <p:cNvSpPr/>
          <p:nvPr/>
        </p:nvSpPr>
        <p:spPr>
          <a:xfrm>
            <a:off x="777240" y="5166360"/>
            <a:ext cx="5029200" cy="8229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Shortcut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In Table view, click + at the end of the header row to add a field without opening Settings.</a:t>
            </a:r>
            <a:endParaRPr lang="en-US" sz="1400" dirty="0"/>
          </a:p>
        </p:txBody>
      </p:sp>
      <p:sp>
        <p:nvSpPr>
          <p:cNvPr id="14" name="Shape 10"/>
          <p:cNvSpPr/>
          <p:nvPr/>
        </p:nvSpPr>
        <p:spPr>
          <a:xfrm>
            <a:off x="6217920" y="5074920"/>
            <a:ext cx="5394960" cy="1005840"/>
          </a:xfrm>
          <a:prstGeom prst="rect">
            <a:avLst/>
          </a:prstGeom>
          <a:solidFill>
            <a:srgbClr val="FFF4DF"/>
          </a:solidFill>
          <a:ln w="12700">
            <a:solidFill>
              <a:srgbClr val="F2A541"/>
            </a:solidFill>
            <a:prstDash val="solid"/>
          </a:ln>
        </p:spPr>
      </p:sp>
      <p:sp>
        <p:nvSpPr>
          <p:cNvPr id="15" name="Shape 11"/>
          <p:cNvSpPr/>
          <p:nvPr/>
        </p:nvSpPr>
        <p:spPr>
          <a:xfrm>
            <a:off x="6217920" y="5074920"/>
            <a:ext cx="91440" cy="1005840"/>
          </a:xfrm>
          <a:prstGeom prst="rect">
            <a:avLst/>
          </a:prstGeom>
          <a:solidFill>
            <a:srgbClr val="F2A541"/>
          </a:solidFill>
          <a:ln w="12700">
            <a:solidFill>
              <a:srgbClr val="F2A541"/>
            </a:solidFill>
            <a:prstDash val="solid"/>
          </a:ln>
        </p:spPr>
      </p:sp>
      <p:sp>
        <p:nvSpPr>
          <p:cNvPr id="16" name="Text 12"/>
          <p:cNvSpPr/>
          <p:nvPr/>
        </p:nvSpPr>
        <p:spPr>
          <a:xfrm>
            <a:off x="6446520" y="5166360"/>
            <a:ext cx="5029200" cy="82296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Milestone is already there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Milestone, Labels, and Assignees come from the issues, so you don't need to add them.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8</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Add the issues and fill in the fields</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99616"/>
            <a:ext cx="384048" cy="384048"/>
          </a:xfrm>
          <a:prstGeom prst="ellipse">
            <a:avLst/>
          </a:prstGeom>
          <a:solidFill>
            <a:srgbClr val="F2A541"/>
          </a:solidFill>
          <a:ln w="12700">
            <a:solidFill>
              <a:srgbClr val="F2A541"/>
            </a:solidFill>
            <a:prstDash val="solid"/>
          </a:ln>
        </p:spPr>
      </p:sp>
      <p:sp>
        <p:nvSpPr>
          <p:cNvPr id="9" name="Text 6"/>
          <p:cNvSpPr/>
          <p:nvPr/>
        </p:nvSpPr>
        <p:spPr>
          <a:xfrm>
            <a:off x="548640" y="149961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1</a:t>
            </a:r>
            <a:endParaRPr lang="en-US" sz="1400" dirty="0"/>
          </a:p>
        </p:txBody>
      </p:sp>
      <p:sp>
        <p:nvSpPr>
          <p:cNvPr id="10" name="Text 7"/>
          <p:cNvSpPr/>
          <p:nvPr/>
        </p:nvSpPr>
        <p:spPr>
          <a:xfrm>
            <a:off x="1097280" y="1463040"/>
            <a:ext cx="5852160" cy="61264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In the project, click + Add item at the bottom of a column</a:t>
            </a:r>
            <a:endParaRPr lang="en-US" sz="1600" dirty="0"/>
          </a:p>
        </p:txBody>
      </p:sp>
      <p:sp>
        <p:nvSpPr>
          <p:cNvPr id="11" name="Shape 8"/>
          <p:cNvSpPr/>
          <p:nvPr/>
        </p:nvSpPr>
        <p:spPr>
          <a:xfrm>
            <a:off x="548640" y="2157984"/>
            <a:ext cx="384048" cy="384048"/>
          </a:xfrm>
          <a:prstGeom prst="ellipse">
            <a:avLst/>
          </a:prstGeom>
          <a:solidFill>
            <a:srgbClr val="F2A541"/>
          </a:solidFill>
          <a:ln w="12700">
            <a:solidFill>
              <a:srgbClr val="F2A541"/>
            </a:solidFill>
            <a:prstDash val="solid"/>
          </a:ln>
        </p:spPr>
      </p:sp>
      <p:sp>
        <p:nvSpPr>
          <p:cNvPr id="12" name="Text 9"/>
          <p:cNvSpPr/>
          <p:nvPr/>
        </p:nvSpPr>
        <p:spPr>
          <a:xfrm>
            <a:off x="548640" y="2157984"/>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2</a:t>
            </a:r>
            <a:endParaRPr lang="en-US" sz="1400" dirty="0"/>
          </a:p>
        </p:txBody>
      </p:sp>
      <p:sp>
        <p:nvSpPr>
          <p:cNvPr id="13" name="Text 10"/>
          <p:cNvSpPr/>
          <p:nvPr/>
        </p:nvSpPr>
        <p:spPr>
          <a:xfrm>
            <a:off x="1097280" y="2121408"/>
            <a:ext cx="5852160" cy="61264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Type #, pick your repo, and select the issues to add</a:t>
            </a:r>
            <a:endParaRPr lang="en-US" sz="1600" dirty="0"/>
          </a:p>
        </p:txBody>
      </p:sp>
      <p:sp>
        <p:nvSpPr>
          <p:cNvPr id="14" name="Shape 11"/>
          <p:cNvSpPr/>
          <p:nvPr/>
        </p:nvSpPr>
        <p:spPr>
          <a:xfrm>
            <a:off x="548640" y="2816352"/>
            <a:ext cx="384048" cy="384048"/>
          </a:xfrm>
          <a:prstGeom prst="ellipse">
            <a:avLst/>
          </a:prstGeom>
          <a:solidFill>
            <a:srgbClr val="F2A541"/>
          </a:solidFill>
          <a:ln w="12700">
            <a:solidFill>
              <a:srgbClr val="F2A541"/>
            </a:solidFill>
            <a:prstDash val="solid"/>
          </a:ln>
        </p:spPr>
      </p:sp>
      <p:sp>
        <p:nvSpPr>
          <p:cNvPr id="15" name="Text 12"/>
          <p:cNvSpPr/>
          <p:nvPr/>
        </p:nvSpPr>
        <p:spPr>
          <a:xfrm>
            <a:off x="548640" y="2816352"/>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3</a:t>
            </a:r>
            <a:endParaRPr lang="en-US" sz="1400" dirty="0"/>
          </a:p>
        </p:txBody>
      </p:sp>
      <p:sp>
        <p:nvSpPr>
          <p:cNvPr id="16" name="Text 13"/>
          <p:cNvSpPr/>
          <p:nvPr/>
        </p:nvSpPr>
        <p:spPr>
          <a:xfrm>
            <a:off x="1097280" y="2779776"/>
            <a:ext cx="5852160" cy="61264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Switch to Table view. It's the fastest way to edit many cards</a:t>
            </a:r>
            <a:endParaRPr lang="en-US" sz="1600" dirty="0"/>
          </a:p>
        </p:txBody>
      </p:sp>
      <p:sp>
        <p:nvSpPr>
          <p:cNvPr id="17" name="Shape 14"/>
          <p:cNvSpPr/>
          <p:nvPr/>
        </p:nvSpPr>
        <p:spPr>
          <a:xfrm>
            <a:off x="548640" y="3474720"/>
            <a:ext cx="384048" cy="384048"/>
          </a:xfrm>
          <a:prstGeom prst="ellipse">
            <a:avLst/>
          </a:prstGeom>
          <a:solidFill>
            <a:srgbClr val="F2A541"/>
          </a:solidFill>
          <a:ln w="12700">
            <a:solidFill>
              <a:srgbClr val="F2A541"/>
            </a:solidFill>
            <a:prstDash val="solid"/>
          </a:ln>
        </p:spPr>
      </p:sp>
      <p:sp>
        <p:nvSpPr>
          <p:cNvPr id="18" name="Text 15"/>
          <p:cNvSpPr/>
          <p:nvPr/>
        </p:nvSpPr>
        <p:spPr>
          <a:xfrm>
            <a:off x="548640" y="3474720"/>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4</a:t>
            </a:r>
            <a:endParaRPr lang="en-US" sz="1400" dirty="0"/>
          </a:p>
        </p:txBody>
      </p:sp>
      <p:sp>
        <p:nvSpPr>
          <p:cNvPr id="19" name="Text 16"/>
          <p:cNvSpPr/>
          <p:nvPr/>
        </p:nvSpPr>
        <p:spPr>
          <a:xfrm>
            <a:off x="1097280" y="3438144"/>
            <a:ext cx="5852160" cy="61264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Fill in Scope, Estimate (hrs), and Target date for each row</a:t>
            </a:r>
            <a:endParaRPr lang="en-US" sz="1600" dirty="0"/>
          </a:p>
        </p:txBody>
      </p:sp>
      <p:sp>
        <p:nvSpPr>
          <p:cNvPr id="20" name="Shape 17"/>
          <p:cNvSpPr/>
          <p:nvPr/>
        </p:nvSpPr>
        <p:spPr>
          <a:xfrm>
            <a:off x="548640" y="4133088"/>
            <a:ext cx="384048" cy="384048"/>
          </a:xfrm>
          <a:prstGeom prst="ellipse">
            <a:avLst/>
          </a:prstGeom>
          <a:solidFill>
            <a:srgbClr val="F2A541"/>
          </a:solidFill>
          <a:ln w="12700">
            <a:solidFill>
              <a:srgbClr val="F2A541"/>
            </a:solidFill>
            <a:prstDash val="solid"/>
          </a:ln>
        </p:spPr>
      </p:sp>
      <p:sp>
        <p:nvSpPr>
          <p:cNvPr id="21" name="Text 18"/>
          <p:cNvSpPr/>
          <p:nvPr/>
        </p:nvSpPr>
        <p:spPr>
          <a:xfrm>
            <a:off x="548640" y="4133088"/>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5</a:t>
            </a:r>
            <a:endParaRPr lang="en-US" sz="1400" dirty="0"/>
          </a:p>
        </p:txBody>
      </p:sp>
      <p:sp>
        <p:nvSpPr>
          <p:cNvPr id="22" name="Text 19"/>
          <p:cNvSpPr/>
          <p:nvPr/>
        </p:nvSpPr>
        <p:spPr>
          <a:xfrm>
            <a:off x="1097280" y="4096512"/>
            <a:ext cx="5852160" cy="61264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Set Status: finished work → Done, current work → In Progress</a:t>
            </a:r>
            <a:endParaRPr lang="en-US" sz="1600" dirty="0"/>
          </a:p>
        </p:txBody>
      </p:sp>
      <p:sp>
        <p:nvSpPr>
          <p:cNvPr id="23" name="Shape 20"/>
          <p:cNvSpPr/>
          <p:nvPr/>
        </p:nvSpPr>
        <p:spPr>
          <a:xfrm>
            <a:off x="548640" y="4791456"/>
            <a:ext cx="384048" cy="384048"/>
          </a:xfrm>
          <a:prstGeom prst="ellipse">
            <a:avLst/>
          </a:prstGeom>
          <a:solidFill>
            <a:srgbClr val="F2A541"/>
          </a:solidFill>
          <a:ln w="12700">
            <a:solidFill>
              <a:srgbClr val="F2A541"/>
            </a:solidFill>
            <a:prstDash val="solid"/>
          </a:ln>
        </p:spPr>
      </p:sp>
      <p:sp>
        <p:nvSpPr>
          <p:cNvPr id="24" name="Text 21"/>
          <p:cNvSpPr/>
          <p:nvPr/>
        </p:nvSpPr>
        <p:spPr>
          <a:xfrm>
            <a:off x="548640" y="4791456"/>
            <a:ext cx="38404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Segoe UI" pitchFamily="34" charset="0"/>
                <a:ea typeface="Segoe UI" pitchFamily="34" charset="-122"/>
                <a:cs typeface="Segoe UI" pitchFamily="34" charset="-120"/>
              </a:rPr>
              <a:t>6</a:t>
            </a:r>
            <a:endParaRPr lang="en-US" sz="1400" dirty="0"/>
          </a:p>
        </p:txBody>
      </p:sp>
      <p:sp>
        <p:nvSpPr>
          <p:cNvPr id="25" name="Text 22"/>
          <p:cNvSpPr/>
          <p:nvPr/>
        </p:nvSpPr>
        <p:spPr>
          <a:xfrm>
            <a:off x="1097280" y="4754880"/>
            <a:ext cx="5852160" cy="612648"/>
          </a:xfrm>
          <a:prstGeom prst="rect">
            <a:avLst/>
          </a:prstGeom>
          <a:noFill/>
          <a:ln/>
        </p:spPr>
        <p:txBody>
          <a:bodyPr wrap="square" lIns="50800" tIns="0" rIns="0" bIns="0" rtlCol="0" anchor="t"/>
          <a:lstStyle/>
          <a:p>
            <a:pPr indent="0" marL="0">
              <a:buNone/>
            </a:pPr>
            <a:r>
              <a:rPr lang="en-US" sz="1600" dirty="0">
                <a:solidFill>
                  <a:srgbClr val="1B1F2A"/>
                </a:solidFill>
                <a:latin typeface="Segoe UI" pitchFamily="34" charset="0"/>
                <a:ea typeface="Segoe UI" pitchFamily="34" charset="-122"/>
                <a:cs typeface="Segoe UI" pitchFamily="34" charset="-120"/>
              </a:rPr>
              <a:t>Close the issues for finished tasks (GDD, board, repo setup)</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223760" y="1463040"/>
          <a:ext cx="4389120" cy="914400"/>
        </p:xfrm>
        <a:graphic>
          <a:graphicData uri="http://schemas.openxmlformats.org/drawingml/2006/table">
            <a:tbl>
              <a:tblPr/>
              <a:tblGrid>
                <a:gridCol w="1783080"/>
                <a:gridCol w="1143000"/>
                <a:gridCol w="822960"/>
                <a:gridCol w="640080"/>
              </a:tblGrid>
              <a:tr h="411480">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Title</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Status</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Scope</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Est</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14213D"/>
                    </a:solidFill>
                  </a:tcPr>
                </a:tc>
              </a:tr>
              <a:tr h="411480">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Write the GDD</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Done</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Must</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4</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Player movement</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In Progress</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Must</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3</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Refuel with E</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Todo</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Must</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2</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Oil barrel pickups</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Todo</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Should</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2</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Sprint ability</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Todo</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Nice</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c>
                  <a:txBody>
                    <a:bodyPr/>
                    <a:lstStyle/>
                    <a:p>
                      <a:pPr indent="0" marL="0">
                        <a:buNone/>
                      </a:pPr>
                      <a:r>
                        <a:rPr lang="en-US" sz="1200" dirty="0">
                          <a:solidFill>
                            <a:srgbClr val="1B1F2A"/>
                          </a:solidFill>
                          <a:latin typeface="Segoe UI" pitchFamily="34" charset="0"/>
                          <a:ea typeface="Segoe UI" pitchFamily="34" charset="-122"/>
                          <a:cs typeface="Segoe UI" pitchFamily="34" charset="-120"/>
                        </a:rPr>
                        <a:t>3</a:t>
                      </a:r>
                      <a:endParaRPr lang="en-US" sz="1200" dirty="0">
                        <a:latin typeface="Segoe UI" charset="0"/>
                        <a:ea typeface="Segoe UI" charset="0"/>
                        <a:cs typeface="Segoe UI" charset="0"/>
                      </a:endParaRPr>
                    </a:p>
                  </a:txBody>
                  <a:tcPr marL="101600" marR="101600" marT="50800" marB="50800" anchor="ctr">
                    <a:lnL w="9525" cap="flat" cmpd="sng" algn="ctr">
                      <a:solidFill>
                        <a:srgbClr val="DDD7C9"/>
                      </a:solidFill>
                      <a:prstDash val="solid"/>
                      <a:round/>
                      <a:headEnd type="none" w="med" len="med"/>
                      <a:tailEnd type="none" w="med" len="med"/>
                    </a:lnL>
                    <a:lnR w="9525" cap="flat" cmpd="sng" algn="ctr">
                      <a:solidFill>
                        <a:srgbClr val="DDD7C9"/>
                      </a:solidFill>
                      <a:prstDash val="solid"/>
                      <a:round/>
                      <a:headEnd type="none" w="med" len="med"/>
                      <a:tailEnd type="none" w="med" len="med"/>
                    </a:lnR>
                    <a:lnT w="9525" cap="flat" cmpd="sng" algn="ctr">
                      <a:solidFill>
                        <a:srgbClr val="DDD7C9"/>
                      </a:solidFill>
                      <a:prstDash val="solid"/>
                      <a:round/>
                      <a:headEnd type="none" w="med" len="med"/>
                      <a:tailEnd type="none" w="med" len="med"/>
                    </a:lnT>
                    <a:lnB w="9525" cap="flat" cmpd="sng" algn="ctr">
                      <a:solidFill>
                        <a:srgbClr val="DDD7C9"/>
                      </a:solidFill>
                      <a:prstDash val="solid"/>
                      <a:round/>
                      <a:headEnd type="none" w="med" len="med"/>
                      <a:tailEnd type="none" w="med" len="med"/>
                    </a:lnB>
                    <a:solidFill>
                      <a:srgbClr val="FFFFFF"/>
                    </a:solidFill>
                  </a:tcPr>
                </a:tc>
              </a:tr>
            </a:tbl>
          </a:graphicData>
        </a:graphic>
      </p:graphicFrame>
      <p:sp>
        <p:nvSpPr>
          <p:cNvPr id="27" name="Shape 23"/>
          <p:cNvSpPr/>
          <p:nvPr/>
        </p:nvSpPr>
        <p:spPr>
          <a:xfrm>
            <a:off x="7223760" y="4114800"/>
            <a:ext cx="4389120" cy="1097280"/>
          </a:xfrm>
          <a:prstGeom prst="rect">
            <a:avLst/>
          </a:prstGeom>
          <a:solidFill>
            <a:srgbClr val="FFF4DF"/>
          </a:solidFill>
          <a:ln w="12700">
            <a:solidFill>
              <a:srgbClr val="F2A541"/>
            </a:solidFill>
            <a:prstDash val="solid"/>
          </a:ln>
        </p:spPr>
      </p:sp>
      <p:sp>
        <p:nvSpPr>
          <p:cNvPr id="28" name="Shape 24"/>
          <p:cNvSpPr/>
          <p:nvPr/>
        </p:nvSpPr>
        <p:spPr>
          <a:xfrm>
            <a:off x="7223760" y="4114800"/>
            <a:ext cx="91440" cy="1097280"/>
          </a:xfrm>
          <a:prstGeom prst="rect">
            <a:avLst/>
          </a:prstGeom>
          <a:solidFill>
            <a:srgbClr val="F2A541"/>
          </a:solidFill>
          <a:ln w="12700">
            <a:solidFill>
              <a:srgbClr val="F2A541"/>
            </a:solidFill>
            <a:prstDash val="solid"/>
          </a:ln>
        </p:spPr>
      </p:sp>
      <p:sp>
        <p:nvSpPr>
          <p:cNvPr id="29" name="Text 25"/>
          <p:cNvSpPr/>
          <p:nvPr/>
        </p:nvSpPr>
        <p:spPr>
          <a:xfrm>
            <a:off x="7452360" y="4206240"/>
            <a:ext cx="4023360" cy="91440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Faster: from the issue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On an issue's sidebar, use Projects to add it to the board while you're creating it.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STEP 9</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Set up three views</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63040"/>
            <a:ext cx="3520440" cy="4297680"/>
          </a:xfrm>
          <a:prstGeom prst="rect">
            <a:avLst/>
          </a:prstGeom>
          <a:solidFill>
            <a:srgbClr val="FFFFFF"/>
          </a:solidFill>
          <a:ln w="12700">
            <a:solidFill>
              <a:srgbClr val="DDD7C9"/>
            </a:solidFill>
            <a:prstDash val="solid"/>
          </a:ln>
        </p:spPr>
      </p:sp>
      <p:sp>
        <p:nvSpPr>
          <p:cNvPr id="9" name="Shape 6"/>
          <p:cNvSpPr/>
          <p:nvPr/>
        </p:nvSpPr>
        <p:spPr>
          <a:xfrm>
            <a:off x="548640" y="1463040"/>
            <a:ext cx="3520440" cy="548640"/>
          </a:xfrm>
          <a:prstGeom prst="rect">
            <a:avLst/>
          </a:prstGeom>
          <a:solidFill>
            <a:srgbClr val="14213D"/>
          </a:solidFill>
          <a:ln w="12700">
            <a:solidFill>
              <a:srgbClr val="14213D"/>
            </a:solidFill>
            <a:prstDash val="solid"/>
          </a:ln>
        </p:spPr>
      </p:sp>
      <p:sp>
        <p:nvSpPr>
          <p:cNvPr id="10" name="Text 7"/>
          <p:cNvSpPr/>
          <p:nvPr/>
        </p:nvSpPr>
        <p:spPr>
          <a:xfrm>
            <a:off x="731520" y="1463040"/>
            <a:ext cx="3154680" cy="548640"/>
          </a:xfrm>
          <a:prstGeom prst="rect">
            <a:avLst/>
          </a:prstGeom>
          <a:noFill/>
          <a:ln/>
        </p:spPr>
        <p:txBody>
          <a:bodyPr wrap="square" lIns="0" tIns="0" rIns="0" bIns="0" rtlCol="0" anchor="ctr"/>
          <a:lstStyle/>
          <a:p>
            <a:pPr indent="0" marL="0">
              <a:buNone/>
            </a:pPr>
            <a:r>
              <a:rPr lang="en-US" sz="2000" b="1" dirty="0">
                <a:solidFill>
                  <a:srgbClr val="F2A541"/>
                </a:solidFill>
                <a:latin typeface="Segoe UI" pitchFamily="34" charset="0"/>
                <a:ea typeface="Segoe UI" pitchFamily="34" charset="-122"/>
                <a:cs typeface="Segoe UI" pitchFamily="34" charset="-120"/>
              </a:rPr>
              <a:t>Board</a:t>
            </a:r>
            <a:endParaRPr lang="en-US" sz="2000" dirty="0"/>
          </a:p>
        </p:txBody>
      </p:sp>
      <p:sp>
        <p:nvSpPr>
          <p:cNvPr id="11" name="Shape 8"/>
          <p:cNvSpPr/>
          <p:nvPr/>
        </p:nvSpPr>
        <p:spPr>
          <a:xfrm>
            <a:off x="731520" y="2194560"/>
            <a:ext cx="978408" cy="1463040"/>
          </a:xfrm>
          <a:prstGeom prst="rect">
            <a:avLst/>
          </a:prstGeom>
          <a:solidFill>
            <a:srgbClr val="EEF1F6"/>
          </a:solidFill>
          <a:ln w="12700">
            <a:solidFill>
              <a:srgbClr val="EEF1F6"/>
            </a:solidFill>
            <a:prstDash val="solid"/>
          </a:ln>
        </p:spPr>
      </p:sp>
      <p:sp>
        <p:nvSpPr>
          <p:cNvPr id="12" name="Text 9"/>
          <p:cNvSpPr/>
          <p:nvPr/>
        </p:nvSpPr>
        <p:spPr>
          <a:xfrm>
            <a:off x="731520" y="2221992"/>
            <a:ext cx="978408"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Segoe UI" pitchFamily="34" charset="0"/>
                <a:ea typeface="Segoe UI" pitchFamily="34" charset="-122"/>
                <a:cs typeface="Segoe UI" pitchFamily="34" charset="-120"/>
              </a:rPr>
              <a:t>Todo</a:t>
            </a:r>
            <a:endParaRPr lang="en-US" sz="1000" dirty="0"/>
          </a:p>
        </p:txBody>
      </p:sp>
      <p:sp>
        <p:nvSpPr>
          <p:cNvPr id="13" name="Shape 10"/>
          <p:cNvSpPr/>
          <p:nvPr/>
        </p:nvSpPr>
        <p:spPr>
          <a:xfrm>
            <a:off x="804672" y="2542032"/>
            <a:ext cx="832104" cy="274320"/>
          </a:xfrm>
          <a:prstGeom prst="rect">
            <a:avLst/>
          </a:prstGeom>
          <a:solidFill>
            <a:srgbClr val="FFFFFF"/>
          </a:solidFill>
          <a:ln w="12700">
            <a:solidFill>
              <a:srgbClr val="DDD7C9"/>
            </a:solidFill>
            <a:prstDash val="solid"/>
          </a:ln>
        </p:spPr>
      </p:sp>
      <p:sp>
        <p:nvSpPr>
          <p:cNvPr id="14" name="Shape 11"/>
          <p:cNvSpPr/>
          <p:nvPr/>
        </p:nvSpPr>
        <p:spPr>
          <a:xfrm>
            <a:off x="804672" y="2889504"/>
            <a:ext cx="832104" cy="274320"/>
          </a:xfrm>
          <a:prstGeom prst="rect">
            <a:avLst/>
          </a:prstGeom>
          <a:solidFill>
            <a:srgbClr val="FFFFFF"/>
          </a:solidFill>
          <a:ln w="12700">
            <a:solidFill>
              <a:srgbClr val="DDD7C9"/>
            </a:solidFill>
            <a:prstDash val="solid"/>
          </a:ln>
        </p:spPr>
      </p:sp>
      <p:sp>
        <p:nvSpPr>
          <p:cNvPr id="15" name="Shape 12"/>
          <p:cNvSpPr/>
          <p:nvPr/>
        </p:nvSpPr>
        <p:spPr>
          <a:xfrm>
            <a:off x="804672" y="3236976"/>
            <a:ext cx="832104" cy="274320"/>
          </a:xfrm>
          <a:prstGeom prst="rect">
            <a:avLst/>
          </a:prstGeom>
          <a:solidFill>
            <a:srgbClr val="FFFFFF"/>
          </a:solidFill>
          <a:ln w="12700">
            <a:solidFill>
              <a:srgbClr val="DDD7C9"/>
            </a:solidFill>
            <a:prstDash val="solid"/>
          </a:ln>
        </p:spPr>
      </p:sp>
      <p:sp>
        <p:nvSpPr>
          <p:cNvPr id="16" name="Shape 13"/>
          <p:cNvSpPr/>
          <p:nvPr/>
        </p:nvSpPr>
        <p:spPr>
          <a:xfrm>
            <a:off x="1801368" y="2194560"/>
            <a:ext cx="978408" cy="1463040"/>
          </a:xfrm>
          <a:prstGeom prst="rect">
            <a:avLst/>
          </a:prstGeom>
          <a:solidFill>
            <a:srgbClr val="EEF1F6"/>
          </a:solidFill>
          <a:ln w="12700">
            <a:solidFill>
              <a:srgbClr val="EEF1F6"/>
            </a:solidFill>
            <a:prstDash val="solid"/>
          </a:ln>
        </p:spPr>
      </p:sp>
      <p:sp>
        <p:nvSpPr>
          <p:cNvPr id="17" name="Text 14"/>
          <p:cNvSpPr/>
          <p:nvPr/>
        </p:nvSpPr>
        <p:spPr>
          <a:xfrm>
            <a:off x="1801368" y="2221992"/>
            <a:ext cx="978408"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Segoe UI" pitchFamily="34" charset="0"/>
                <a:ea typeface="Segoe UI" pitchFamily="34" charset="-122"/>
                <a:cs typeface="Segoe UI" pitchFamily="34" charset="-120"/>
              </a:rPr>
              <a:t>In Progress</a:t>
            </a:r>
            <a:endParaRPr lang="en-US" sz="1000" dirty="0"/>
          </a:p>
        </p:txBody>
      </p:sp>
      <p:sp>
        <p:nvSpPr>
          <p:cNvPr id="18" name="Shape 15"/>
          <p:cNvSpPr/>
          <p:nvPr/>
        </p:nvSpPr>
        <p:spPr>
          <a:xfrm>
            <a:off x="1874520" y="2542032"/>
            <a:ext cx="832104" cy="274320"/>
          </a:xfrm>
          <a:prstGeom prst="rect">
            <a:avLst/>
          </a:prstGeom>
          <a:solidFill>
            <a:srgbClr val="FFFFFF"/>
          </a:solidFill>
          <a:ln w="12700">
            <a:solidFill>
              <a:srgbClr val="DDD7C9"/>
            </a:solidFill>
            <a:prstDash val="solid"/>
          </a:ln>
        </p:spPr>
      </p:sp>
      <p:sp>
        <p:nvSpPr>
          <p:cNvPr id="19" name="Shape 16"/>
          <p:cNvSpPr/>
          <p:nvPr/>
        </p:nvSpPr>
        <p:spPr>
          <a:xfrm>
            <a:off x="1874520" y="2889504"/>
            <a:ext cx="832104" cy="274320"/>
          </a:xfrm>
          <a:prstGeom prst="rect">
            <a:avLst/>
          </a:prstGeom>
          <a:solidFill>
            <a:srgbClr val="FFFFFF"/>
          </a:solidFill>
          <a:ln w="12700">
            <a:solidFill>
              <a:srgbClr val="DDD7C9"/>
            </a:solidFill>
            <a:prstDash val="solid"/>
          </a:ln>
        </p:spPr>
      </p:sp>
      <p:sp>
        <p:nvSpPr>
          <p:cNvPr id="20" name="Shape 17"/>
          <p:cNvSpPr/>
          <p:nvPr/>
        </p:nvSpPr>
        <p:spPr>
          <a:xfrm>
            <a:off x="2871216" y="2194560"/>
            <a:ext cx="978408" cy="1463040"/>
          </a:xfrm>
          <a:prstGeom prst="rect">
            <a:avLst/>
          </a:prstGeom>
          <a:solidFill>
            <a:srgbClr val="EEF1F6"/>
          </a:solidFill>
          <a:ln w="12700">
            <a:solidFill>
              <a:srgbClr val="EEF1F6"/>
            </a:solidFill>
            <a:prstDash val="solid"/>
          </a:ln>
        </p:spPr>
      </p:sp>
      <p:sp>
        <p:nvSpPr>
          <p:cNvPr id="21" name="Text 18"/>
          <p:cNvSpPr/>
          <p:nvPr/>
        </p:nvSpPr>
        <p:spPr>
          <a:xfrm>
            <a:off x="2871216" y="2221992"/>
            <a:ext cx="978408"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Segoe UI" pitchFamily="34" charset="0"/>
                <a:ea typeface="Segoe UI" pitchFamily="34" charset="-122"/>
                <a:cs typeface="Segoe UI" pitchFamily="34" charset="-120"/>
              </a:rPr>
              <a:t>Done</a:t>
            </a:r>
            <a:endParaRPr lang="en-US" sz="1000" dirty="0"/>
          </a:p>
        </p:txBody>
      </p:sp>
      <p:sp>
        <p:nvSpPr>
          <p:cNvPr id="22" name="Shape 19"/>
          <p:cNvSpPr/>
          <p:nvPr/>
        </p:nvSpPr>
        <p:spPr>
          <a:xfrm>
            <a:off x="2944368" y="2542032"/>
            <a:ext cx="832104" cy="274320"/>
          </a:xfrm>
          <a:prstGeom prst="rect">
            <a:avLst/>
          </a:prstGeom>
          <a:solidFill>
            <a:srgbClr val="FFFFFF"/>
          </a:solidFill>
          <a:ln w="12700">
            <a:solidFill>
              <a:srgbClr val="DDD7C9"/>
            </a:solidFill>
            <a:prstDash val="solid"/>
          </a:ln>
        </p:spPr>
      </p:sp>
      <p:sp>
        <p:nvSpPr>
          <p:cNvPr id="23" name="Text 20"/>
          <p:cNvSpPr/>
          <p:nvPr/>
        </p:nvSpPr>
        <p:spPr>
          <a:xfrm>
            <a:off x="731520" y="3840480"/>
            <a:ext cx="3154680" cy="914400"/>
          </a:xfrm>
          <a:prstGeom prst="rect">
            <a:avLst/>
          </a:prstGeom>
          <a:noFill/>
          <a:ln/>
        </p:spPr>
        <p:txBody>
          <a:bodyPr wrap="square" lIns="0" tIns="0" rIns="0" bIns="0" rtlCol="0" anchor="t"/>
          <a:lstStyle/>
          <a:p>
            <a:pPr indent="0" marL="0">
              <a:buNone/>
            </a:pPr>
            <a:r>
              <a:rPr lang="en-US" sz="1200" dirty="0">
                <a:solidFill>
                  <a:srgbClr val="1B1F2A"/>
                </a:solidFill>
                <a:latin typeface="Consolas" pitchFamily="34" charset="0"/>
                <a:ea typeface="Consolas" pitchFamily="34" charset="-122"/>
                <a:cs typeface="Consolas" pitchFamily="34" charset="-120"/>
              </a:rPr>
              <a:t>Layout: Board</a:t>
            </a:r>
            <a:endParaRPr lang="en-US" sz="1200" dirty="0"/>
          </a:p>
          <a:p>
            <a:pPr indent="0" marL="0">
              <a:buNone/>
            </a:pPr>
            <a:r>
              <a:rPr lang="en-US" sz="1200" dirty="0">
                <a:solidFill>
                  <a:srgbClr val="1B1F2A"/>
                </a:solidFill>
                <a:latin typeface="Consolas" pitchFamily="34" charset="0"/>
                <a:ea typeface="Consolas" pitchFamily="34" charset="-122"/>
                <a:cs typeface="Consolas" pitchFamily="34" charset="-120"/>
              </a:rPr>
              <a:t>Columns: Status</a:t>
            </a:r>
            <a:endParaRPr lang="en-US" sz="1200" dirty="0"/>
          </a:p>
        </p:txBody>
      </p:sp>
      <p:sp>
        <p:nvSpPr>
          <p:cNvPr id="24" name="Text 21"/>
          <p:cNvSpPr/>
          <p:nvPr/>
        </p:nvSpPr>
        <p:spPr>
          <a:xfrm>
            <a:off x="731520" y="4663440"/>
            <a:ext cx="3154680" cy="1188720"/>
          </a:xfrm>
          <a:prstGeom prst="rect">
            <a:avLst/>
          </a:prstGeom>
          <a:noFill/>
          <a:ln/>
        </p:spPr>
        <p:txBody>
          <a:bodyPr wrap="square" lIns="0" tIns="0" rIns="0" bIns="0" rtlCol="0" anchor="t"/>
          <a:lstStyle/>
          <a:p>
            <a:pPr indent="0" marL="0">
              <a:buNone/>
            </a:pPr>
            <a:r>
              <a:rPr lang="en-US" sz="1400" i="1" dirty="0">
                <a:solidFill>
                  <a:srgbClr val="5B6475"/>
                </a:solidFill>
                <a:latin typeface="Segoe UI" pitchFamily="34" charset="0"/>
                <a:ea typeface="Segoe UI" pitchFamily="34" charset="-122"/>
                <a:cs typeface="Segoe UI" pitchFamily="34" charset="-120"/>
              </a:rPr>
              <a:t>Day-to-day work. Drag cards from Todo to Done.</a:t>
            </a:r>
            <a:endParaRPr lang="en-US" sz="1400" dirty="0"/>
          </a:p>
        </p:txBody>
      </p:sp>
      <p:sp>
        <p:nvSpPr>
          <p:cNvPr id="25" name="Shape 22"/>
          <p:cNvSpPr/>
          <p:nvPr/>
        </p:nvSpPr>
        <p:spPr>
          <a:xfrm>
            <a:off x="4297680" y="1463040"/>
            <a:ext cx="3520440" cy="4297680"/>
          </a:xfrm>
          <a:prstGeom prst="rect">
            <a:avLst/>
          </a:prstGeom>
          <a:solidFill>
            <a:srgbClr val="FFFFFF"/>
          </a:solidFill>
          <a:ln w="12700">
            <a:solidFill>
              <a:srgbClr val="DDD7C9"/>
            </a:solidFill>
            <a:prstDash val="solid"/>
          </a:ln>
        </p:spPr>
      </p:sp>
      <p:sp>
        <p:nvSpPr>
          <p:cNvPr id="26" name="Shape 23"/>
          <p:cNvSpPr/>
          <p:nvPr/>
        </p:nvSpPr>
        <p:spPr>
          <a:xfrm>
            <a:off x="4297680" y="1463040"/>
            <a:ext cx="3520440" cy="548640"/>
          </a:xfrm>
          <a:prstGeom prst="rect">
            <a:avLst/>
          </a:prstGeom>
          <a:solidFill>
            <a:srgbClr val="14213D"/>
          </a:solidFill>
          <a:ln w="12700">
            <a:solidFill>
              <a:srgbClr val="14213D"/>
            </a:solidFill>
            <a:prstDash val="solid"/>
          </a:ln>
        </p:spPr>
      </p:sp>
      <p:sp>
        <p:nvSpPr>
          <p:cNvPr id="27" name="Text 24"/>
          <p:cNvSpPr/>
          <p:nvPr/>
        </p:nvSpPr>
        <p:spPr>
          <a:xfrm>
            <a:off x="4480560" y="1463040"/>
            <a:ext cx="3154680" cy="548640"/>
          </a:xfrm>
          <a:prstGeom prst="rect">
            <a:avLst/>
          </a:prstGeom>
          <a:noFill/>
          <a:ln/>
        </p:spPr>
        <p:txBody>
          <a:bodyPr wrap="square" lIns="0" tIns="0" rIns="0" bIns="0" rtlCol="0" anchor="ctr"/>
          <a:lstStyle/>
          <a:p>
            <a:pPr indent="0" marL="0">
              <a:buNone/>
            </a:pPr>
            <a:r>
              <a:rPr lang="en-US" sz="2000" b="1" dirty="0">
                <a:solidFill>
                  <a:srgbClr val="F2A541"/>
                </a:solidFill>
                <a:latin typeface="Segoe UI" pitchFamily="34" charset="0"/>
                <a:ea typeface="Segoe UI" pitchFamily="34" charset="-122"/>
                <a:cs typeface="Segoe UI" pitchFamily="34" charset="-120"/>
              </a:rPr>
              <a:t>Roadmap</a:t>
            </a:r>
            <a:endParaRPr lang="en-US" sz="2000" dirty="0"/>
          </a:p>
        </p:txBody>
      </p:sp>
      <p:sp>
        <p:nvSpPr>
          <p:cNvPr id="28" name="Shape 25"/>
          <p:cNvSpPr/>
          <p:nvPr/>
        </p:nvSpPr>
        <p:spPr>
          <a:xfrm>
            <a:off x="4526280" y="2286000"/>
            <a:ext cx="731520" cy="182880"/>
          </a:xfrm>
          <a:prstGeom prst="rect">
            <a:avLst/>
          </a:prstGeom>
          <a:solidFill>
            <a:srgbClr val="22365A"/>
          </a:solidFill>
          <a:ln w="12700">
            <a:solidFill>
              <a:srgbClr val="FFFFFF"/>
            </a:solidFill>
            <a:prstDash val="solid"/>
          </a:ln>
        </p:spPr>
      </p:sp>
      <p:sp>
        <p:nvSpPr>
          <p:cNvPr id="29" name="Shape 26"/>
          <p:cNvSpPr/>
          <p:nvPr/>
        </p:nvSpPr>
        <p:spPr>
          <a:xfrm>
            <a:off x="5074920" y="2560320"/>
            <a:ext cx="914400" cy="182880"/>
          </a:xfrm>
          <a:prstGeom prst="rect">
            <a:avLst/>
          </a:prstGeom>
          <a:solidFill>
            <a:srgbClr val="F2A541"/>
          </a:solidFill>
          <a:ln w="12700">
            <a:solidFill>
              <a:srgbClr val="FFFFFF"/>
            </a:solidFill>
            <a:prstDash val="solid"/>
          </a:ln>
        </p:spPr>
      </p:sp>
      <p:sp>
        <p:nvSpPr>
          <p:cNvPr id="30" name="Shape 27"/>
          <p:cNvSpPr/>
          <p:nvPr/>
        </p:nvSpPr>
        <p:spPr>
          <a:xfrm>
            <a:off x="5806440" y="2834640"/>
            <a:ext cx="1005840" cy="182880"/>
          </a:xfrm>
          <a:prstGeom prst="rect">
            <a:avLst/>
          </a:prstGeom>
          <a:solidFill>
            <a:srgbClr val="22365A"/>
          </a:solidFill>
          <a:ln w="12700">
            <a:solidFill>
              <a:srgbClr val="FFFFFF"/>
            </a:solidFill>
            <a:prstDash val="solid"/>
          </a:ln>
        </p:spPr>
      </p:sp>
      <p:sp>
        <p:nvSpPr>
          <p:cNvPr id="31" name="Shape 28"/>
          <p:cNvSpPr/>
          <p:nvPr/>
        </p:nvSpPr>
        <p:spPr>
          <a:xfrm>
            <a:off x="6629400" y="3108960"/>
            <a:ext cx="548640" cy="182880"/>
          </a:xfrm>
          <a:prstGeom prst="rect">
            <a:avLst/>
          </a:prstGeom>
          <a:solidFill>
            <a:srgbClr val="F2A541"/>
          </a:solidFill>
          <a:ln w="12700">
            <a:solidFill>
              <a:srgbClr val="FFFFFF"/>
            </a:solidFill>
            <a:prstDash val="solid"/>
          </a:ln>
        </p:spPr>
      </p:sp>
      <p:sp>
        <p:nvSpPr>
          <p:cNvPr id="32" name="Shape 29"/>
          <p:cNvSpPr/>
          <p:nvPr/>
        </p:nvSpPr>
        <p:spPr>
          <a:xfrm>
            <a:off x="6995160" y="3383280"/>
            <a:ext cx="594360" cy="182880"/>
          </a:xfrm>
          <a:prstGeom prst="rect">
            <a:avLst/>
          </a:prstGeom>
          <a:solidFill>
            <a:srgbClr val="22365A"/>
          </a:solidFill>
          <a:ln w="12700">
            <a:solidFill>
              <a:srgbClr val="FFFFFF"/>
            </a:solidFill>
            <a:prstDash val="solid"/>
          </a:ln>
        </p:spPr>
      </p:sp>
      <p:sp>
        <p:nvSpPr>
          <p:cNvPr id="33" name="Text 30"/>
          <p:cNvSpPr/>
          <p:nvPr/>
        </p:nvSpPr>
        <p:spPr>
          <a:xfrm>
            <a:off x="4480560" y="3840480"/>
            <a:ext cx="3154680" cy="914400"/>
          </a:xfrm>
          <a:prstGeom prst="rect">
            <a:avLst/>
          </a:prstGeom>
          <a:noFill/>
          <a:ln/>
        </p:spPr>
        <p:txBody>
          <a:bodyPr wrap="square" lIns="0" tIns="0" rIns="0" bIns="0" rtlCol="0" anchor="t"/>
          <a:lstStyle/>
          <a:p>
            <a:pPr indent="0" marL="0">
              <a:buNone/>
            </a:pPr>
            <a:r>
              <a:rPr lang="en-US" sz="1200" dirty="0">
                <a:solidFill>
                  <a:srgbClr val="1B1F2A"/>
                </a:solidFill>
                <a:latin typeface="Consolas" pitchFamily="34" charset="0"/>
                <a:ea typeface="Consolas" pitchFamily="34" charset="-122"/>
                <a:cs typeface="Consolas" pitchFamily="34" charset="-120"/>
              </a:rPr>
              <a:t>Layout: Roadmap</a:t>
            </a:r>
            <a:endParaRPr lang="en-US" sz="1200" dirty="0"/>
          </a:p>
          <a:p>
            <a:pPr indent="0" marL="0">
              <a:buNone/>
            </a:pPr>
            <a:r>
              <a:rPr lang="en-US" sz="1200" dirty="0">
                <a:solidFill>
                  <a:srgbClr val="1B1F2A"/>
                </a:solidFill>
                <a:latin typeface="Consolas" pitchFamily="34" charset="0"/>
                <a:ea typeface="Consolas" pitchFamily="34" charset="-122"/>
                <a:cs typeface="Consolas" pitchFamily="34" charset="-120"/>
              </a:rPr>
              <a:t>Dates: Target date</a:t>
            </a:r>
            <a:endParaRPr lang="en-US" sz="1200" dirty="0"/>
          </a:p>
          <a:p>
            <a:pPr indent="0" marL="0">
              <a:buNone/>
            </a:pPr>
            <a:r>
              <a:rPr lang="en-US" sz="1200" dirty="0">
                <a:solidFill>
                  <a:srgbClr val="1B1F2A"/>
                </a:solidFill>
                <a:latin typeface="Consolas" pitchFamily="34" charset="0"/>
                <a:ea typeface="Consolas" pitchFamily="34" charset="-122"/>
                <a:cs typeface="Consolas" pitchFamily="34" charset="-120"/>
              </a:rPr>
              <a:t>Group by: Milestone</a:t>
            </a:r>
            <a:endParaRPr lang="en-US" sz="1200" dirty="0"/>
          </a:p>
        </p:txBody>
      </p:sp>
      <p:sp>
        <p:nvSpPr>
          <p:cNvPr id="34" name="Text 31"/>
          <p:cNvSpPr/>
          <p:nvPr/>
        </p:nvSpPr>
        <p:spPr>
          <a:xfrm>
            <a:off x="4480560" y="4663440"/>
            <a:ext cx="3154680" cy="1188720"/>
          </a:xfrm>
          <a:prstGeom prst="rect">
            <a:avLst/>
          </a:prstGeom>
          <a:noFill/>
          <a:ln/>
        </p:spPr>
        <p:txBody>
          <a:bodyPr wrap="square" lIns="0" tIns="0" rIns="0" bIns="0" rtlCol="0" anchor="t"/>
          <a:lstStyle/>
          <a:p>
            <a:pPr indent="0" marL="0">
              <a:buNone/>
            </a:pPr>
            <a:r>
              <a:rPr lang="en-US" sz="1400" i="1" dirty="0">
                <a:solidFill>
                  <a:srgbClr val="5B6475"/>
                </a:solidFill>
                <a:latin typeface="Segoe UI" pitchFamily="34" charset="0"/>
                <a:ea typeface="Segoe UI" pitchFamily="34" charset="-122"/>
                <a:cs typeface="Segoe UI" pitchFamily="34" charset="-120"/>
              </a:rPr>
              <a:t>Shows the schedule. Are tasks piling up before one deadline?</a:t>
            </a:r>
            <a:endParaRPr lang="en-US" sz="1400" dirty="0"/>
          </a:p>
        </p:txBody>
      </p:sp>
      <p:sp>
        <p:nvSpPr>
          <p:cNvPr id="35" name="Shape 32"/>
          <p:cNvSpPr/>
          <p:nvPr/>
        </p:nvSpPr>
        <p:spPr>
          <a:xfrm>
            <a:off x="8046720" y="1463040"/>
            <a:ext cx="3520440" cy="4297680"/>
          </a:xfrm>
          <a:prstGeom prst="rect">
            <a:avLst/>
          </a:prstGeom>
          <a:solidFill>
            <a:srgbClr val="FFFFFF"/>
          </a:solidFill>
          <a:ln w="12700">
            <a:solidFill>
              <a:srgbClr val="DDD7C9"/>
            </a:solidFill>
            <a:prstDash val="solid"/>
          </a:ln>
        </p:spPr>
      </p:sp>
      <p:sp>
        <p:nvSpPr>
          <p:cNvPr id="36" name="Shape 33"/>
          <p:cNvSpPr/>
          <p:nvPr/>
        </p:nvSpPr>
        <p:spPr>
          <a:xfrm>
            <a:off x="8046720" y="1463040"/>
            <a:ext cx="3520440" cy="548640"/>
          </a:xfrm>
          <a:prstGeom prst="rect">
            <a:avLst/>
          </a:prstGeom>
          <a:solidFill>
            <a:srgbClr val="14213D"/>
          </a:solidFill>
          <a:ln w="12700">
            <a:solidFill>
              <a:srgbClr val="14213D"/>
            </a:solidFill>
            <a:prstDash val="solid"/>
          </a:ln>
        </p:spPr>
      </p:sp>
      <p:sp>
        <p:nvSpPr>
          <p:cNvPr id="37" name="Text 34"/>
          <p:cNvSpPr/>
          <p:nvPr/>
        </p:nvSpPr>
        <p:spPr>
          <a:xfrm>
            <a:off x="8229600" y="1463040"/>
            <a:ext cx="3154680" cy="548640"/>
          </a:xfrm>
          <a:prstGeom prst="rect">
            <a:avLst/>
          </a:prstGeom>
          <a:noFill/>
          <a:ln/>
        </p:spPr>
        <p:txBody>
          <a:bodyPr wrap="square" lIns="0" tIns="0" rIns="0" bIns="0" rtlCol="0" anchor="ctr"/>
          <a:lstStyle/>
          <a:p>
            <a:pPr indent="0" marL="0">
              <a:buNone/>
            </a:pPr>
            <a:r>
              <a:rPr lang="en-US" sz="2000" b="1" dirty="0">
                <a:solidFill>
                  <a:srgbClr val="F2A541"/>
                </a:solidFill>
                <a:latin typeface="Segoe UI" pitchFamily="34" charset="0"/>
                <a:ea typeface="Segoe UI" pitchFamily="34" charset="-122"/>
                <a:cs typeface="Segoe UI" pitchFamily="34" charset="-120"/>
              </a:rPr>
              <a:t>Table</a:t>
            </a:r>
            <a:endParaRPr lang="en-US" sz="2000" dirty="0"/>
          </a:p>
        </p:txBody>
      </p:sp>
      <p:sp>
        <p:nvSpPr>
          <p:cNvPr id="38" name="Shape 35"/>
          <p:cNvSpPr/>
          <p:nvPr/>
        </p:nvSpPr>
        <p:spPr>
          <a:xfrm>
            <a:off x="8229600" y="2194560"/>
            <a:ext cx="3154680" cy="384048"/>
          </a:xfrm>
          <a:prstGeom prst="rect">
            <a:avLst/>
          </a:prstGeom>
          <a:solidFill>
            <a:srgbClr val="EEF1F6"/>
          </a:solidFill>
          <a:ln w="12700">
            <a:solidFill>
              <a:srgbClr val="EEF1F6"/>
            </a:solidFill>
            <a:prstDash val="solid"/>
          </a:ln>
        </p:spPr>
      </p:sp>
      <p:sp>
        <p:nvSpPr>
          <p:cNvPr id="39" name="Text 36"/>
          <p:cNvSpPr/>
          <p:nvPr/>
        </p:nvSpPr>
        <p:spPr>
          <a:xfrm>
            <a:off x="8321040" y="2194560"/>
            <a:ext cx="2971800" cy="384048"/>
          </a:xfrm>
          <a:prstGeom prst="rect">
            <a:avLst/>
          </a:prstGeom>
          <a:noFill/>
          <a:ln/>
        </p:spPr>
        <p:txBody>
          <a:bodyPr wrap="square" lIns="0" tIns="0" rIns="0" bIns="0" rtlCol="0" anchor="ctr"/>
          <a:lstStyle/>
          <a:p>
            <a:pPr indent="0" marL="0">
              <a:buNone/>
            </a:pPr>
            <a:r>
              <a:rPr lang="en-US" sz="1200" b="1" dirty="0">
                <a:solidFill>
                  <a:srgbClr val="14213D"/>
                </a:solidFill>
                <a:latin typeface="Segoe UI" pitchFamily="34" charset="0"/>
                <a:ea typeface="Segoe UI" pitchFamily="34" charset="-122"/>
                <a:cs typeface="Segoe UI" pitchFamily="34" charset="-120"/>
              </a:rPr>
              <a:t>▸ Must have</a:t>
            </a:r>
            <a:pPr indent="0" marL="0">
              <a:buNone/>
            </a:pPr>
            <a:r>
              <a:rPr lang="en-US" sz="1200" b="1" dirty="0">
                <a:solidFill>
                  <a:srgbClr val="B8741A"/>
                </a:solidFill>
                <a:latin typeface="Segoe UI" pitchFamily="34" charset="0"/>
                <a:ea typeface="Segoe UI" pitchFamily="34" charset="-122"/>
                <a:cs typeface="Segoe UI" pitchFamily="34" charset="-120"/>
              </a:rPr>
              <a:t>     Σ 44 hrs</a:t>
            </a:r>
            <a:endParaRPr lang="en-US" sz="1200" dirty="0"/>
          </a:p>
        </p:txBody>
      </p:sp>
      <p:sp>
        <p:nvSpPr>
          <p:cNvPr id="40" name="Shape 37"/>
          <p:cNvSpPr/>
          <p:nvPr/>
        </p:nvSpPr>
        <p:spPr>
          <a:xfrm>
            <a:off x="8229600" y="2670048"/>
            <a:ext cx="3154680" cy="384048"/>
          </a:xfrm>
          <a:prstGeom prst="rect">
            <a:avLst/>
          </a:prstGeom>
          <a:solidFill>
            <a:srgbClr val="EEF1F6"/>
          </a:solidFill>
          <a:ln w="12700">
            <a:solidFill>
              <a:srgbClr val="EEF1F6"/>
            </a:solidFill>
            <a:prstDash val="solid"/>
          </a:ln>
        </p:spPr>
      </p:sp>
      <p:sp>
        <p:nvSpPr>
          <p:cNvPr id="41" name="Text 38"/>
          <p:cNvSpPr/>
          <p:nvPr/>
        </p:nvSpPr>
        <p:spPr>
          <a:xfrm>
            <a:off x="8321040" y="2670048"/>
            <a:ext cx="2971800" cy="384048"/>
          </a:xfrm>
          <a:prstGeom prst="rect">
            <a:avLst/>
          </a:prstGeom>
          <a:noFill/>
          <a:ln/>
        </p:spPr>
        <p:txBody>
          <a:bodyPr wrap="square" lIns="0" tIns="0" rIns="0" bIns="0" rtlCol="0" anchor="ctr"/>
          <a:lstStyle/>
          <a:p>
            <a:pPr indent="0" marL="0">
              <a:buNone/>
            </a:pPr>
            <a:r>
              <a:rPr lang="en-US" sz="1200" b="1" dirty="0">
                <a:solidFill>
                  <a:srgbClr val="14213D"/>
                </a:solidFill>
                <a:latin typeface="Segoe UI" pitchFamily="34" charset="0"/>
                <a:ea typeface="Segoe UI" pitchFamily="34" charset="-122"/>
                <a:cs typeface="Segoe UI" pitchFamily="34" charset="-120"/>
              </a:rPr>
              <a:t>▸ Should have</a:t>
            </a:r>
            <a:pPr indent="0" marL="0">
              <a:buNone/>
            </a:pPr>
            <a:r>
              <a:rPr lang="en-US" sz="1200" b="1" dirty="0">
                <a:solidFill>
                  <a:srgbClr val="B8741A"/>
                </a:solidFill>
                <a:latin typeface="Segoe UI" pitchFamily="34" charset="0"/>
                <a:ea typeface="Segoe UI" pitchFamily="34" charset="-122"/>
                <a:cs typeface="Segoe UI" pitchFamily="34" charset="-120"/>
              </a:rPr>
              <a:t>     Σ 16 hrs</a:t>
            </a:r>
            <a:endParaRPr lang="en-US" sz="1200" dirty="0"/>
          </a:p>
        </p:txBody>
      </p:sp>
      <p:sp>
        <p:nvSpPr>
          <p:cNvPr id="42" name="Shape 39"/>
          <p:cNvSpPr/>
          <p:nvPr/>
        </p:nvSpPr>
        <p:spPr>
          <a:xfrm>
            <a:off x="8229600" y="3145536"/>
            <a:ext cx="3154680" cy="384048"/>
          </a:xfrm>
          <a:prstGeom prst="rect">
            <a:avLst/>
          </a:prstGeom>
          <a:solidFill>
            <a:srgbClr val="EEF1F6"/>
          </a:solidFill>
          <a:ln w="12700">
            <a:solidFill>
              <a:srgbClr val="EEF1F6"/>
            </a:solidFill>
            <a:prstDash val="solid"/>
          </a:ln>
        </p:spPr>
      </p:sp>
      <p:sp>
        <p:nvSpPr>
          <p:cNvPr id="43" name="Text 40"/>
          <p:cNvSpPr/>
          <p:nvPr/>
        </p:nvSpPr>
        <p:spPr>
          <a:xfrm>
            <a:off x="8321040" y="3145536"/>
            <a:ext cx="2971800" cy="384048"/>
          </a:xfrm>
          <a:prstGeom prst="rect">
            <a:avLst/>
          </a:prstGeom>
          <a:noFill/>
          <a:ln/>
        </p:spPr>
        <p:txBody>
          <a:bodyPr wrap="square" lIns="0" tIns="0" rIns="0" bIns="0" rtlCol="0" anchor="ctr"/>
          <a:lstStyle/>
          <a:p>
            <a:pPr indent="0" marL="0">
              <a:buNone/>
            </a:pPr>
            <a:r>
              <a:rPr lang="en-US" sz="1200" b="1" dirty="0">
                <a:solidFill>
                  <a:srgbClr val="14213D"/>
                </a:solidFill>
                <a:latin typeface="Segoe UI" pitchFamily="34" charset="0"/>
                <a:ea typeface="Segoe UI" pitchFamily="34" charset="-122"/>
                <a:cs typeface="Segoe UI" pitchFamily="34" charset="-120"/>
              </a:rPr>
              <a:t>▸ Nice to have</a:t>
            </a:r>
            <a:pPr indent="0" marL="0">
              <a:buNone/>
            </a:pPr>
            <a:r>
              <a:rPr lang="en-US" sz="1200" b="1" dirty="0">
                <a:solidFill>
                  <a:srgbClr val="B8741A"/>
                </a:solidFill>
                <a:latin typeface="Segoe UI" pitchFamily="34" charset="0"/>
                <a:ea typeface="Segoe UI" pitchFamily="34" charset="-122"/>
                <a:cs typeface="Segoe UI" pitchFamily="34" charset="-120"/>
              </a:rPr>
              <a:t>     Σ 7 hrs</a:t>
            </a:r>
            <a:endParaRPr lang="en-US" sz="1200" dirty="0"/>
          </a:p>
        </p:txBody>
      </p:sp>
      <p:sp>
        <p:nvSpPr>
          <p:cNvPr id="44" name="Text 41"/>
          <p:cNvSpPr/>
          <p:nvPr/>
        </p:nvSpPr>
        <p:spPr>
          <a:xfrm>
            <a:off x="8229600" y="3840480"/>
            <a:ext cx="3154680" cy="914400"/>
          </a:xfrm>
          <a:prstGeom prst="rect">
            <a:avLst/>
          </a:prstGeom>
          <a:noFill/>
          <a:ln/>
        </p:spPr>
        <p:txBody>
          <a:bodyPr wrap="square" lIns="0" tIns="0" rIns="0" bIns="0" rtlCol="0" anchor="t"/>
          <a:lstStyle/>
          <a:p>
            <a:pPr indent="0" marL="0">
              <a:buNone/>
            </a:pPr>
            <a:r>
              <a:rPr lang="en-US" sz="1200" dirty="0">
                <a:solidFill>
                  <a:srgbClr val="1B1F2A"/>
                </a:solidFill>
                <a:latin typeface="Consolas" pitchFamily="34" charset="0"/>
                <a:ea typeface="Consolas" pitchFamily="34" charset="-122"/>
                <a:cs typeface="Consolas" pitchFamily="34" charset="-120"/>
              </a:rPr>
              <a:t>Layout: Table</a:t>
            </a:r>
            <a:endParaRPr lang="en-US" sz="1200" dirty="0"/>
          </a:p>
          <a:p>
            <a:pPr indent="0" marL="0">
              <a:buNone/>
            </a:pPr>
            <a:r>
              <a:rPr lang="en-US" sz="1200" dirty="0">
                <a:solidFill>
                  <a:srgbClr val="1B1F2A"/>
                </a:solidFill>
                <a:latin typeface="Consolas" pitchFamily="34" charset="0"/>
                <a:ea typeface="Consolas" pitchFamily="34" charset="-122"/>
                <a:cs typeface="Consolas" pitchFamily="34" charset="-120"/>
              </a:rPr>
              <a:t>Group by: Scope</a:t>
            </a:r>
            <a:endParaRPr lang="en-US" sz="1200" dirty="0"/>
          </a:p>
          <a:p>
            <a:pPr indent="0" marL="0">
              <a:buNone/>
            </a:pPr>
            <a:r>
              <a:rPr lang="en-US" sz="1200" dirty="0">
                <a:solidFill>
                  <a:srgbClr val="1B1F2A"/>
                </a:solidFill>
                <a:latin typeface="Consolas" pitchFamily="34" charset="0"/>
                <a:ea typeface="Consolas" pitchFamily="34" charset="-122"/>
                <a:cs typeface="Consolas" pitchFamily="34" charset="-120"/>
              </a:rPr>
              <a:t>Field sum: Estimate (hrs)</a:t>
            </a:r>
            <a:endParaRPr lang="en-US" sz="1200" dirty="0"/>
          </a:p>
        </p:txBody>
      </p:sp>
      <p:sp>
        <p:nvSpPr>
          <p:cNvPr id="45" name="Text 42"/>
          <p:cNvSpPr/>
          <p:nvPr/>
        </p:nvSpPr>
        <p:spPr>
          <a:xfrm>
            <a:off x="8229600" y="4663440"/>
            <a:ext cx="3154680" cy="1188720"/>
          </a:xfrm>
          <a:prstGeom prst="rect">
            <a:avLst/>
          </a:prstGeom>
          <a:noFill/>
          <a:ln/>
        </p:spPr>
        <p:txBody>
          <a:bodyPr wrap="square" lIns="0" tIns="0" rIns="0" bIns="0" rtlCol="0" anchor="t"/>
          <a:lstStyle/>
          <a:p>
            <a:pPr indent="0" marL="0">
              <a:buNone/>
            </a:pPr>
            <a:r>
              <a:rPr lang="en-US" sz="1400" i="1" dirty="0">
                <a:solidFill>
                  <a:srgbClr val="5B6475"/>
                </a:solidFill>
                <a:latin typeface="Segoe UI" pitchFamily="34" charset="0"/>
                <a:ea typeface="Segoe UI" pitchFamily="34" charset="-122"/>
                <a:cs typeface="Segoe UI" pitchFamily="34" charset="-120"/>
              </a:rPr>
              <a:t>Shows the hours. Does the Must-have total fit your time?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PLANNING FOR PROBLEMS</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Track risks as issues</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Text 5"/>
          <p:cNvSpPr/>
          <p:nvPr/>
        </p:nvSpPr>
        <p:spPr>
          <a:xfrm>
            <a:off x="548640" y="1417320"/>
            <a:ext cx="11064240" cy="411480"/>
          </a:xfrm>
          <a:prstGeom prst="rect">
            <a:avLst/>
          </a:prstGeom>
          <a:noFill/>
          <a:ln/>
        </p:spPr>
        <p:txBody>
          <a:bodyPr wrap="square" lIns="0" tIns="0" rIns="0" bIns="0" rtlCol="0" anchor="ctr"/>
          <a:lstStyle/>
          <a:p>
            <a:pPr indent="0" marL="0">
              <a:buNone/>
            </a:pPr>
            <a:r>
              <a:rPr lang="en-US" sz="1800" dirty="0">
                <a:solidFill>
                  <a:srgbClr val="1B1F2A"/>
                </a:solidFill>
                <a:latin typeface="Segoe UI" pitchFamily="34" charset="0"/>
                <a:ea typeface="Segoe UI" pitchFamily="34" charset="-122"/>
                <a:cs typeface="Segoe UI" pitchFamily="34" charset="-120"/>
              </a:rPr>
              <a:t>Label a risk issue risk. Give it a fallback plan and a date to decide by.</a:t>
            </a:r>
            <a:endParaRPr lang="en-US" sz="1800" dirty="0"/>
          </a:p>
        </p:txBody>
      </p:sp>
      <p:sp>
        <p:nvSpPr>
          <p:cNvPr id="9" name="Shape 6"/>
          <p:cNvSpPr/>
          <p:nvPr/>
        </p:nvSpPr>
        <p:spPr>
          <a:xfrm>
            <a:off x="548640" y="2057400"/>
            <a:ext cx="5440680" cy="2651760"/>
          </a:xfrm>
          <a:prstGeom prst="rect">
            <a:avLst/>
          </a:prstGeom>
          <a:solidFill>
            <a:srgbClr val="FFFFFF"/>
          </a:solidFill>
          <a:ln w="19050">
            <a:solidFill>
              <a:srgbClr val="B60205"/>
            </a:solidFill>
            <a:prstDash val="solid"/>
          </a:ln>
        </p:spPr>
      </p:sp>
      <p:sp>
        <p:nvSpPr>
          <p:cNvPr id="10" name="Shape 7"/>
          <p:cNvSpPr/>
          <p:nvPr/>
        </p:nvSpPr>
        <p:spPr>
          <a:xfrm>
            <a:off x="548640" y="2057400"/>
            <a:ext cx="109728" cy="2651760"/>
          </a:xfrm>
          <a:prstGeom prst="rect">
            <a:avLst/>
          </a:prstGeom>
          <a:solidFill>
            <a:srgbClr val="B60205"/>
          </a:solidFill>
          <a:ln w="12700">
            <a:solidFill>
              <a:srgbClr val="B60205"/>
            </a:solidFill>
            <a:prstDash val="solid"/>
          </a:ln>
        </p:spPr>
      </p:sp>
      <p:sp>
        <p:nvSpPr>
          <p:cNvPr id="11" name="Text 8"/>
          <p:cNvSpPr/>
          <p:nvPr/>
        </p:nvSpPr>
        <p:spPr>
          <a:xfrm>
            <a:off x="868680" y="2240280"/>
            <a:ext cx="4937760" cy="731520"/>
          </a:xfrm>
          <a:prstGeom prst="rect">
            <a:avLst/>
          </a:prstGeom>
          <a:noFill/>
          <a:ln/>
        </p:spPr>
        <p:txBody>
          <a:bodyPr wrap="square" lIns="0" tIns="0" rIns="0" bIns="0" rtlCol="0" anchor="t"/>
          <a:lstStyle/>
          <a:p>
            <a:pPr indent="0" marL="0">
              <a:buNone/>
            </a:pPr>
            <a:r>
              <a:rPr lang="en-US" sz="1700" b="1" dirty="0">
                <a:solidFill>
                  <a:srgbClr val="1B1F2A"/>
                </a:solidFill>
                <a:latin typeface="Segoe UI" pitchFamily="34" charset="0"/>
                <a:ea typeface="Segoe UI" pitchFamily="34" charset="-122"/>
                <a:cs typeface="Segoe UI" pitchFamily="34" charset="-120"/>
              </a:rPr>
              <a:t>RISK: Ship movement may take longer than planned</a:t>
            </a:r>
            <a:endParaRPr lang="en-US" sz="1700" dirty="0"/>
          </a:p>
        </p:txBody>
      </p:sp>
      <p:sp>
        <p:nvSpPr>
          <p:cNvPr id="12" name="Text 9"/>
          <p:cNvSpPr/>
          <p:nvPr/>
        </p:nvSpPr>
        <p:spPr>
          <a:xfrm>
            <a:off x="868680" y="3017520"/>
            <a:ext cx="4937760" cy="1600200"/>
          </a:xfrm>
          <a:prstGeom prst="rect">
            <a:avLst/>
          </a:prstGeom>
          <a:noFill/>
          <a:ln/>
        </p:spPr>
        <p:txBody>
          <a:bodyPr wrap="square" lIns="0" tIns="0" rIns="0" bIns="0" rtlCol="0" anchor="t"/>
          <a:lstStyle/>
          <a:p>
            <a:pPr indent="0" marL="0">
              <a:spcAft>
                <a:spcPts val="800"/>
              </a:spcAft>
              <a:buNone/>
            </a:pPr>
            <a:r>
              <a:rPr lang="en-US" sz="1400" b="1" dirty="0">
                <a:solidFill>
                  <a:srgbClr val="1B1F2A"/>
                </a:solidFill>
                <a:latin typeface="Segoe UI" pitchFamily="34" charset="0"/>
                <a:ea typeface="Segoe UI" pitchFamily="34" charset="-122"/>
                <a:cs typeface="Segoe UI" pitchFamily="34" charset="-120"/>
              </a:rPr>
              <a:t>Why it's risky: </a:t>
            </a:r>
            <a:pPr indent="0" marL="0">
              <a:spcAft>
                <a:spcPts val="800"/>
              </a:spcAft>
              <a:buNone/>
            </a:pPr>
            <a:r>
              <a:rPr lang="en-US" sz="1400" dirty="0">
                <a:solidFill>
                  <a:srgbClr val="1B1F2A"/>
                </a:solidFill>
                <a:latin typeface="Segoe UI" pitchFamily="34" charset="0"/>
                <a:ea typeface="Segoe UI" pitchFamily="34" charset="-122"/>
                <a:cs typeface="Segoe UI" pitchFamily="34" charset="-120"/>
              </a:rPr>
              <a:t>Steering ships around rocks could be harder than estimated.</a:t>
            </a:r>
            <a:endParaRPr lang="en-US" sz="1400" dirty="0"/>
          </a:p>
          <a:p>
            <a:pPr indent="0" marL="0">
              <a:spcAft>
                <a:spcPts val="800"/>
              </a:spcAft>
              <a:buNone/>
            </a:pPr>
            <a:r>
              <a:rPr lang="en-US" sz="1400" b="1" dirty="0">
                <a:solidFill>
                  <a:srgbClr val="2E7D32"/>
                </a:solidFill>
                <a:latin typeface="Segoe UI" pitchFamily="34" charset="0"/>
                <a:ea typeface="Segoe UI" pitchFamily="34" charset="-122"/>
                <a:cs typeface="Segoe UI" pitchFamily="34" charset="-120"/>
              </a:rPr>
              <a:t>Fallback: </a:t>
            </a:r>
            <a:pPr indent="0" marL="0">
              <a:spcAft>
                <a:spcPts val="800"/>
              </a:spcAft>
              <a:buNone/>
            </a:pPr>
            <a:r>
              <a:rPr lang="en-US" sz="1400" dirty="0">
                <a:solidFill>
                  <a:srgbClr val="1B1F2A"/>
                </a:solidFill>
                <a:latin typeface="Segoe UI" pitchFamily="34" charset="0"/>
                <a:ea typeface="Segoe UI" pitchFamily="34" charset="-122"/>
                <a:cs typeface="Segoe UI" pitchFamily="34" charset="-120"/>
              </a:rPr>
              <a:t>Ships follow fixed paths instead.</a:t>
            </a:r>
            <a:endParaRPr lang="en-US" sz="1400" dirty="0"/>
          </a:p>
          <a:p>
            <a:pPr indent="0" marL="0">
              <a:spcAft>
                <a:spcPts val="800"/>
              </a:spcAft>
              <a:buNone/>
            </a:pPr>
            <a:r>
              <a:rPr lang="en-US" sz="1400" b="1" dirty="0">
                <a:solidFill>
                  <a:srgbClr val="1B1F2A"/>
                </a:solidFill>
                <a:latin typeface="Segoe UI" pitchFamily="34" charset="0"/>
                <a:ea typeface="Segoe UI" pitchFamily="34" charset="-122"/>
                <a:cs typeface="Segoe UI" pitchFamily="34" charset="-120"/>
              </a:rPr>
              <a:t>Acceptance criteria: </a:t>
            </a:r>
            <a:pPr indent="0" marL="0">
              <a:spcAft>
                <a:spcPts val="800"/>
              </a:spcAft>
              <a:buNone/>
            </a:pPr>
            <a:r>
              <a:rPr lang="en-US" sz="1400" dirty="0">
                <a:solidFill>
                  <a:srgbClr val="1B1F2A"/>
                </a:solidFill>
                <a:latin typeface="Segoe UI" pitchFamily="34" charset="0"/>
                <a:ea typeface="Segoe UI" pitchFamily="34" charset="-122"/>
                <a:cs typeface="Segoe UI" pitchFamily="34" charset="-120"/>
              </a:rPr>
              <a:t>the decision is recorded in a comment. Decide by Nov 3 (Prototype)</a:t>
            </a:r>
            <a:endParaRPr lang="en-US" sz="1400" dirty="0"/>
          </a:p>
        </p:txBody>
      </p:sp>
      <p:sp>
        <p:nvSpPr>
          <p:cNvPr id="13" name="Shape 10"/>
          <p:cNvSpPr/>
          <p:nvPr/>
        </p:nvSpPr>
        <p:spPr>
          <a:xfrm>
            <a:off x="6172200" y="2057400"/>
            <a:ext cx="5440680" cy="2651760"/>
          </a:xfrm>
          <a:prstGeom prst="rect">
            <a:avLst/>
          </a:prstGeom>
          <a:solidFill>
            <a:srgbClr val="FFFFFF"/>
          </a:solidFill>
          <a:ln w="19050">
            <a:solidFill>
              <a:srgbClr val="B60205"/>
            </a:solidFill>
            <a:prstDash val="solid"/>
          </a:ln>
        </p:spPr>
      </p:sp>
      <p:sp>
        <p:nvSpPr>
          <p:cNvPr id="14" name="Shape 11"/>
          <p:cNvSpPr/>
          <p:nvPr/>
        </p:nvSpPr>
        <p:spPr>
          <a:xfrm>
            <a:off x="6172200" y="2057400"/>
            <a:ext cx="109728" cy="2651760"/>
          </a:xfrm>
          <a:prstGeom prst="rect">
            <a:avLst/>
          </a:prstGeom>
          <a:solidFill>
            <a:srgbClr val="B60205"/>
          </a:solidFill>
          <a:ln w="12700">
            <a:solidFill>
              <a:srgbClr val="B60205"/>
            </a:solidFill>
            <a:prstDash val="solid"/>
          </a:ln>
        </p:spPr>
      </p:sp>
      <p:sp>
        <p:nvSpPr>
          <p:cNvPr id="15" name="Text 12"/>
          <p:cNvSpPr/>
          <p:nvPr/>
        </p:nvSpPr>
        <p:spPr>
          <a:xfrm>
            <a:off x="6492240" y="2240280"/>
            <a:ext cx="4937760" cy="731520"/>
          </a:xfrm>
          <a:prstGeom prst="rect">
            <a:avLst/>
          </a:prstGeom>
          <a:noFill/>
          <a:ln/>
        </p:spPr>
        <p:txBody>
          <a:bodyPr wrap="square" lIns="0" tIns="0" rIns="0" bIns="0" rtlCol="0" anchor="t"/>
          <a:lstStyle/>
          <a:p>
            <a:pPr indent="0" marL="0">
              <a:buNone/>
            </a:pPr>
            <a:r>
              <a:rPr lang="en-US" sz="1700" b="1" dirty="0">
                <a:solidFill>
                  <a:srgbClr val="1B1F2A"/>
                </a:solidFill>
                <a:latin typeface="Segoe UI" pitchFamily="34" charset="0"/>
                <a:ea typeface="Segoe UI" pitchFamily="34" charset="-122"/>
                <a:cs typeface="Segoe UI" pitchFamily="34" charset="-120"/>
              </a:rPr>
              <a:t>RISK: Pixel art may not be finished in time</a:t>
            </a:r>
            <a:endParaRPr lang="en-US" sz="1700" dirty="0"/>
          </a:p>
        </p:txBody>
      </p:sp>
      <p:sp>
        <p:nvSpPr>
          <p:cNvPr id="16" name="Text 13"/>
          <p:cNvSpPr/>
          <p:nvPr/>
        </p:nvSpPr>
        <p:spPr>
          <a:xfrm>
            <a:off x="6492240" y="3017520"/>
            <a:ext cx="4937760" cy="1600200"/>
          </a:xfrm>
          <a:prstGeom prst="rect">
            <a:avLst/>
          </a:prstGeom>
          <a:noFill/>
          <a:ln/>
        </p:spPr>
        <p:txBody>
          <a:bodyPr wrap="square" lIns="0" tIns="0" rIns="0" bIns="0" rtlCol="0" anchor="t"/>
          <a:lstStyle/>
          <a:p>
            <a:pPr indent="0" marL="0">
              <a:spcAft>
                <a:spcPts val="800"/>
              </a:spcAft>
              <a:buNone/>
            </a:pPr>
            <a:r>
              <a:rPr lang="en-US" sz="1400" b="1" dirty="0">
                <a:solidFill>
                  <a:srgbClr val="1B1F2A"/>
                </a:solidFill>
                <a:latin typeface="Segoe UI" pitchFamily="34" charset="0"/>
                <a:ea typeface="Segoe UI" pitchFamily="34" charset="-122"/>
                <a:cs typeface="Segoe UI" pitchFamily="34" charset="-120"/>
              </a:rPr>
              <a:t>Why it's risky: </a:t>
            </a:r>
            <a:pPr indent="0" marL="0">
              <a:spcAft>
                <a:spcPts val="800"/>
              </a:spcAft>
              <a:buNone/>
            </a:pPr>
            <a:r>
              <a:rPr lang="en-US" sz="1400" dirty="0">
                <a:solidFill>
                  <a:srgbClr val="1B1F2A"/>
                </a:solidFill>
                <a:latin typeface="Segoe UI" pitchFamily="34" charset="0"/>
                <a:ea typeface="Segoe UI" pitchFamily="34" charset="-122"/>
                <a:cs typeface="Segoe UI" pitchFamily="34" charset="-120"/>
              </a:rPr>
              <a:t>Hand-made art is slow.</a:t>
            </a:r>
            <a:endParaRPr lang="en-US" sz="1400" dirty="0"/>
          </a:p>
          <a:p>
            <a:pPr indent="0" marL="0">
              <a:spcAft>
                <a:spcPts val="800"/>
              </a:spcAft>
              <a:buNone/>
            </a:pPr>
            <a:r>
              <a:rPr lang="en-US" sz="1400" b="1" dirty="0">
                <a:solidFill>
                  <a:srgbClr val="2E7D32"/>
                </a:solidFill>
                <a:latin typeface="Segoe UI" pitchFamily="34" charset="0"/>
                <a:ea typeface="Segoe UI" pitchFamily="34" charset="-122"/>
                <a:cs typeface="Segoe UI" pitchFamily="34" charset="-120"/>
              </a:rPr>
              <a:t>Fallback: </a:t>
            </a:r>
            <a:pPr indent="0" marL="0">
              <a:spcAft>
                <a:spcPts val="800"/>
              </a:spcAft>
              <a:buNone/>
            </a:pPr>
            <a:r>
              <a:rPr lang="en-US" sz="1400" dirty="0">
                <a:solidFill>
                  <a:srgbClr val="1B1F2A"/>
                </a:solidFill>
                <a:latin typeface="Segoe UI" pitchFamily="34" charset="0"/>
                <a:ea typeface="Segoe UI" pitchFamily="34" charset="-122"/>
                <a:cs typeface="Segoe UI" pitchFamily="34" charset="-120"/>
              </a:rPr>
              <a:t>Keep the greybox and use a credited free asset pack.</a:t>
            </a:r>
            <a:endParaRPr lang="en-US" sz="1400" dirty="0"/>
          </a:p>
          <a:p>
            <a:pPr indent="0" marL="0">
              <a:spcAft>
                <a:spcPts val="800"/>
              </a:spcAft>
              <a:buNone/>
            </a:pPr>
            <a:r>
              <a:rPr lang="en-US" sz="1400" b="1" dirty="0">
                <a:solidFill>
                  <a:srgbClr val="1B1F2A"/>
                </a:solidFill>
                <a:latin typeface="Segoe UI" pitchFamily="34" charset="0"/>
                <a:ea typeface="Segoe UI" pitchFamily="34" charset="-122"/>
                <a:cs typeface="Segoe UI" pitchFamily="34" charset="-120"/>
              </a:rPr>
              <a:t>Acceptance criteria: </a:t>
            </a:r>
            <a:pPr indent="0" marL="0">
              <a:spcAft>
                <a:spcPts val="800"/>
              </a:spcAft>
              <a:buNone/>
            </a:pPr>
            <a:r>
              <a:rPr lang="en-US" sz="1400" dirty="0">
                <a:solidFill>
                  <a:srgbClr val="1B1F2A"/>
                </a:solidFill>
                <a:latin typeface="Segoe UI" pitchFamily="34" charset="0"/>
                <a:ea typeface="Segoe UI" pitchFamily="34" charset="-122"/>
                <a:cs typeface="Segoe UI" pitchFamily="34" charset="-120"/>
              </a:rPr>
              <a:t>the decision is recorded in a comment. Decide by Nov 17 (Alpha)</a:t>
            </a:r>
            <a:endParaRPr lang="en-US" sz="1400" dirty="0"/>
          </a:p>
        </p:txBody>
      </p:sp>
      <p:sp>
        <p:nvSpPr>
          <p:cNvPr id="17" name="Shape 14"/>
          <p:cNvSpPr/>
          <p:nvPr/>
        </p:nvSpPr>
        <p:spPr>
          <a:xfrm>
            <a:off x="548640" y="4983480"/>
            <a:ext cx="11064240" cy="822960"/>
          </a:xfrm>
          <a:prstGeom prst="rect">
            <a:avLst/>
          </a:prstGeom>
          <a:solidFill>
            <a:srgbClr val="FFF4DF"/>
          </a:solidFill>
          <a:ln w="12700">
            <a:solidFill>
              <a:srgbClr val="F2A541"/>
            </a:solidFill>
            <a:prstDash val="solid"/>
          </a:ln>
        </p:spPr>
      </p:sp>
      <p:sp>
        <p:nvSpPr>
          <p:cNvPr id="18" name="Shape 15"/>
          <p:cNvSpPr/>
          <p:nvPr/>
        </p:nvSpPr>
        <p:spPr>
          <a:xfrm>
            <a:off x="548640" y="4983480"/>
            <a:ext cx="91440" cy="822960"/>
          </a:xfrm>
          <a:prstGeom prst="rect">
            <a:avLst/>
          </a:prstGeom>
          <a:solidFill>
            <a:srgbClr val="F2A541"/>
          </a:solidFill>
          <a:ln w="12700">
            <a:solidFill>
              <a:srgbClr val="F2A541"/>
            </a:solidFill>
            <a:prstDash val="solid"/>
          </a:ln>
        </p:spPr>
      </p:sp>
      <p:sp>
        <p:nvSpPr>
          <p:cNvPr id="19" name="Text 16"/>
          <p:cNvSpPr/>
          <p:nvPr/>
        </p:nvSpPr>
        <p:spPr>
          <a:xfrm>
            <a:off x="777240" y="5074920"/>
            <a:ext cx="10698480" cy="640080"/>
          </a:xfrm>
          <a:prstGeom prst="rect">
            <a:avLst/>
          </a:prstGeom>
          <a:noFill/>
          <a:ln/>
        </p:spPr>
        <p:txBody>
          <a:bodyPr wrap="square" lIns="0" tIns="0" rIns="0" bIns="0" rtlCol="0" anchor="t"/>
          <a:lstStyle/>
          <a:p>
            <a:pPr indent="0" marL="0">
              <a:spcAft>
                <a:spcPts val="400"/>
              </a:spcAft>
              <a:buNone/>
            </a:pPr>
            <a:r>
              <a:rPr lang="en-US" sz="1400" b="1" dirty="0">
                <a:solidFill>
                  <a:srgbClr val="B8741A"/>
                </a:solidFill>
                <a:latin typeface="Segoe UI" pitchFamily="34" charset="0"/>
                <a:ea typeface="Segoe UI" pitchFamily="34" charset="-122"/>
                <a:cs typeface="Segoe UI" pitchFamily="34" charset="-120"/>
              </a:rPr>
              <a:t>Why make risks issues?
</a:t>
            </a:r>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They stay on the board with a deadline instead of being forgotten in a document.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AFTER THE PLAN IS APPROVED</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Keep the plan up to date as you work</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Shape 5"/>
          <p:cNvSpPr/>
          <p:nvPr/>
        </p:nvSpPr>
        <p:spPr>
          <a:xfrm>
            <a:off x="548640" y="1463040"/>
            <a:ext cx="3520440" cy="1965960"/>
          </a:xfrm>
          <a:prstGeom prst="rect">
            <a:avLst/>
          </a:prstGeom>
          <a:solidFill>
            <a:srgbClr val="FFFFFF"/>
          </a:solidFill>
          <a:ln w="12700">
            <a:solidFill>
              <a:srgbClr val="DDD7C9"/>
            </a:solidFill>
            <a:prstDash val="solid"/>
          </a:ln>
        </p:spPr>
      </p:sp>
      <p:sp>
        <p:nvSpPr>
          <p:cNvPr id="9" name="Shape 6"/>
          <p:cNvSpPr/>
          <p:nvPr/>
        </p:nvSpPr>
        <p:spPr>
          <a:xfrm>
            <a:off x="548640" y="1463040"/>
            <a:ext cx="3520440" cy="73152"/>
          </a:xfrm>
          <a:prstGeom prst="rect">
            <a:avLst/>
          </a:prstGeom>
          <a:solidFill>
            <a:srgbClr val="F2A541"/>
          </a:solidFill>
          <a:ln w="12700">
            <a:solidFill>
              <a:srgbClr val="F2A541"/>
            </a:solidFill>
            <a:prstDash val="solid"/>
          </a:ln>
        </p:spPr>
      </p:sp>
      <p:sp>
        <p:nvSpPr>
          <p:cNvPr id="10" name="Text 7"/>
          <p:cNvSpPr/>
          <p:nvPr/>
        </p:nvSpPr>
        <p:spPr>
          <a:xfrm>
            <a:off x="731520" y="1645920"/>
            <a:ext cx="315468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Move cards</a:t>
            </a:r>
            <a:endParaRPr lang="en-US" sz="1700" dirty="0"/>
          </a:p>
        </p:txBody>
      </p:sp>
      <p:sp>
        <p:nvSpPr>
          <p:cNvPr id="11" name="Text 8"/>
          <p:cNvSpPr/>
          <p:nvPr/>
        </p:nvSpPr>
        <p:spPr>
          <a:xfrm>
            <a:off x="731520" y="2103120"/>
            <a:ext cx="3154680" cy="123444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Start a task: drag it to In Progress. Finish it: tick the acceptance criteria and move it to Done.</a:t>
            </a:r>
            <a:endParaRPr lang="en-US" sz="1400" dirty="0"/>
          </a:p>
        </p:txBody>
      </p:sp>
      <p:sp>
        <p:nvSpPr>
          <p:cNvPr id="12" name="Shape 9"/>
          <p:cNvSpPr/>
          <p:nvPr/>
        </p:nvSpPr>
        <p:spPr>
          <a:xfrm>
            <a:off x="4297680" y="1463040"/>
            <a:ext cx="3520440" cy="1965960"/>
          </a:xfrm>
          <a:prstGeom prst="rect">
            <a:avLst/>
          </a:prstGeom>
          <a:solidFill>
            <a:srgbClr val="FFFFFF"/>
          </a:solidFill>
          <a:ln w="12700">
            <a:solidFill>
              <a:srgbClr val="DDD7C9"/>
            </a:solidFill>
            <a:prstDash val="solid"/>
          </a:ln>
        </p:spPr>
      </p:sp>
      <p:sp>
        <p:nvSpPr>
          <p:cNvPr id="13" name="Shape 10"/>
          <p:cNvSpPr/>
          <p:nvPr/>
        </p:nvSpPr>
        <p:spPr>
          <a:xfrm>
            <a:off x="4297680" y="1463040"/>
            <a:ext cx="3520440" cy="73152"/>
          </a:xfrm>
          <a:prstGeom prst="rect">
            <a:avLst/>
          </a:prstGeom>
          <a:solidFill>
            <a:srgbClr val="F2A541"/>
          </a:solidFill>
          <a:ln w="12700">
            <a:solidFill>
              <a:srgbClr val="F2A541"/>
            </a:solidFill>
            <a:prstDash val="solid"/>
          </a:ln>
        </p:spPr>
      </p:sp>
      <p:sp>
        <p:nvSpPr>
          <p:cNvPr id="14" name="Text 11"/>
          <p:cNvSpPr/>
          <p:nvPr/>
        </p:nvSpPr>
        <p:spPr>
          <a:xfrm>
            <a:off x="4480560" y="1645920"/>
            <a:ext cx="315468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Close issues from commits</a:t>
            </a:r>
            <a:endParaRPr lang="en-US" sz="1700" dirty="0"/>
          </a:p>
        </p:txBody>
      </p:sp>
      <p:sp>
        <p:nvSpPr>
          <p:cNvPr id="15" name="Text 12"/>
          <p:cNvSpPr/>
          <p:nvPr/>
        </p:nvSpPr>
        <p:spPr>
          <a:xfrm>
            <a:off x="4480560" y="2103120"/>
            <a:ext cx="3154680" cy="123444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Put Closes #12 in a commit message. When it reaches the default branch, #12 closes and its card moves to Done.</a:t>
            </a:r>
            <a:endParaRPr lang="en-US" sz="1400" dirty="0"/>
          </a:p>
        </p:txBody>
      </p:sp>
      <p:sp>
        <p:nvSpPr>
          <p:cNvPr id="16" name="Shape 13"/>
          <p:cNvSpPr/>
          <p:nvPr/>
        </p:nvSpPr>
        <p:spPr>
          <a:xfrm>
            <a:off x="8046720" y="1463040"/>
            <a:ext cx="3520440" cy="1965960"/>
          </a:xfrm>
          <a:prstGeom prst="rect">
            <a:avLst/>
          </a:prstGeom>
          <a:solidFill>
            <a:srgbClr val="FFFFFF"/>
          </a:solidFill>
          <a:ln w="12700">
            <a:solidFill>
              <a:srgbClr val="DDD7C9"/>
            </a:solidFill>
            <a:prstDash val="solid"/>
          </a:ln>
        </p:spPr>
      </p:sp>
      <p:sp>
        <p:nvSpPr>
          <p:cNvPr id="17" name="Shape 14"/>
          <p:cNvSpPr/>
          <p:nvPr/>
        </p:nvSpPr>
        <p:spPr>
          <a:xfrm>
            <a:off x="8046720" y="1463040"/>
            <a:ext cx="3520440" cy="73152"/>
          </a:xfrm>
          <a:prstGeom prst="rect">
            <a:avLst/>
          </a:prstGeom>
          <a:solidFill>
            <a:srgbClr val="F2A541"/>
          </a:solidFill>
          <a:ln w="12700">
            <a:solidFill>
              <a:srgbClr val="F2A541"/>
            </a:solidFill>
            <a:prstDash val="solid"/>
          </a:ln>
        </p:spPr>
      </p:sp>
      <p:sp>
        <p:nvSpPr>
          <p:cNvPr id="18" name="Text 15"/>
          <p:cNvSpPr/>
          <p:nvPr/>
        </p:nvSpPr>
        <p:spPr>
          <a:xfrm>
            <a:off x="8229600" y="1645920"/>
            <a:ext cx="315468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Log new work</a:t>
            </a:r>
            <a:endParaRPr lang="en-US" sz="1700" dirty="0"/>
          </a:p>
        </p:txBody>
      </p:sp>
      <p:sp>
        <p:nvSpPr>
          <p:cNvPr id="19" name="Text 16"/>
          <p:cNvSpPr/>
          <p:nvPr/>
        </p:nvSpPr>
        <p:spPr>
          <a:xfrm>
            <a:off x="8229600" y="2103120"/>
            <a:ext cx="3154680" cy="123444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Every problem found in playtesting becomes a new issue labeled testing.</a:t>
            </a:r>
            <a:endParaRPr lang="en-US" sz="1400" dirty="0"/>
          </a:p>
        </p:txBody>
      </p:sp>
      <p:sp>
        <p:nvSpPr>
          <p:cNvPr id="20" name="Shape 17"/>
          <p:cNvSpPr/>
          <p:nvPr/>
        </p:nvSpPr>
        <p:spPr>
          <a:xfrm>
            <a:off x="548640" y="3657600"/>
            <a:ext cx="3520440" cy="1965960"/>
          </a:xfrm>
          <a:prstGeom prst="rect">
            <a:avLst/>
          </a:prstGeom>
          <a:solidFill>
            <a:srgbClr val="FFFFFF"/>
          </a:solidFill>
          <a:ln w="12700">
            <a:solidFill>
              <a:srgbClr val="DDD7C9"/>
            </a:solidFill>
            <a:prstDash val="solid"/>
          </a:ln>
        </p:spPr>
      </p:sp>
      <p:sp>
        <p:nvSpPr>
          <p:cNvPr id="21" name="Shape 18"/>
          <p:cNvSpPr/>
          <p:nvPr/>
        </p:nvSpPr>
        <p:spPr>
          <a:xfrm>
            <a:off x="548640" y="3657600"/>
            <a:ext cx="3520440" cy="73152"/>
          </a:xfrm>
          <a:prstGeom prst="rect">
            <a:avLst/>
          </a:prstGeom>
          <a:solidFill>
            <a:srgbClr val="14213D"/>
          </a:solidFill>
          <a:ln w="12700">
            <a:solidFill>
              <a:srgbClr val="14213D"/>
            </a:solidFill>
            <a:prstDash val="solid"/>
          </a:ln>
        </p:spPr>
      </p:sp>
      <p:sp>
        <p:nvSpPr>
          <p:cNvPr id="22" name="Text 19"/>
          <p:cNvSpPr/>
          <p:nvPr/>
        </p:nvSpPr>
        <p:spPr>
          <a:xfrm>
            <a:off x="731520" y="3840480"/>
            <a:ext cx="315468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Re-estimate</a:t>
            </a:r>
            <a:endParaRPr lang="en-US" sz="1700" dirty="0"/>
          </a:p>
        </p:txBody>
      </p:sp>
      <p:sp>
        <p:nvSpPr>
          <p:cNvPr id="23" name="Text 20"/>
          <p:cNvSpPr/>
          <p:nvPr/>
        </p:nvSpPr>
        <p:spPr>
          <a:xfrm>
            <a:off x="731520" y="4297680"/>
            <a:ext cx="3154680" cy="123444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If a task takes twice as long as you guessed, update the estimate. That's useful data for next time.</a:t>
            </a:r>
            <a:endParaRPr lang="en-US" sz="1400" dirty="0"/>
          </a:p>
        </p:txBody>
      </p:sp>
      <p:sp>
        <p:nvSpPr>
          <p:cNvPr id="24" name="Shape 21"/>
          <p:cNvSpPr/>
          <p:nvPr/>
        </p:nvSpPr>
        <p:spPr>
          <a:xfrm>
            <a:off x="4297680" y="3657600"/>
            <a:ext cx="3520440" cy="1965960"/>
          </a:xfrm>
          <a:prstGeom prst="rect">
            <a:avLst/>
          </a:prstGeom>
          <a:solidFill>
            <a:srgbClr val="FFFFFF"/>
          </a:solidFill>
          <a:ln w="12700">
            <a:solidFill>
              <a:srgbClr val="DDD7C9"/>
            </a:solidFill>
            <a:prstDash val="solid"/>
          </a:ln>
        </p:spPr>
      </p:sp>
      <p:sp>
        <p:nvSpPr>
          <p:cNvPr id="25" name="Shape 22"/>
          <p:cNvSpPr/>
          <p:nvPr/>
        </p:nvSpPr>
        <p:spPr>
          <a:xfrm>
            <a:off x="4297680" y="3657600"/>
            <a:ext cx="3520440" cy="73152"/>
          </a:xfrm>
          <a:prstGeom prst="rect">
            <a:avLst/>
          </a:prstGeom>
          <a:solidFill>
            <a:srgbClr val="14213D"/>
          </a:solidFill>
          <a:ln w="12700">
            <a:solidFill>
              <a:srgbClr val="14213D"/>
            </a:solidFill>
            <a:prstDash val="solid"/>
          </a:ln>
        </p:spPr>
      </p:sp>
      <p:sp>
        <p:nvSpPr>
          <p:cNvPr id="26" name="Text 23"/>
          <p:cNvSpPr/>
          <p:nvPr/>
        </p:nvSpPr>
        <p:spPr>
          <a:xfrm>
            <a:off x="4480560" y="3840480"/>
            <a:ext cx="315468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Cut on purpose</a:t>
            </a:r>
            <a:endParaRPr lang="en-US" sz="1700" dirty="0"/>
          </a:p>
        </p:txBody>
      </p:sp>
      <p:sp>
        <p:nvSpPr>
          <p:cNvPr id="27" name="Text 24"/>
          <p:cNvSpPr/>
          <p:nvPr/>
        </p:nvSpPr>
        <p:spPr>
          <a:xfrm>
            <a:off x="4480560" y="4297680"/>
            <a:ext cx="3154680" cy="123444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Running behind? Move Nice-to-have issues out of the milestone instead of quietly skipping them.</a:t>
            </a:r>
            <a:endParaRPr lang="en-US" sz="1400" dirty="0"/>
          </a:p>
        </p:txBody>
      </p:sp>
      <p:sp>
        <p:nvSpPr>
          <p:cNvPr id="28" name="Shape 25"/>
          <p:cNvSpPr/>
          <p:nvPr/>
        </p:nvSpPr>
        <p:spPr>
          <a:xfrm>
            <a:off x="8046720" y="3657600"/>
            <a:ext cx="3520440" cy="1965960"/>
          </a:xfrm>
          <a:prstGeom prst="rect">
            <a:avLst/>
          </a:prstGeom>
          <a:solidFill>
            <a:srgbClr val="FFFFFF"/>
          </a:solidFill>
          <a:ln w="12700">
            <a:solidFill>
              <a:srgbClr val="DDD7C9"/>
            </a:solidFill>
            <a:prstDash val="solid"/>
          </a:ln>
        </p:spPr>
      </p:sp>
      <p:sp>
        <p:nvSpPr>
          <p:cNvPr id="29" name="Shape 26"/>
          <p:cNvSpPr/>
          <p:nvPr/>
        </p:nvSpPr>
        <p:spPr>
          <a:xfrm>
            <a:off x="8046720" y="3657600"/>
            <a:ext cx="3520440" cy="73152"/>
          </a:xfrm>
          <a:prstGeom prst="rect">
            <a:avLst/>
          </a:prstGeom>
          <a:solidFill>
            <a:srgbClr val="14213D"/>
          </a:solidFill>
          <a:ln w="12700">
            <a:solidFill>
              <a:srgbClr val="14213D"/>
            </a:solidFill>
            <a:prstDash val="solid"/>
          </a:ln>
        </p:spPr>
      </p:sp>
      <p:sp>
        <p:nvSpPr>
          <p:cNvPr id="30" name="Text 27"/>
          <p:cNvSpPr/>
          <p:nvPr/>
        </p:nvSpPr>
        <p:spPr>
          <a:xfrm>
            <a:off x="8229600" y="3840480"/>
            <a:ext cx="3154680" cy="411480"/>
          </a:xfrm>
          <a:prstGeom prst="rect">
            <a:avLst/>
          </a:prstGeom>
          <a:noFill/>
          <a:ln/>
        </p:spPr>
        <p:txBody>
          <a:bodyPr wrap="square" lIns="0" tIns="0" rIns="0" bIns="0" rtlCol="0" anchor="ctr"/>
          <a:lstStyle/>
          <a:p>
            <a:pPr indent="0" marL="0">
              <a:buNone/>
            </a:pPr>
            <a:r>
              <a:rPr lang="en-US" sz="1700" b="1" dirty="0">
                <a:solidFill>
                  <a:srgbClr val="14213D"/>
                </a:solidFill>
                <a:latin typeface="Segoe UI" pitchFamily="34" charset="0"/>
                <a:ea typeface="Segoe UI" pitchFamily="34" charset="-122"/>
                <a:cs typeface="Segoe UI" pitchFamily="34" charset="-120"/>
              </a:rPr>
              <a:t>Compare at the end</a:t>
            </a:r>
            <a:endParaRPr lang="en-US" sz="1700" dirty="0"/>
          </a:p>
        </p:txBody>
      </p:sp>
      <p:sp>
        <p:nvSpPr>
          <p:cNvPr id="31" name="Text 28"/>
          <p:cNvSpPr/>
          <p:nvPr/>
        </p:nvSpPr>
        <p:spPr>
          <a:xfrm>
            <a:off x="8229600" y="4297680"/>
            <a:ext cx="3154680" cy="1234440"/>
          </a:xfrm>
          <a:prstGeom prst="rect">
            <a:avLst/>
          </a:prstGeom>
          <a:noFill/>
          <a:ln/>
        </p:spPr>
        <p:txBody>
          <a:bodyPr wrap="square" lIns="0" tIns="0" rIns="0" bIns="0" rtlCol="0" anchor="t"/>
          <a:lstStyle/>
          <a:p>
            <a:pPr indent="0" marL="0">
              <a:spcAft>
                <a:spcPts val="400"/>
              </a:spcAft>
              <a:buNone/>
            </a:pPr>
            <a:r>
              <a:rPr lang="en-US" sz="1400" dirty="0">
                <a:solidFill>
                  <a:srgbClr val="1B1F2A"/>
                </a:solidFill>
                <a:latin typeface="Segoe UI" pitchFamily="34" charset="0"/>
                <a:ea typeface="Segoe UI" pitchFamily="34" charset="-122"/>
                <a:cs typeface="Segoe UI" pitchFamily="34" charset="-120"/>
              </a:rPr>
              <a:t>Your final presentation shows the final board next to the original plan.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4213D"/>
          </a:solidFill>
          <a:ln/>
        </p:spPr>
      </p:sp>
      <p:sp>
        <p:nvSpPr>
          <p:cNvPr id="3" name="Shape 1"/>
          <p:cNvSpPr/>
          <p:nvPr/>
        </p:nvSpPr>
        <p:spPr>
          <a:xfrm>
            <a:off x="0" y="1051560"/>
            <a:ext cx="12191695" cy="54864"/>
          </a:xfrm>
          <a:prstGeom prst="rect">
            <a:avLst/>
          </a:prstGeom>
          <a:solidFill>
            <a:srgbClr val="F2A541"/>
          </a:solidFill>
          <a:ln/>
        </p:spPr>
      </p:sp>
      <p:sp>
        <p:nvSpPr>
          <p:cNvPr id="4" name="Text 2"/>
          <p:cNvSpPr/>
          <p:nvPr/>
        </p:nvSpPr>
        <p:spPr>
          <a:xfrm>
            <a:off x="548640" y="128016"/>
            <a:ext cx="5486400" cy="292608"/>
          </a:xfrm>
          <a:prstGeom prst="rect">
            <a:avLst/>
          </a:prstGeom>
          <a:noFill/>
          <a:ln/>
        </p:spPr>
        <p:txBody>
          <a:bodyPr wrap="square" lIns="0" tIns="0" rIns="0" bIns="0" rtlCol="0" anchor="ctr"/>
          <a:lstStyle/>
          <a:p>
            <a:pPr indent="0" marL="0">
              <a:buNone/>
            </a:pPr>
            <a:r>
              <a:rPr lang="en-US" sz="1200" b="1" spc="200" kern="0" dirty="0">
                <a:solidFill>
                  <a:srgbClr val="F2A541"/>
                </a:solidFill>
                <a:latin typeface="Segoe UI" pitchFamily="34" charset="0"/>
                <a:ea typeface="Segoe UI" pitchFamily="34" charset="-122"/>
                <a:cs typeface="Segoe UI" pitchFamily="34" charset="-120"/>
              </a:rPr>
              <a:t>SELF-CHECK</a:t>
            </a:r>
            <a:endParaRPr lang="en-US" sz="1200" dirty="0"/>
          </a:p>
        </p:txBody>
      </p:sp>
      <p:sp>
        <p:nvSpPr>
          <p:cNvPr id="5" name="Text 3"/>
          <p:cNvSpPr/>
          <p:nvPr/>
        </p:nvSpPr>
        <p:spPr>
          <a:xfrm>
            <a:off x="548640" y="402336"/>
            <a:ext cx="11094415" cy="566928"/>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Before you submit: checklist</a:t>
            </a:r>
            <a:endParaRPr lang="en-US" sz="28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475"/>
                </a:solidFill>
                <a:latin typeface="Segoe UI" pitchFamily="34" charset="0"/>
                <a:ea typeface="Segoe UI" pitchFamily="34" charset="-122"/>
                <a:cs typeface="Segoe UI" pitchFamily="34" charset="-120"/>
              </a:rPr>
              <a:t>CIST 1422  ·  Lantern Keeper example plan</a:t>
            </a:r>
            <a:endParaRPr lang="en-US" sz="1000" dirty="0"/>
          </a:p>
        </p:txBody>
      </p:sp>
      <p:sp>
        <p:nvSpPr>
          <p:cNvPr id="8" name="Text 5"/>
          <p:cNvSpPr/>
          <p:nvPr/>
        </p:nvSpPr>
        <p:spPr>
          <a:xfrm>
            <a:off x="548640" y="1554480"/>
            <a:ext cx="5394960" cy="4206240"/>
          </a:xfrm>
          <a:prstGeom prst="rect">
            <a:avLst/>
          </a:prstGeom>
          <a:noFill/>
          <a:ln/>
        </p:spPr>
        <p:txBody>
          <a:bodyPr wrap="square" lIns="0" tIns="0" rIns="0" bIns="0" rtlCol="0" anchor="t"/>
          <a:lstStyle/>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Repo uses the Unity .gitignore</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README has the GDD summary, scope tiers, and milestones</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Labels for each area of work, including risk</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4–5 milestones, each with a due date</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Every Must-have feature has at least one issue</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Every issue has acceptance criteria, a label, and a milestone</a:t>
            </a:r>
            <a:endParaRPr lang="en-US" sz="1700" dirty="0"/>
          </a:p>
        </p:txBody>
      </p:sp>
      <p:sp>
        <p:nvSpPr>
          <p:cNvPr id="9" name="Text 6"/>
          <p:cNvSpPr/>
          <p:nvPr/>
        </p:nvSpPr>
        <p:spPr>
          <a:xfrm>
            <a:off x="6217920" y="1554480"/>
            <a:ext cx="5394960" cy="4206240"/>
          </a:xfrm>
          <a:prstGeom prst="rect">
            <a:avLst/>
          </a:prstGeom>
          <a:noFill/>
          <a:ln/>
        </p:spPr>
        <p:txBody>
          <a:bodyPr wrap="square" lIns="0" tIns="0" rIns="0" bIns="0" rtlCol="0" anchor="t"/>
          <a:lstStyle/>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No task over about 4–6 hours</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Project is linked to the repo</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Scope, Estimate (hrs), and Target date are filled in</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Board, Roadmap, and Table views are saved</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Teammates assigned to issues (teams)</a:t>
            </a:r>
            <a:endParaRPr lang="en-US" sz="1700" dirty="0"/>
          </a:p>
          <a:p>
            <a:pPr marL="355600" indent="-355600">
              <a:spcAft>
                <a:spcPts val="1400"/>
              </a:spcAft>
              <a:buSzPct val="100000"/>
              <a:buChar char="☐"/>
            </a:pPr>
            <a:r>
              <a:rPr lang="en-US" sz="1700" dirty="0">
                <a:solidFill>
                  <a:srgbClr val="1B1F2A"/>
                </a:solidFill>
                <a:latin typeface="Segoe UI" pitchFamily="34" charset="0"/>
                <a:ea typeface="Segoe UI" pitchFamily="34" charset="-122"/>
                <a:cs typeface="Segoe UI" pitchFamily="34" charset="-120"/>
              </a:rPr>
              <a:t>Instructor can see the project, plus a screenshot of the Board view</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731520" y="731520"/>
            <a:ext cx="5486400" cy="365760"/>
          </a:xfrm>
          <a:prstGeom prst="rect">
            <a:avLst/>
          </a:prstGeom>
          <a:noFill/>
          <a:ln/>
        </p:spPr>
        <p:txBody>
          <a:bodyPr wrap="square" lIns="0" tIns="0" rIns="0" bIns="0" rtlCol="0" anchor="ctr"/>
          <a:lstStyle/>
          <a:p>
            <a:pPr indent="0" marL="0">
              <a:buNone/>
            </a:pPr>
            <a:r>
              <a:rPr lang="en-US" sz="1400" b="1" spc="200" kern="0" dirty="0">
                <a:solidFill>
                  <a:srgbClr val="F2A541"/>
                </a:solidFill>
                <a:latin typeface="Segoe UI" pitchFamily="34" charset="0"/>
                <a:ea typeface="Segoe UI" pitchFamily="34" charset="-122"/>
                <a:cs typeface="Segoe UI" pitchFamily="34" charset="-120"/>
              </a:rPr>
              <a:t>YOUR TURN</a:t>
            </a:r>
            <a:endParaRPr lang="en-US" sz="1400" dirty="0"/>
          </a:p>
        </p:txBody>
      </p:sp>
      <p:sp>
        <p:nvSpPr>
          <p:cNvPr id="3" name="Text 1"/>
          <p:cNvSpPr/>
          <p:nvPr/>
        </p:nvSpPr>
        <p:spPr>
          <a:xfrm>
            <a:off x="731520" y="114300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Practice with your own GDD</a:t>
            </a:r>
            <a:endParaRPr lang="en-US" sz="3600" dirty="0"/>
          </a:p>
        </p:txBody>
      </p:sp>
      <p:sp>
        <p:nvSpPr>
          <p:cNvPr id="4" name="Shape 2"/>
          <p:cNvSpPr/>
          <p:nvPr/>
        </p:nvSpPr>
        <p:spPr>
          <a:xfrm>
            <a:off x="731520" y="2423160"/>
            <a:ext cx="457200" cy="457200"/>
          </a:xfrm>
          <a:prstGeom prst="ellipse">
            <a:avLst/>
          </a:prstGeom>
          <a:solidFill>
            <a:srgbClr val="F2A541"/>
          </a:solidFill>
          <a:ln w="12700">
            <a:solidFill>
              <a:srgbClr val="F2A541"/>
            </a:solidFill>
            <a:prstDash val="solid"/>
          </a:ln>
        </p:spPr>
      </p:sp>
      <p:sp>
        <p:nvSpPr>
          <p:cNvPr id="5" name="Text 3"/>
          <p:cNvSpPr/>
          <p:nvPr/>
        </p:nvSpPr>
        <p:spPr>
          <a:xfrm>
            <a:off x="731520" y="242316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Segoe UI" pitchFamily="34" charset="0"/>
                <a:ea typeface="Segoe UI" pitchFamily="34" charset="-122"/>
                <a:cs typeface="Segoe UI" pitchFamily="34" charset="-120"/>
              </a:rPr>
              <a:t>1</a:t>
            </a:r>
            <a:endParaRPr lang="en-US" sz="1600" dirty="0"/>
          </a:p>
        </p:txBody>
      </p:sp>
      <p:sp>
        <p:nvSpPr>
          <p:cNvPr id="6" name="Text 4"/>
          <p:cNvSpPr/>
          <p:nvPr/>
        </p:nvSpPr>
        <p:spPr>
          <a:xfrm>
            <a:off x="1417320" y="2377440"/>
            <a:ext cx="9875520" cy="640080"/>
          </a:xfrm>
          <a:prstGeom prst="rect">
            <a:avLst/>
          </a:prstGeom>
          <a:noFill/>
          <a:ln/>
        </p:spPr>
        <p:txBody>
          <a:bodyPr wrap="square" lIns="0" tIns="0" rIns="0" bIns="0" rtlCol="0" anchor="ctr"/>
          <a:lstStyle/>
          <a:p>
            <a:pPr indent="0" marL="0">
              <a:buNone/>
            </a:pPr>
            <a:r>
              <a:rPr lang="en-US" sz="1800" dirty="0">
                <a:solidFill>
                  <a:srgbClr val="FFFFFF"/>
                </a:solidFill>
                <a:latin typeface="Segoe UI" pitchFamily="34" charset="0"/>
                <a:ea typeface="Segoe UI" pitchFamily="34" charset="-122"/>
                <a:cs typeface="Segoe UI" pitchFamily="34" charset="-120"/>
              </a:rPr>
              <a:t>Pick one Must-have feature from your GDD. Split it into 3–5 issues, each with acceptance criteria.</a:t>
            </a:r>
            <a:endParaRPr lang="en-US" sz="1800" dirty="0"/>
          </a:p>
        </p:txBody>
      </p:sp>
      <p:sp>
        <p:nvSpPr>
          <p:cNvPr id="7" name="Shape 5"/>
          <p:cNvSpPr/>
          <p:nvPr/>
        </p:nvSpPr>
        <p:spPr>
          <a:xfrm>
            <a:off x="731520" y="3337560"/>
            <a:ext cx="457200" cy="457200"/>
          </a:xfrm>
          <a:prstGeom prst="ellipse">
            <a:avLst/>
          </a:prstGeom>
          <a:solidFill>
            <a:srgbClr val="F2A541"/>
          </a:solidFill>
          <a:ln w="12700">
            <a:solidFill>
              <a:srgbClr val="F2A541"/>
            </a:solidFill>
            <a:prstDash val="solid"/>
          </a:ln>
        </p:spPr>
      </p:sp>
      <p:sp>
        <p:nvSpPr>
          <p:cNvPr id="8" name="Text 6"/>
          <p:cNvSpPr/>
          <p:nvPr/>
        </p:nvSpPr>
        <p:spPr>
          <a:xfrm>
            <a:off x="731520" y="333756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Segoe UI" pitchFamily="34" charset="0"/>
                <a:ea typeface="Segoe UI" pitchFamily="34" charset="-122"/>
                <a:cs typeface="Segoe UI" pitchFamily="34" charset="-120"/>
              </a:rPr>
              <a:t>2</a:t>
            </a:r>
            <a:endParaRPr lang="en-US" sz="1600" dirty="0"/>
          </a:p>
        </p:txBody>
      </p:sp>
      <p:sp>
        <p:nvSpPr>
          <p:cNvPr id="9" name="Text 7"/>
          <p:cNvSpPr/>
          <p:nvPr/>
        </p:nvSpPr>
        <p:spPr>
          <a:xfrm>
            <a:off x="1417320" y="3291840"/>
            <a:ext cx="9875520" cy="640080"/>
          </a:xfrm>
          <a:prstGeom prst="rect">
            <a:avLst/>
          </a:prstGeom>
          <a:noFill/>
          <a:ln/>
        </p:spPr>
        <p:txBody>
          <a:bodyPr wrap="square" lIns="0" tIns="0" rIns="0" bIns="0" rtlCol="0" anchor="ctr"/>
          <a:lstStyle/>
          <a:p>
            <a:pPr indent="0" marL="0">
              <a:buNone/>
            </a:pPr>
            <a:r>
              <a:rPr lang="en-US" sz="1800" dirty="0">
                <a:solidFill>
                  <a:srgbClr val="FFFFFF"/>
                </a:solidFill>
                <a:latin typeface="Segoe UI" pitchFamily="34" charset="0"/>
                <a:ea typeface="Segoe UI" pitchFamily="34" charset="-122"/>
                <a:cs typeface="Segoe UI" pitchFamily="34" charset="-120"/>
              </a:rPr>
              <a:t>Estimate each one in hours. Is any over 4 hours? Split it.</a:t>
            </a:r>
            <a:endParaRPr lang="en-US" sz="1800" dirty="0"/>
          </a:p>
        </p:txBody>
      </p:sp>
      <p:sp>
        <p:nvSpPr>
          <p:cNvPr id="10" name="Shape 8"/>
          <p:cNvSpPr/>
          <p:nvPr/>
        </p:nvSpPr>
        <p:spPr>
          <a:xfrm>
            <a:off x="731520" y="4251960"/>
            <a:ext cx="457200" cy="457200"/>
          </a:xfrm>
          <a:prstGeom prst="ellipse">
            <a:avLst/>
          </a:prstGeom>
          <a:solidFill>
            <a:srgbClr val="F2A541"/>
          </a:solidFill>
          <a:ln w="12700">
            <a:solidFill>
              <a:srgbClr val="F2A541"/>
            </a:solidFill>
            <a:prstDash val="solid"/>
          </a:ln>
        </p:spPr>
      </p:sp>
      <p:sp>
        <p:nvSpPr>
          <p:cNvPr id="11" name="Text 9"/>
          <p:cNvSpPr/>
          <p:nvPr/>
        </p:nvSpPr>
        <p:spPr>
          <a:xfrm>
            <a:off x="731520" y="425196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Segoe UI" pitchFamily="34" charset="0"/>
                <a:ea typeface="Segoe UI" pitchFamily="34" charset="-122"/>
                <a:cs typeface="Segoe UI" pitchFamily="34" charset="-120"/>
              </a:rPr>
              <a:t>3</a:t>
            </a:r>
            <a:endParaRPr lang="en-US" sz="1600" dirty="0"/>
          </a:p>
        </p:txBody>
      </p:sp>
      <p:sp>
        <p:nvSpPr>
          <p:cNvPr id="12" name="Text 10"/>
          <p:cNvSpPr/>
          <p:nvPr/>
        </p:nvSpPr>
        <p:spPr>
          <a:xfrm>
            <a:off x="1417320" y="4206240"/>
            <a:ext cx="9875520" cy="640080"/>
          </a:xfrm>
          <a:prstGeom prst="rect">
            <a:avLst/>
          </a:prstGeom>
          <a:noFill/>
          <a:ln/>
        </p:spPr>
        <p:txBody>
          <a:bodyPr wrap="square" lIns="0" tIns="0" rIns="0" bIns="0" rtlCol="0" anchor="ctr"/>
          <a:lstStyle/>
          <a:p>
            <a:pPr indent="0" marL="0">
              <a:buNone/>
            </a:pPr>
            <a:r>
              <a:rPr lang="en-US" sz="1800" dirty="0">
                <a:solidFill>
                  <a:srgbClr val="FFFFFF"/>
                </a:solidFill>
                <a:latin typeface="Segoe UI" pitchFamily="34" charset="0"/>
                <a:ea typeface="Segoe UI" pitchFamily="34" charset="-122"/>
                <a:cs typeface="Segoe UI" pitchFamily="34" charset="-120"/>
              </a:rPr>
              <a:t>What's the riskiest part of your game? Write it as a risk issue with a fallback and a decision date.</a:t>
            </a:r>
            <a:endParaRPr lang="en-US" sz="1800" dirty="0"/>
          </a:p>
        </p:txBody>
      </p:sp>
      <p:sp>
        <p:nvSpPr>
          <p:cNvPr id="13" name="Shape 11"/>
          <p:cNvSpPr/>
          <p:nvPr/>
        </p:nvSpPr>
        <p:spPr>
          <a:xfrm>
            <a:off x="731520" y="5166360"/>
            <a:ext cx="457200" cy="457200"/>
          </a:xfrm>
          <a:prstGeom prst="ellipse">
            <a:avLst/>
          </a:prstGeom>
          <a:solidFill>
            <a:srgbClr val="F2A541"/>
          </a:solidFill>
          <a:ln w="12700">
            <a:solidFill>
              <a:srgbClr val="F2A541"/>
            </a:solidFill>
            <a:prstDash val="solid"/>
          </a:ln>
        </p:spPr>
      </p:sp>
      <p:sp>
        <p:nvSpPr>
          <p:cNvPr id="14" name="Text 12"/>
          <p:cNvSpPr/>
          <p:nvPr/>
        </p:nvSpPr>
        <p:spPr>
          <a:xfrm>
            <a:off x="731520" y="5166360"/>
            <a:ext cx="4572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Segoe UI" pitchFamily="34" charset="0"/>
                <a:ea typeface="Segoe UI" pitchFamily="34" charset="-122"/>
                <a:cs typeface="Segoe UI" pitchFamily="34" charset="-120"/>
              </a:rPr>
              <a:t>4</a:t>
            </a:r>
            <a:endParaRPr lang="en-US" sz="1600" dirty="0"/>
          </a:p>
        </p:txBody>
      </p:sp>
      <p:sp>
        <p:nvSpPr>
          <p:cNvPr id="15" name="Text 13"/>
          <p:cNvSpPr/>
          <p:nvPr/>
        </p:nvSpPr>
        <p:spPr>
          <a:xfrm>
            <a:off x="1417320" y="5120640"/>
            <a:ext cx="9875520" cy="640080"/>
          </a:xfrm>
          <a:prstGeom prst="rect">
            <a:avLst/>
          </a:prstGeom>
          <a:noFill/>
          <a:ln/>
        </p:spPr>
        <p:txBody>
          <a:bodyPr wrap="square" lIns="0" tIns="0" rIns="0" bIns="0" rtlCol="0" anchor="ctr"/>
          <a:lstStyle/>
          <a:p>
            <a:pPr indent="0" marL="0">
              <a:buNone/>
            </a:pPr>
            <a:r>
              <a:rPr lang="en-US" sz="1800" dirty="0">
                <a:solidFill>
                  <a:srgbClr val="FFFFFF"/>
                </a:solidFill>
                <a:latin typeface="Segoe UI" pitchFamily="34" charset="0"/>
                <a:ea typeface="Segoe UI" pitchFamily="34" charset="-122"/>
                <a:cs typeface="Segoe UI" pitchFamily="34" charset="-120"/>
              </a:rPr>
              <a:t>If Alpha slipped a week, which issues would you cut first?</a:t>
            </a:r>
            <a:endParaRPr lang="en-US" sz="1800" dirty="0"/>
          </a:p>
        </p:txBody>
      </p:sp>
      <p:sp>
        <p:nvSpPr>
          <p:cNvPr id="16" name="Text 14"/>
          <p:cNvSpPr/>
          <p:nvPr/>
        </p:nvSpPr>
        <p:spPr>
          <a:xfrm>
            <a:off x="731520" y="6126480"/>
            <a:ext cx="10058400" cy="365760"/>
          </a:xfrm>
          <a:prstGeom prst="rect">
            <a:avLst/>
          </a:prstGeom>
          <a:noFill/>
          <a:ln/>
        </p:spPr>
        <p:txBody>
          <a:bodyPr wrap="square" lIns="0" tIns="0" rIns="0" bIns="0" rtlCol="0" anchor="ctr"/>
          <a:lstStyle/>
          <a:p>
            <a:pPr indent="0" marL="0">
              <a:buNone/>
            </a:pPr>
            <a:r>
              <a:rPr lang="en-US" sz="1300" i="1" dirty="0">
                <a:solidFill>
                  <a:srgbClr val="9FB0CC"/>
                </a:solidFill>
                <a:latin typeface="Segoe UI" pitchFamily="34" charset="0"/>
                <a:ea typeface="Segoe UI" pitchFamily="34" charset="-122"/>
                <a:cs typeface="Segoe UI" pitchFamily="34" charset="-120"/>
              </a:rPr>
              <a:t>Reference: the example repo's README, under "Make your own board in 10 minutes"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Project Plan in GitHub by Hand</dc:title>
  <dc:subject>PptxGenJS Presentation</dc:subject>
  <dc:creator>CIST 1422</dc:creator>
  <cp:lastModifiedBy>CIST 1422</cp:lastModifiedBy>
  <cp:revision>1</cp:revision>
  <dcterms:created xsi:type="dcterms:W3CDTF">2026-10-18T19:21:37Z</dcterms:created>
  <dcterms:modified xsi:type="dcterms:W3CDTF">2026-10-18T19:21:37Z</dcterms:modified>
</cp:coreProperties>
</file>